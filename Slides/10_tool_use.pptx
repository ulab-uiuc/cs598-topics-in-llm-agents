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0be0eaa9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0be0eaa9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0be0eaa9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0be0eaa9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1b35fb29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31b35fb29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1b35fb29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1b35fb29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1b498c0cc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31b498c0cc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1b35fb29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31b35fb29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31b35fb29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31b35fb29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31b498c0cc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31b498c0cc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31b498c0cc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31b498c0cc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31b35fb29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31b35fb29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31b498c0cc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31b498c0cc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31b498c0c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31b498c0c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31b498c0cc_2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31b498c0cc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31b498c0cc_2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31b498c0cc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31b498c0c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31b498c0c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31b498c0c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31b498c0c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31b498c0cc_2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31b498c0cc_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31b498c0c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31b498c0c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31b498c0c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31b498c0c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3a03518fb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3a03518fb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3a03518fb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3a03518fb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3a03518f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3a03518f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3a03518fb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3a03518fb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3a03518fb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3a03518fb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3a03518fb7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3a03518fb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3a03518fb7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3a03518fb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3a03518fb7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3a03518fb7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3a03518fb7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3a03518fb7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3a03518fb7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3a03518fb7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3a03518fb7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3a03518fb7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3a03518fb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3a03518fb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3a03518fb7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3a03518fb7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3a03518fb7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3a03518fb7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3a03518fb7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3a03518fb7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3a03518fb7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3a03518fb7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rxiv.org/abs/2307.16789" TargetMode="External"/><Relationship Id="rId4" Type="http://schemas.openxmlformats.org/officeDocument/2006/relationships/hyperlink" Target="https://openreview.net/forum?id=tBRNC6YemY" TargetMode="External"/><Relationship Id="rId5" Type="http://schemas.openxmlformats.org/officeDocument/2006/relationships/hyperlink" Target="https://arxiv.org/abs/2305.11554" TargetMode="External"/><Relationship Id="rId6" Type="http://schemas.openxmlformats.org/officeDocument/2006/relationships/hyperlink" Target="https://arxiv.org/pdf/2403.15452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JY2 Presentation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 Use in </a:t>
            </a:r>
            <a:r>
              <a:rPr lang="en"/>
              <a:t>Agent Framework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F2328"/>
                </a:solidFill>
                <a:highlight>
                  <a:srgbClr val="FFFFFF"/>
                </a:highlight>
              </a:rPr>
              <a:t>Ke Yang, Kashob Kumar Roy, </a:t>
            </a:r>
            <a:r>
              <a:rPr lang="en" sz="1200">
                <a:solidFill>
                  <a:srgbClr val="1F2328"/>
                </a:solidFill>
                <a:highlight>
                  <a:schemeClr val="lt1"/>
                </a:highlight>
              </a:rPr>
              <a:t>Aryan Bhardwaj</a:t>
            </a:r>
            <a:r>
              <a:rPr lang="en" sz="1200">
                <a:solidFill>
                  <a:srgbClr val="1F2328"/>
                </a:solidFill>
                <a:highlight>
                  <a:srgbClr val="FFFFFF"/>
                </a:highlight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1F2328"/>
                </a:solidFill>
              </a:rPr>
              <a:t>Guidelines for the Pilot Presenter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F2328"/>
                </a:solidFill>
              </a:rPr>
              <a:t>The course will follow a seminar format, with one group presenting during each class session. Each group will be responsible for presenting </a:t>
            </a:r>
            <a:r>
              <a:rPr i="1" lang="en" sz="1200">
                <a:solidFill>
                  <a:srgbClr val="1F2328"/>
                </a:solidFill>
              </a:rPr>
              <a:t>at least one lecture</a:t>
            </a:r>
            <a:r>
              <a:rPr lang="en" sz="1200">
                <a:solidFill>
                  <a:srgbClr val="1F2328"/>
                </a:solidFill>
              </a:rPr>
              <a:t> throughout the semester. Presentations should be no longer than 50 minutes, excluding interruptions. However, presenters should anticipate and be prepared to address questions and interruptions during their talk.</a:t>
            </a:r>
            <a:endParaRPr sz="1200">
              <a:solidFill>
                <a:srgbClr val="1F232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F2328"/>
                </a:solidFill>
              </a:rPr>
              <a:t>During your presentation, you are expected to:</a:t>
            </a:r>
            <a:endParaRPr sz="1200">
              <a:solidFill>
                <a:srgbClr val="1F2328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Char char="●"/>
            </a:pPr>
            <a:r>
              <a:rPr lang="en" sz="1200">
                <a:solidFill>
                  <a:srgbClr val="1F2328"/>
                </a:solidFill>
              </a:rPr>
              <a:t>Provide a concise background to introduce and motivate the problem (e.g., referencing prior talks for simplicity).</a:t>
            </a:r>
            <a:endParaRPr sz="1200">
              <a:solidFill>
                <a:srgbClr val="1F2328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Char char="●"/>
            </a:pPr>
            <a:r>
              <a:rPr lang="en" sz="1200">
                <a:solidFill>
                  <a:srgbClr val="1F2328"/>
                </a:solidFill>
              </a:rPr>
              <a:t>Explain the main idea, approach, and/or key insight from the required reading (use examples whenever appropriate).</a:t>
            </a:r>
            <a:endParaRPr sz="1200">
              <a:solidFill>
                <a:srgbClr val="1F2328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Char char="●"/>
            </a:pPr>
            <a:r>
              <a:rPr lang="en" sz="1200">
                <a:solidFill>
                  <a:srgbClr val="1F2328"/>
                </a:solidFill>
              </a:rPr>
              <a:t>Cover technical details to help the audience grasp the key points without needing to closely read the material (provide a quick overview of evaluations).</a:t>
            </a:r>
            <a:endParaRPr sz="1200">
              <a:solidFill>
                <a:srgbClr val="1F2328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Char char="●"/>
            </a:pPr>
            <a:r>
              <a:rPr lang="en" sz="1200">
                <a:solidFill>
                  <a:srgbClr val="1F2328"/>
                </a:solidFill>
              </a:rPr>
              <a:t>Highlight differences between the required reading and related works, including any additional readings.</a:t>
            </a:r>
            <a:endParaRPr sz="1200">
              <a:solidFill>
                <a:srgbClr val="1F2328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Char char="●"/>
            </a:pPr>
            <a:r>
              <a:rPr lang="en" sz="1200">
                <a:solidFill>
                  <a:srgbClr val="1F2328"/>
                </a:solidFill>
              </a:rPr>
              <a:t>Discuss strengths and weaknesses of the required reading and suggest potential directions for future research.</a:t>
            </a:r>
            <a:endParaRPr sz="1200">
              <a:solidFill>
                <a:srgbClr val="1F232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F2328"/>
                </a:solidFill>
              </a:rPr>
              <a:t>Submission of slides:</a:t>
            </a:r>
            <a:endParaRPr sz="1200">
              <a:solidFill>
                <a:srgbClr val="1F2328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Char char="●"/>
            </a:pPr>
            <a:r>
              <a:rPr lang="en" sz="1200">
                <a:solidFill>
                  <a:srgbClr val="1F2328"/>
                </a:solidFill>
              </a:rPr>
              <a:t>Deadlines: Slides for the presentation must be submitted to the instructor team via Canvas (in *.pptx format) at least 24 hours before the scheduled class.</a:t>
            </a:r>
            <a:endParaRPr sz="1200">
              <a:solidFill>
                <a:srgbClr val="1F232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10-15 min each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F2328"/>
                </a:solidFill>
                <a:highlight>
                  <a:srgbClr val="FFFFFF"/>
                </a:highlight>
              </a:rPr>
              <a:t>(Required)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ToolLLM: Facilitating Large Language Models to Master 16000+ Real-world APIs</a:t>
            </a:r>
            <a:r>
              <a:rPr lang="en" sz="1200">
                <a:solidFill>
                  <a:schemeClr val="dk1"/>
                </a:solidFill>
              </a:rPr>
              <a:t> (</a:t>
            </a:r>
            <a:r>
              <a:rPr lang="en" sz="1200">
                <a:solidFill>
                  <a:srgbClr val="1F2328"/>
                </a:solidFill>
                <a:highlight>
                  <a:srgbClr val="FFFFFF"/>
                </a:highlight>
              </a:rPr>
              <a:t>Aryan Bhardwaj)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F2328"/>
                </a:solidFill>
                <a:highlight>
                  <a:srgbClr val="FFFFFF"/>
                </a:highlight>
              </a:rPr>
              <a:t>(Required)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Gorilla: Large Language Model Connected with Massive APIs</a:t>
            </a:r>
            <a:r>
              <a:rPr lang="en" sz="1200">
                <a:solidFill>
                  <a:schemeClr val="dk1"/>
                </a:solidFill>
              </a:rPr>
              <a:t> (Ke Yang)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ToolkenGPT: Augmenting Frozen Language Models with Massive Tools via Tool Embeddings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What Are Tools Anyway? A Survey from the Language Model Perspective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Gorilla: Large Language Model Connected with Massive APIs</a:t>
            </a:r>
            <a:endParaRPr/>
          </a:p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311700" y="2834125"/>
            <a:ext cx="8520600" cy="12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F2328"/>
                </a:solidFill>
                <a:highlight>
                  <a:srgbClr val="FFFFFF"/>
                </a:highlight>
              </a:rPr>
              <a:t>Shishir G. Patil*, Tianjun Zhang*, Xin Wang, Joseph E. Gonzalez</a:t>
            </a:r>
            <a:endParaRPr sz="16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F2328"/>
                </a:solidFill>
                <a:highlight>
                  <a:srgbClr val="FFFFFF"/>
                </a:highlight>
              </a:rPr>
              <a:t>UC Berkeley, Microsoft Research</a:t>
            </a:r>
            <a:endParaRPr sz="16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F2328"/>
                </a:solidFill>
                <a:highlight>
                  <a:srgbClr val="FFFFFF"/>
                </a:highlight>
              </a:rPr>
              <a:t>Presentor: Ke Yang</a:t>
            </a:r>
            <a:endParaRPr sz="1600">
              <a:solidFill>
                <a:srgbClr val="1F2328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- The Problem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Large Language Models (LLMs) like GPT-4 have revolutionized various tasks, but their ability to effectively use tools via API calls remains underdeveloped.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Millions of APIs exist, and they are frequently updated.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LLMs lack awareness of available APIs and how to use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Question: How can we enable LLMs to generate accurate, context-aware API calls?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- Gorilla’s Solution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Gorilla: A retriever-aware fine-tuned LLaMA model designed to surpass GPT-4 in writing API calls.</a:t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0975" y="1910250"/>
            <a:ext cx="6882048" cy="292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- Gorilla’s Solution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Combines self-instruction and novel Retriever-Aware Training (RAT).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Enables LLMs to adapt to test-time changes in APIs and reduce hallucination errors.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0975" y="1910250"/>
            <a:ext cx="6882048" cy="292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Work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5416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35"/>
              <a:t>Previous approaches focused on: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Prompting techniques for specific tools (e.g., web-browsing, calculators).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Fine-tuning LLMs for code generation or API calls.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0300" y="486847"/>
            <a:ext cx="2713425" cy="284427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0"/>
          <p:cNvSpPr txBox="1"/>
          <p:nvPr/>
        </p:nvSpPr>
        <p:spPr>
          <a:xfrm>
            <a:off x="6102950" y="3710400"/>
            <a:ext cx="2633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Toolformer: Language Models Can Teach Themselves to Use Tools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DocPrompting: Generating Code by Retrieving the Docs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02" name="Google Shape;102;p20"/>
          <p:cNvPicPr preferRelativeResize="0"/>
          <p:nvPr/>
        </p:nvPicPr>
        <p:blipFill rotWithShape="1">
          <a:blip r:embed="rId4">
            <a:alphaModFix/>
          </a:blip>
          <a:srcRect b="0" l="1109" r="1586" t="0"/>
          <a:stretch/>
        </p:blipFill>
        <p:spPr>
          <a:xfrm>
            <a:off x="282125" y="3018375"/>
            <a:ext cx="5698176" cy="175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Work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35"/>
              <a:t>Limitations of Previous Work:</a:t>
            </a:r>
            <a:endParaRPr sz="203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Focused on narrow tool sets rather than a wide range of APIs.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Lacked systematic evaluation and training pipelines.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35"/>
              <a:t>Gorilla’s Claimed </a:t>
            </a:r>
            <a:r>
              <a:rPr lang="en" sz="2035"/>
              <a:t>Novelty</a:t>
            </a:r>
            <a:r>
              <a:rPr lang="en" sz="2035"/>
              <a:t>:</a:t>
            </a:r>
            <a:endParaRPr sz="203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Focuses on a vast array of tools (API calls) in an open-ended fashion.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Introduces systematic evaluation and fine-tuning methods.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9012" y="1228650"/>
            <a:ext cx="6225976" cy="376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4572000" y="771925"/>
            <a:ext cx="37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Training: Retrieval-aware Training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1372125" y="3265675"/>
            <a:ext cx="114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Inference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1935025" y="815725"/>
            <a:ext cx="2559300" cy="4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Benchmark: APIBench</a:t>
            </a:r>
            <a:endParaRPr/>
          </a:p>
        </p:txBody>
      </p:sp>
      <p:sp>
        <p:nvSpPr>
          <p:cNvPr id="118" name="Google Shape;118;p22"/>
          <p:cNvSpPr/>
          <p:nvPr/>
        </p:nvSpPr>
        <p:spPr>
          <a:xfrm>
            <a:off x="1615900" y="815725"/>
            <a:ext cx="2956200" cy="2251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2"/>
          <p:cNvSpPr/>
          <p:nvPr/>
        </p:nvSpPr>
        <p:spPr>
          <a:xfrm>
            <a:off x="4572000" y="713425"/>
            <a:ext cx="3585600" cy="2251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2"/>
          <p:cNvSpPr/>
          <p:nvPr/>
        </p:nvSpPr>
        <p:spPr>
          <a:xfrm>
            <a:off x="1253250" y="3166875"/>
            <a:ext cx="6637500" cy="1869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APIBench</a:t>
            </a:r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52475"/>
            <a:ext cx="4811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APIBench: A machine learning model API benchmark built from: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TorchHub, TensorHub, and HuggingFace API Model Cards.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Contains diverse APIs for tasks like CV, NLP, and more.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Key Features: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Uses AST (Abstract Syntax Tree) tree-matching for evaluation.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Designed to evaluate the functional equivalence of API calls.</a:t>
            </a:r>
            <a:endParaRPr/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2750" y="1017725"/>
            <a:ext cx="3709549" cy="2364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 Syntax Tree (AST)</a:t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4176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API subtree matching. </a:t>
            </a:r>
            <a:endParaRPr/>
          </a:p>
        </p:txBody>
      </p:sp>
      <p:pic>
        <p:nvPicPr>
          <p:cNvPr id="134" name="Google Shape;13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6884" y="1117287"/>
            <a:ext cx="7290240" cy="306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Retriever-Aware Training (RAT)</a:t>
            </a:r>
            <a:endParaRPr/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311700" y="3407225"/>
            <a:ext cx="8520600" cy="14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RAT Overview: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Combines instruction-tuned datasets with retrieved API documentation.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Augments prompts with potentially incorrect documentation during training.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Teaches the LLM to judge and adapt to retrieval errors at inference time</a:t>
            </a:r>
            <a:endParaRPr/>
          </a:p>
        </p:txBody>
      </p:sp>
      <p:grpSp>
        <p:nvGrpSpPr>
          <p:cNvPr id="141" name="Google Shape;141;p25"/>
          <p:cNvGrpSpPr/>
          <p:nvPr/>
        </p:nvGrpSpPr>
        <p:grpSpPr>
          <a:xfrm>
            <a:off x="1552984" y="1093921"/>
            <a:ext cx="6038024" cy="2389495"/>
            <a:chOff x="1103725" y="1775226"/>
            <a:chExt cx="7636302" cy="3021999"/>
          </a:xfrm>
        </p:grpSpPr>
        <p:pic>
          <p:nvPicPr>
            <p:cNvPr id="142" name="Google Shape;142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3725" y="1775226"/>
              <a:ext cx="7636301" cy="300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" name="Google Shape;143;p25"/>
            <p:cNvSpPr/>
            <p:nvPr/>
          </p:nvSpPr>
          <p:spPr>
            <a:xfrm>
              <a:off x="1103725" y="3549225"/>
              <a:ext cx="1731300" cy="124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Retriever-Aware Training (RAT)</a:t>
            </a:r>
            <a:endParaRPr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311700" y="3563650"/>
            <a:ext cx="8520600" cy="11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Benefits of RAT: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Reduces hallucination errors compared to direct prompting.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Enables adaptation to test-time changes in API documentation.</a:t>
            </a:r>
            <a:endParaRPr/>
          </a:p>
        </p:txBody>
      </p:sp>
      <p:grpSp>
        <p:nvGrpSpPr>
          <p:cNvPr id="150" name="Google Shape;150;p26"/>
          <p:cNvGrpSpPr/>
          <p:nvPr/>
        </p:nvGrpSpPr>
        <p:grpSpPr>
          <a:xfrm>
            <a:off x="1552984" y="1093921"/>
            <a:ext cx="6038024" cy="2389495"/>
            <a:chOff x="1103725" y="1775226"/>
            <a:chExt cx="7636302" cy="3021999"/>
          </a:xfrm>
        </p:grpSpPr>
        <p:pic>
          <p:nvPicPr>
            <p:cNvPr id="151" name="Google Shape;151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3725" y="1775226"/>
              <a:ext cx="7636301" cy="300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26"/>
            <p:cNvSpPr/>
            <p:nvPr/>
          </p:nvSpPr>
          <p:spPr>
            <a:xfrm>
              <a:off x="1103725" y="3549225"/>
              <a:ext cx="1731300" cy="124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Gorilla Inference</a:t>
            </a:r>
            <a:endParaRPr/>
          </a:p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275625" y="3541175"/>
            <a:ext cx="8520600" cy="14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Gorilla operates in two modes during inference: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Zero-shot Mode: Directly generates API calls from user prompts w/o context.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Retrieval Mode: Combines retrieved API documentation with the prompt before sending it to the LLM.</a:t>
            </a:r>
            <a:endParaRPr/>
          </a:p>
        </p:txBody>
      </p:sp>
      <p:pic>
        <p:nvPicPr>
          <p:cNvPr id="159" name="Google Shape;159;p27"/>
          <p:cNvPicPr preferRelativeResize="0"/>
          <p:nvPr/>
        </p:nvPicPr>
        <p:blipFill rotWithShape="1">
          <a:blip r:embed="rId3">
            <a:alphaModFix/>
          </a:blip>
          <a:srcRect b="0" l="0" r="0" t="1468"/>
          <a:stretch/>
        </p:blipFill>
        <p:spPr>
          <a:xfrm>
            <a:off x="311700" y="1017732"/>
            <a:ext cx="8520602" cy="2480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Gorilla Inference</a:t>
            </a:r>
            <a:endParaRPr/>
          </a:p>
        </p:txBody>
      </p:sp>
      <p:sp>
        <p:nvSpPr>
          <p:cNvPr id="165" name="Google Shape;165;p28"/>
          <p:cNvSpPr txBox="1"/>
          <p:nvPr>
            <p:ph idx="1" type="body"/>
          </p:nvPr>
        </p:nvSpPr>
        <p:spPr>
          <a:xfrm>
            <a:off x="311700" y="3523600"/>
            <a:ext cx="8520600" cy="12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Key Insight: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Retrieval mode improves accuracy but can sometimes hurt performance if the retrieved documentation is irrelevant.</a:t>
            </a:r>
            <a:endParaRPr/>
          </a:p>
        </p:txBody>
      </p:sp>
      <p:pic>
        <p:nvPicPr>
          <p:cNvPr id="166" name="Google Shape;166;p28"/>
          <p:cNvPicPr preferRelativeResize="0"/>
          <p:nvPr/>
        </p:nvPicPr>
        <p:blipFill rotWithShape="1">
          <a:blip r:embed="rId3">
            <a:alphaModFix/>
          </a:blip>
          <a:srcRect b="0" l="0" r="0" t="1468"/>
          <a:stretch/>
        </p:blipFill>
        <p:spPr>
          <a:xfrm>
            <a:off x="311700" y="1017732"/>
            <a:ext cx="8520602" cy="2480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Evaluation Results</a:t>
            </a:r>
            <a:endParaRPr/>
          </a:p>
        </p:txBody>
      </p:sp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311700" y="3743275"/>
            <a:ext cx="8520600" cy="11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Gorilla significantly improves over GPT-4 in generating accurate API calls.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Functional equivalence evaluation using AST tree-matching shows high accuracy.</a:t>
            </a:r>
            <a:endParaRPr/>
          </a:p>
        </p:txBody>
      </p:sp>
      <p:pic>
        <p:nvPicPr>
          <p:cNvPr id="173" name="Google Shape;17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602" y="937975"/>
            <a:ext cx="5486802" cy="2885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Evaluation Results</a:t>
            </a:r>
            <a:endParaRPr/>
          </a:p>
        </p:txBody>
      </p:sp>
      <p:sp>
        <p:nvSpPr>
          <p:cNvPr id="179" name="Google Shape;179;p30"/>
          <p:cNvSpPr txBox="1"/>
          <p:nvPr>
            <p:ph idx="1" type="body"/>
          </p:nvPr>
        </p:nvSpPr>
        <p:spPr>
          <a:xfrm>
            <a:off x="311700" y="3362275"/>
            <a:ext cx="8520600" cy="16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Gorilla significantly improves over GPT-4 in generating accurate API calls.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W/O retriever during inference, RAT reduces hallucination errors by up to 30% compared to direct prompting.</a:t>
            </a:r>
            <a:endParaRPr/>
          </a:p>
        </p:txBody>
      </p:sp>
      <p:pic>
        <p:nvPicPr>
          <p:cNvPr id="180" name="Google Shape;18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538" y="1227825"/>
            <a:ext cx="8702935" cy="203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186" name="Google Shape;186;p31"/>
          <p:cNvSpPr txBox="1"/>
          <p:nvPr>
            <p:ph idx="1" type="body"/>
          </p:nvPr>
        </p:nvSpPr>
        <p:spPr>
          <a:xfrm>
            <a:off x="311700" y="1152475"/>
            <a:ext cx="8520600" cy="15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Constrained</a:t>
            </a:r>
            <a:r>
              <a:rPr lang="en"/>
              <a:t> APIs’ scope, and thus few s</a:t>
            </a:r>
            <a:r>
              <a:rPr lang="en"/>
              <a:t>ystem functionalities.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Challenge and method novelty mismatch: massive and consistently updated APIs -&gt; accurate API documentation retrieval and evolving LLMs.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Syntax based evaluation metrics, overlooking </a:t>
            </a:r>
            <a:r>
              <a:rPr lang="en"/>
              <a:t>executablily</a:t>
            </a:r>
            <a:r>
              <a:rPr lang="en"/>
              <a:t>.</a:t>
            </a:r>
            <a:endParaRPr/>
          </a:p>
        </p:txBody>
      </p:sp>
      <p:sp>
        <p:nvSpPr>
          <p:cNvPr id="187" name="Google Shape;187;p31"/>
          <p:cNvSpPr txBox="1"/>
          <p:nvPr>
            <p:ph type="title"/>
          </p:nvPr>
        </p:nvSpPr>
        <p:spPr>
          <a:xfrm>
            <a:off x="311700" y="2646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Directions</a:t>
            </a:r>
            <a:endParaRPr/>
          </a:p>
        </p:txBody>
      </p:sp>
      <p:sp>
        <p:nvSpPr>
          <p:cNvPr id="188" name="Google Shape;188;p31"/>
          <p:cNvSpPr txBox="1"/>
          <p:nvPr>
            <p:ph idx="1" type="body"/>
          </p:nvPr>
        </p:nvSpPr>
        <p:spPr>
          <a:xfrm>
            <a:off x="311700" y="3353650"/>
            <a:ext cx="8520600" cy="15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Expand APIs.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Adaptive system to updated documentation.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Process/outcome-based evaluation metrics.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94" name="Google Shape;194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Gorilla enables </a:t>
            </a:r>
            <a:r>
              <a:rPr lang="en"/>
              <a:t>open-source </a:t>
            </a:r>
            <a:r>
              <a:rPr lang="en"/>
              <a:t>LLMs to interact with ML model APIs.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Combines fine-tuning, retrieval, and novel RAT methods for accurate API generation.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Addresses critical challenges like hallucination and API evolution.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ToolLLM: Facilitating Large Language Models to Master 16000+ Real-world APIs</a:t>
            </a:r>
            <a:endParaRPr sz="4000"/>
          </a:p>
        </p:txBody>
      </p:sp>
      <p:sp>
        <p:nvSpPr>
          <p:cNvPr id="200" name="Google Shape;200;p33"/>
          <p:cNvSpPr txBox="1"/>
          <p:nvPr>
            <p:ph idx="1" type="subTitle"/>
          </p:nvPr>
        </p:nvSpPr>
        <p:spPr>
          <a:xfrm>
            <a:off x="311700" y="2834125"/>
            <a:ext cx="8520600" cy="22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F2328"/>
                </a:solidFill>
                <a:highlight>
                  <a:srgbClr val="FFFFFF"/>
                </a:highlight>
              </a:rPr>
              <a:t>Yujia Qin*, Shihao Liang*, Yining Ye, Kunlun Zhu, Lan Yan, Yaxi Lu, Yankai Lin ,</a:t>
            </a:r>
            <a:endParaRPr sz="13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F2328"/>
                </a:solidFill>
                <a:highlight>
                  <a:srgbClr val="FFFFFF"/>
                </a:highlight>
              </a:rPr>
              <a:t>Xin Cong1, Xiangru Tang, Bill Qian, Sihan Zhao, Lauren Hong, Runchu Tian,</a:t>
            </a:r>
            <a:endParaRPr sz="13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F2328"/>
                </a:solidFill>
                <a:highlight>
                  <a:srgbClr val="FFFFFF"/>
                </a:highlight>
              </a:rPr>
              <a:t>Ruobing Xie, Jie Zhou, Mark Gerstein, Dahai Li, Zhiyuan Liu, Maosong Sun</a:t>
            </a:r>
            <a:endParaRPr sz="13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F2328"/>
                </a:solidFill>
                <a:highlight>
                  <a:srgbClr val="FFFFFF"/>
                </a:highlight>
              </a:rPr>
              <a:t>Tsinghua University, ModelBest Inc. Renmin University of China</a:t>
            </a:r>
            <a:endParaRPr sz="13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F2328"/>
                </a:solidFill>
                <a:highlight>
                  <a:srgbClr val="FFFFFF"/>
                </a:highlight>
              </a:rPr>
              <a:t>Yale University, WeChat AI, Tencent Inc. Zhihu Inc.</a:t>
            </a:r>
            <a:endParaRPr sz="13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F2328"/>
                </a:solidFill>
                <a:highlight>
                  <a:srgbClr val="FFFFFF"/>
                </a:highlight>
              </a:rPr>
              <a:t>Presentor: Kashob Kumar Roy</a:t>
            </a:r>
            <a:endParaRPr sz="1400">
              <a:solidFill>
                <a:srgbClr val="1F2328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and Motivation</a:t>
            </a:r>
            <a:endParaRPr/>
          </a:p>
        </p:txBody>
      </p:sp>
      <p:sp>
        <p:nvSpPr>
          <p:cNvPr id="206" name="Google Shape;206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LLMs need to </a:t>
            </a:r>
            <a:r>
              <a:rPr lang="en"/>
              <a:t>interact</a:t>
            </a:r>
            <a:r>
              <a:rPr lang="en"/>
              <a:t> with various tools (APIs) to accomplish complex tasks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Open vs. Closed-Source LLMs</a:t>
            </a:r>
            <a:r>
              <a:rPr lang="en"/>
              <a:t>:</a:t>
            </a:r>
            <a:r>
              <a:rPr lang="en"/>
              <a:t> open-source LLMs lacks robust tool-use capabilities with compared to closed ones.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Empowering open-source LLMs to master diverse APIs is essential for </a:t>
            </a:r>
            <a:r>
              <a:rPr lang="en"/>
              <a:t>community</a:t>
            </a:r>
            <a:r>
              <a:rPr lang="en"/>
              <a:t> driven research innovation.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</a:t>
            </a:r>
            <a:r>
              <a:rPr lang="en"/>
              <a:t>igh-quality instruction-tuning datasets with diverse set of APIs are required. 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Prior works has also explored </a:t>
            </a:r>
            <a:r>
              <a:rPr lang="en"/>
              <a:t>creating instruction-tuning datasets to enhance LLMs' tool-use capabilities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5"/>
          <p:cNvSpPr txBox="1"/>
          <p:nvPr/>
        </p:nvSpPr>
        <p:spPr>
          <a:xfrm>
            <a:off x="332100" y="4404550"/>
            <a:ext cx="8479800" cy="673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[1] Shishir G Patil, Tianjun Zhang, Xin Wang, and Joseph E Gonzalez. Gorilla: Large language model connected with massive apis.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[2] Toolalpaca: Generalized tool learning for language models with 3000 simulated cases.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[3] Api-bank: A benchmark for tool-augmented llms.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12" name="Google Shape;212;p35"/>
          <p:cNvSpPr txBox="1"/>
          <p:nvPr>
            <p:ph idx="1" type="body"/>
          </p:nvPr>
        </p:nvSpPr>
        <p:spPr>
          <a:xfrm>
            <a:off x="311700" y="1152475"/>
            <a:ext cx="8520600" cy="28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Limited APIs</a:t>
            </a:r>
            <a:r>
              <a:rPr lang="en"/>
              <a:t>: Lack real-world APIs’ </a:t>
            </a:r>
            <a:r>
              <a:rPr lang="en"/>
              <a:t>(e.g., RESTAPI) </a:t>
            </a:r>
            <a:r>
              <a:rPr lang="en"/>
              <a:t> integration or cover a small, non-diverse set [1-3].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</a:t>
            </a:r>
            <a:r>
              <a:rPr b="1" lang="en"/>
              <a:t>onstrained scenario</a:t>
            </a:r>
            <a:r>
              <a:rPr lang="en"/>
              <a:t>: Focus only on single-tool instructions, while real-world tasks require multi-tool execution and automatic API selection.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Inferior planning and reasoning</a:t>
            </a:r>
            <a:r>
              <a:rPr lang="en"/>
              <a:t>: Existing methods (CoT, ReACT) fail to fully utilize LLM capabilities, lack real API execution, and struggle with complex instructions.</a:t>
            </a:r>
            <a:endParaRPr/>
          </a:p>
        </p:txBody>
      </p:sp>
      <p:sp>
        <p:nvSpPr>
          <p:cNvPr id="213" name="Google Shape;213;p35"/>
          <p:cNvSpPr txBox="1"/>
          <p:nvPr>
            <p:ph type="title"/>
          </p:nvPr>
        </p:nvSpPr>
        <p:spPr>
          <a:xfrm>
            <a:off x="311700" y="439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of existing works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Contributions</a:t>
            </a:r>
            <a:endParaRPr/>
          </a:p>
        </p:txBody>
      </p:sp>
      <p:sp>
        <p:nvSpPr>
          <p:cNvPr id="219" name="Google Shape;219;p36"/>
          <p:cNvSpPr txBox="1"/>
          <p:nvPr>
            <p:ph idx="1" type="body"/>
          </p:nvPr>
        </p:nvSpPr>
        <p:spPr>
          <a:xfrm>
            <a:off x="311700" y="1152475"/>
            <a:ext cx="8636400" cy="32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Introduction of </a:t>
            </a:r>
            <a:r>
              <a:rPr b="1" lang="en"/>
              <a:t>ToolBench</a:t>
            </a:r>
            <a:r>
              <a:rPr lang="en"/>
              <a:t>: a large-scale tool-use dataset (16,000+ real-world APIs).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Development of </a:t>
            </a:r>
            <a:r>
              <a:rPr b="1" lang="en"/>
              <a:t>DFSDT</a:t>
            </a:r>
            <a:r>
              <a:rPr lang="en"/>
              <a:t> (Depth-First Search Decision Tree) to enhance the planning and reasoning ability of LLMs.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Fine-tuning of </a:t>
            </a:r>
            <a:r>
              <a:rPr b="1" lang="en"/>
              <a:t>API retriever </a:t>
            </a:r>
            <a:r>
              <a:rPr lang="en"/>
              <a:t>and </a:t>
            </a:r>
            <a:r>
              <a:rPr b="1" lang="en"/>
              <a:t>ToolLLaMA</a:t>
            </a:r>
            <a:r>
              <a:rPr lang="en"/>
              <a:t>, a tool-augmented LLM with strong API generalization.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Introduction of </a:t>
            </a:r>
            <a:r>
              <a:rPr b="1" lang="en"/>
              <a:t>ToolEval</a:t>
            </a:r>
            <a:r>
              <a:rPr lang="en"/>
              <a:t>, an automatic evaluation metric for tool-use capabilities.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ToolLLM framework</a:t>
            </a:r>
            <a:endParaRPr/>
          </a:p>
        </p:txBody>
      </p:sp>
      <p:pic>
        <p:nvPicPr>
          <p:cNvPr id="225" name="Google Shape;22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300" y="1090174"/>
            <a:ext cx="8463399" cy="2158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7"/>
          <p:cNvSpPr txBox="1"/>
          <p:nvPr/>
        </p:nvSpPr>
        <p:spPr>
          <a:xfrm>
            <a:off x="731650" y="3482650"/>
            <a:ext cx="7740900" cy="13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An open-source tool-use framework that includes data constructions, model training, and evaluation.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Construction of ToolBench (</a:t>
            </a:r>
            <a:r>
              <a:rPr lang="en"/>
              <a:t>1/3</a:t>
            </a:r>
            <a:r>
              <a:rPr lang="en"/>
              <a:t>)</a:t>
            </a:r>
            <a:endParaRPr/>
          </a:p>
        </p:txBody>
      </p:sp>
      <p:sp>
        <p:nvSpPr>
          <p:cNvPr id="232" name="Google Shape;232;p38"/>
          <p:cNvSpPr txBox="1"/>
          <p:nvPr>
            <p:ph idx="1" type="body"/>
          </p:nvPr>
        </p:nvSpPr>
        <p:spPr>
          <a:xfrm>
            <a:off x="267800" y="1145175"/>
            <a:ext cx="4764900" cy="362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Step 1: </a:t>
            </a:r>
            <a:r>
              <a:rPr lang="en"/>
              <a:t>API collection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Collects APIs from RapidAPI hub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Filters out non-functional and low-quality APIs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Resulting in 16464 high-quality APIs</a:t>
            </a:r>
            <a:endParaRPr/>
          </a:p>
        </p:txBody>
      </p:sp>
      <p:pic>
        <p:nvPicPr>
          <p:cNvPr id="233" name="Google Shape;233;p38"/>
          <p:cNvPicPr preferRelativeResize="0"/>
          <p:nvPr/>
        </p:nvPicPr>
        <p:blipFill rotWithShape="1">
          <a:blip r:embed="rId3">
            <a:alphaModFix/>
          </a:blip>
          <a:srcRect b="12793" l="0" r="45060" t="0"/>
          <a:stretch/>
        </p:blipFill>
        <p:spPr>
          <a:xfrm>
            <a:off x="5032575" y="996900"/>
            <a:ext cx="3858275" cy="3149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Construction of ToolBench (2/3)</a:t>
            </a:r>
            <a:endParaRPr/>
          </a:p>
        </p:txBody>
      </p:sp>
      <p:sp>
        <p:nvSpPr>
          <p:cNvPr id="239" name="Google Shape;239;p39"/>
          <p:cNvSpPr txBox="1"/>
          <p:nvPr>
            <p:ph idx="1" type="body"/>
          </p:nvPr>
        </p:nvSpPr>
        <p:spPr>
          <a:xfrm>
            <a:off x="267800" y="1145175"/>
            <a:ext cx="5256300" cy="35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Step 2: </a:t>
            </a:r>
            <a:r>
              <a:rPr lang="en"/>
              <a:t>Instruction Generation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Prompts</a:t>
            </a:r>
            <a:r>
              <a:rPr lang="en"/>
              <a:t> ChatGPT with i) general instruction, ii) list of APIs (</a:t>
            </a:r>
            <a:r>
              <a:rPr lang="en"/>
              <a:t>S</a:t>
            </a:r>
            <a:r>
              <a:rPr baseline="30000" lang="en"/>
              <a:t>sub</a:t>
            </a:r>
            <a:r>
              <a:rPr baseline="-25000" lang="en"/>
              <a:t>N</a:t>
            </a:r>
            <a:r>
              <a:rPr lang="en"/>
              <a:t>)</a:t>
            </a:r>
            <a:r>
              <a:rPr lang="en"/>
              <a:t> and their documentation, iii) three in-context seed examples. 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Generate possible instructions and a set of relevant APIs (S</a:t>
            </a:r>
            <a:r>
              <a:rPr baseline="30000" lang="en"/>
              <a:t>rel</a:t>
            </a:r>
            <a:r>
              <a:rPr baseline="-25000" lang="en"/>
              <a:t>∗</a:t>
            </a:r>
            <a:r>
              <a:rPr lang="en"/>
              <a:t> ⊂ S</a:t>
            </a:r>
            <a:r>
              <a:rPr baseline="30000" lang="en"/>
              <a:t>sub</a:t>
            </a:r>
            <a:r>
              <a:rPr baseline="-25000" lang="en"/>
              <a:t>N</a:t>
            </a:r>
            <a:r>
              <a:rPr lang="en"/>
              <a:t>)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multi-tool instructions, randomly selects 2-5 tools from the same category / collection and sample at most 3 APIs from each tool.</a:t>
            </a:r>
            <a:endParaRPr/>
          </a:p>
        </p:txBody>
      </p:sp>
      <p:pic>
        <p:nvPicPr>
          <p:cNvPr id="240" name="Google Shape;240;p39"/>
          <p:cNvPicPr preferRelativeResize="0"/>
          <p:nvPr/>
        </p:nvPicPr>
        <p:blipFill rotWithShape="1">
          <a:blip r:embed="rId3">
            <a:alphaModFix/>
          </a:blip>
          <a:srcRect b="12533" l="54938" r="0" t="0"/>
          <a:stretch/>
        </p:blipFill>
        <p:spPr>
          <a:xfrm>
            <a:off x="5567850" y="1066625"/>
            <a:ext cx="3454673" cy="36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Construction of ToolBench (3/3)</a:t>
            </a:r>
            <a:endParaRPr/>
          </a:p>
        </p:txBody>
      </p:sp>
      <p:sp>
        <p:nvSpPr>
          <p:cNvPr id="246" name="Google Shape;246;p40"/>
          <p:cNvSpPr txBox="1"/>
          <p:nvPr>
            <p:ph idx="1" type="body"/>
          </p:nvPr>
        </p:nvSpPr>
        <p:spPr>
          <a:xfrm>
            <a:off x="267800" y="1145175"/>
            <a:ext cx="8673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Step 3: </a:t>
            </a:r>
            <a:r>
              <a:rPr lang="en"/>
              <a:t>Solution Path Annotation: Leverages depth first search-based decision tree to expand the search space and increase the possibility of finding a valid path.</a:t>
            </a:r>
            <a:endParaRPr/>
          </a:p>
        </p:txBody>
      </p:sp>
      <p:pic>
        <p:nvPicPr>
          <p:cNvPr id="247" name="Google Shape;24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9400" y="2012425"/>
            <a:ext cx="6540773" cy="307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ToolEval: An automatic Evaluator</a:t>
            </a:r>
            <a:endParaRPr/>
          </a:p>
        </p:txBody>
      </p:sp>
      <p:sp>
        <p:nvSpPr>
          <p:cNvPr id="253" name="Google Shape;253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Develops a ChatGPT based evaluator to automatically evaluate solution paths by different models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Measures two metrics: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Pass Rate</a:t>
            </a:r>
            <a:r>
              <a:rPr lang="en"/>
              <a:t>: to calculate the proportion of successfully completing instructions by a LLM. 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Win Rate</a:t>
            </a:r>
            <a:r>
              <a:rPr lang="en"/>
              <a:t>: to compare two solution paths and identify which one is better. 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</a:t>
            </a:r>
            <a:r>
              <a:rPr lang="en"/>
              <a:t>emonstrates a high agreement of 87.1% in pass rate and 80.3% in win rate with human annotators.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Retriever: a dense </a:t>
            </a:r>
            <a:r>
              <a:rPr lang="en"/>
              <a:t>Sentence-BERT Retriever</a:t>
            </a:r>
            <a:endParaRPr/>
          </a:p>
        </p:txBody>
      </p:sp>
      <p:sp>
        <p:nvSpPr>
          <p:cNvPr id="259" name="Google Shape;259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</a:t>
            </a:r>
            <a:r>
              <a:rPr lang="en"/>
              <a:t>ims to retrieve relevant APIs for an instruction.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Uses semantic </a:t>
            </a:r>
            <a:r>
              <a:rPr lang="en"/>
              <a:t>similarity by encoding instruction and API document into embeddings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To finetune the retriever with contrastive loss, regards relevant APIs as positive and others as negative samples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5675" y="3142000"/>
            <a:ext cx="5400874" cy="1564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ToolLLM Inference</a:t>
            </a:r>
            <a:endParaRPr/>
          </a:p>
        </p:txBody>
      </p:sp>
      <p:sp>
        <p:nvSpPr>
          <p:cNvPr id="266" name="Google Shape;266;p43"/>
          <p:cNvSpPr txBox="1"/>
          <p:nvPr>
            <p:ph idx="1" type="body"/>
          </p:nvPr>
        </p:nvSpPr>
        <p:spPr>
          <a:xfrm>
            <a:off x="311700" y="1152475"/>
            <a:ext cx="4773300" cy="8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ToolLLaMA : LLaMA-2 7B finetuned on ToolBench</a:t>
            </a:r>
            <a:endParaRPr/>
          </a:p>
        </p:txBody>
      </p:sp>
      <p:pic>
        <p:nvPicPr>
          <p:cNvPr id="267" name="Google Shape;267;p43"/>
          <p:cNvPicPr preferRelativeResize="0"/>
          <p:nvPr/>
        </p:nvPicPr>
        <p:blipFill rotWithShape="1">
          <a:blip r:embed="rId3">
            <a:alphaModFix/>
          </a:blip>
          <a:srcRect b="6104" l="62718" r="2183" t="10507"/>
          <a:stretch/>
        </p:blipFill>
        <p:spPr>
          <a:xfrm>
            <a:off x="5134575" y="1434038"/>
            <a:ext cx="3755399" cy="227542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43"/>
          <p:cNvSpPr/>
          <p:nvPr/>
        </p:nvSpPr>
        <p:spPr>
          <a:xfrm>
            <a:off x="5134575" y="1477925"/>
            <a:ext cx="162600" cy="175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9" name="Google Shape;269;p43"/>
          <p:cNvPicPr preferRelativeResize="0"/>
          <p:nvPr/>
        </p:nvPicPr>
        <p:blipFill rotWithShape="1">
          <a:blip r:embed="rId3">
            <a:alphaModFix/>
          </a:blip>
          <a:srcRect b="15499" l="31942" r="62525" t="57965"/>
          <a:stretch/>
        </p:blipFill>
        <p:spPr>
          <a:xfrm>
            <a:off x="373175" y="1080725"/>
            <a:ext cx="468252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43"/>
          <p:cNvSpPr txBox="1"/>
          <p:nvPr/>
        </p:nvSpPr>
        <p:spPr>
          <a:xfrm>
            <a:off x="417050" y="2370550"/>
            <a:ext cx="4580100" cy="23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Integrates the retriever to ToolLLaMA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Retriever finds more appropriate APIs for the current instruction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ToolLLaMA executes the instruction and finds the solution with DFSDT reasoning.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Results</a:t>
            </a:r>
            <a:endParaRPr/>
          </a:p>
        </p:txBody>
      </p:sp>
      <p:sp>
        <p:nvSpPr>
          <p:cNvPr id="276" name="Google Shape;276;p44"/>
          <p:cNvSpPr txBox="1"/>
          <p:nvPr>
            <p:ph idx="1" type="body"/>
          </p:nvPr>
        </p:nvSpPr>
        <p:spPr>
          <a:xfrm>
            <a:off x="311700" y="3768000"/>
            <a:ext cx="8520600" cy="11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DFSDT significantly outperforms ReACT for all LLMs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Finetuned LLaMA fine-tuned for general-purpose dialogue fail to pass any.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ToolLLaMA +DFSDT demonstrates competitive performance</a:t>
            </a:r>
            <a:endParaRPr/>
          </a:p>
        </p:txBody>
      </p:sp>
      <p:pic>
        <p:nvPicPr>
          <p:cNvPr id="277" name="Google Shape;27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975" y="1119800"/>
            <a:ext cx="8299823" cy="260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5"/>
          <p:cNvSpPr txBox="1"/>
          <p:nvPr>
            <p:ph type="title"/>
          </p:nvPr>
        </p:nvSpPr>
        <p:spPr>
          <a:xfrm>
            <a:off x="311700" y="445025"/>
            <a:ext cx="8520600" cy="77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</a:t>
            </a:r>
            <a:r>
              <a:rPr lang="en"/>
              <a:t>-of-Distribution (OOD) generalization TO APIBENCH (Patil et al., 2023)</a:t>
            </a:r>
            <a:endParaRPr/>
          </a:p>
        </p:txBody>
      </p:sp>
      <p:sp>
        <p:nvSpPr>
          <p:cNvPr id="283" name="Google Shape;283;p45"/>
          <p:cNvSpPr txBox="1"/>
          <p:nvPr>
            <p:ph idx="1" type="body"/>
          </p:nvPr>
        </p:nvSpPr>
        <p:spPr>
          <a:xfrm>
            <a:off x="311700" y="3965550"/>
            <a:ext cx="8520600" cy="6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ToolLLaMA achieves remarkable OOD generalization performance across all three domains</a:t>
            </a:r>
            <a:endParaRPr/>
          </a:p>
        </p:txBody>
      </p:sp>
      <p:pic>
        <p:nvPicPr>
          <p:cNvPr id="284" name="Google Shape;28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600" y="1526250"/>
            <a:ext cx="8080324" cy="2300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and Future directions</a:t>
            </a:r>
            <a:endParaRPr/>
          </a:p>
        </p:txBody>
      </p:sp>
      <p:sp>
        <p:nvSpPr>
          <p:cNvPr id="290" name="Google Shape;290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While effective, the retriever may struggle with unseen APIs requiring further domain adaptation.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Despite strong performance, ToolLLaMA still lags behind GPT-4 in handling complex, multi-step tool interactions.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 A single retrieval step may not suffice for multi-tool reasoning; incorporating intermediate responses can dynamically refine API selection.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Handling an expanding API set efficiently remains a challenge, necessitating more robust retrieval and adaptation mechanisms.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96" name="Google Shape;296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</a:t>
            </a:r>
            <a:r>
              <a:rPr lang="en"/>
              <a:t>oolBench: Introduced a large-scale instruction-tuning dataset covering 16K+ real-world APIs with single and multi-tool tasks.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DFSDT Reasoning: Proposed a novel decision-making strategy to enhance the planning and reasoning capabilities of LLMs.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ToolEval: a LLM-based evaluator for efficient evaluation of tool learning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Automated tool-use pipeline: Integrated API retriever to ToolLLaMA to address complex multi-tool tasks. 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8"/>
          <p:cNvSpPr txBox="1"/>
          <p:nvPr>
            <p:ph type="title"/>
          </p:nvPr>
        </p:nvSpPr>
        <p:spPr>
          <a:xfrm>
            <a:off x="2090550" y="1864175"/>
            <a:ext cx="4962900" cy="9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Thank You!</a:t>
            </a:r>
            <a:endParaRPr sz="3700"/>
          </a:p>
        </p:txBody>
      </p:sp>
      <p:sp>
        <p:nvSpPr>
          <p:cNvPr id="302" name="Google Shape;302;p48"/>
          <p:cNvSpPr txBox="1"/>
          <p:nvPr/>
        </p:nvSpPr>
        <p:spPr>
          <a:xfrm>
            <a:off x="3072000" y="25934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             Any Questions?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