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Lst>
  <p:sldSz cy="5143500" cx="9144000"/>
  <p:notesSz cx="6858000" cy="9144000"/>
  <p:embeddedFontLst>
    <p:embeddedFont>
      <p:font typeface="Proxima Nova"/>
      <p:regular r:id="rId70"/>
      <p:bold r:id="rId71"/>
      <p:italic r:id="rId72"/>
      <p:boldItalic r:id="rId73"/>
    </p:embeddedFont>
    <p:embeddedFont>
      <p:font typeface="Alfa Slab One"/>
      <p:regular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font" Target="fonts/ProximaNova-boldItalic.fntdata"/><Relationship Id="rId72" Type="http://schemas.openxmlformats.org/officeDocument/2006/relationships/font" Target="fonts/ProximaNova-italic.fntdata"/><Relationship Id="rId31" Type="http://schemas.openxmlformats.org/officeDocument/2006/relationships/slide" Target="slides/slide27.xml"/><Relationship Id="rId30" Type="http://schemas.openxmlformats.org/officeDocument/2006/relationships/slide" Target="slides/slide26.xml"/><Relationship Id="rId74" Type="http://schemas.openxmlformats.org/officeDocument/2006/relationships/font" Target="fonts/AlfaSlabOne-regular.fntdata"/><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71" Type="http://schemas.openxmlformats.org/officeDocument/2006/relationships/font" Target="fonts/ProximaNova-bold.fntdata"/><Relationship Id="rId70" Type="http://schemas.openxmlformats.org/officeDocument/2006/relationships/font" Target="fonts/ProximaNova-regular.fntdata"/><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3461c60556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3461c60556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351a75862b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351a75862b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3461c60556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3461c60556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3461c60556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3461c60556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3461c60556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3461c60556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3461c60556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3461c60556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351a75862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351a75862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351a75862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351a75862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351a75862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351a75862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351a75862b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351a75862b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351a75862b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351a75862b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351a75862b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351a75862b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351a75862b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351a75862b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351a75862b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351a75862b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351a75862b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351a75862b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351a75862b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351a75862b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351a75862b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351a75862b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351a75862b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351a75862b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351a75862b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351a75862b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351a75862b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351a75862b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 sz="1800">
                <a:solidFill>
                  <a:srgbClr val="666666"/>
                </a:solidFill>
                <a:latin typeface="Proxima Nova"/>
                <a:ea typeface="Proxima Nova"/>
                <a:cs typeface="Proxima Nova"/>
                <a:sym typeface="Proxima Nova"/>
              </a:rPr>
              <a:t>TOT calls the LLM at each tree node to provide a list of available actions, and then calls the LLM to evaluate each new path on the tree as a partial plan.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351a75862b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351a75862b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351a75862b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351a75862b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351a75862b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351a75862b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351a75862b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351a75862b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351a75862b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351a75862b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351a75862b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351a75862b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AutoGPT+P feedback loop,   Plan and Partial Plan are just LLM+P,    </a:t>
            </a:r>
            <a:endParaRPr b="1"/>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351a75862b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351a75862b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Affordance-Based Planning using an LLM with Planner (the planning tool).</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351a75862b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351a75862b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351a75862b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351a75862b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3110fcf0c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3110fcf0c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NOTE: Rejected from ICLR 2024</a:t>
            </a:r>
            <a:endParaRPr/>
          </a:p>
          <a:p>
            <a:pPr indent="-298450" lvl="0" marL="457200" rtl="0" algn="l">
              <a:spcBef>
                <a:spcPts val="0"/>
              </a:spcBef>
              <a:spcAft>
                <a:spcPts val="0"/>
              </a:spcAft>
              <a:buSzPts val="1100"/>
              <a:buChar char="●"/>
            </a:pPr>
            <a:r>
              <a:rPr lang="en"/>
              <a:t>TLDR: LLM does Monte Carlo Tree Search and adds Reflexion</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3110fcf0c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3110fcf0c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3110fcf0c5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3110fcf0c5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3110fcf0c5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3110fcf0c5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3110fcf0c5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3110fcf0c5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This paper basically adds MCTS to the LLM planning pipeline and gets better results.</a:t>
            </a:r>
            <a:endParaRPr/>
          </a:p>
          <a:p>
            <a:pPr indent="-298450" lvl="0" marL="457200" rtl="0" algn="l">
              <a:spcBef>
                <a:spcPts val="0"/>
              </a:spcBef>
              <a:spcAft>
                <a:spcPts val="0"/>
              </a:spcAft>
              <a:buSzPts val="1100"/>
              <a:buChar char="●"/>
            </a:pPr>
            <a:r>
              <a:rPr lang="en"/>
              <a:t>UCT</a:t>
            </a:r>
            <a:r>
              <a:rPr lang="en"/>
              <a:t> ensures an effective exploration–exploitation trade-off</a:t>
            </a:r>
            <a:endParaRPr/>
          </a:p>
          <a:p>
            <a:pPr indent="-298450" lvl="1" marL="914400" rtl="0" algn="l">
              <a:spcBef>
                <a:spcPts val="0"/>
              </a:spcBef>
              <a:spcAft>
                <a:spcPts val="0"/>
              </a:spcAft>
              <a:buSzPts val="1100"/>
              <a:buChar char="○"/>
            </a:pPr>
            <a:r>
              <a:rPr lang="en"/>
              <a:t>p - parent node of s</a:t>
            </a:r>
            <a:endParaRPr/>
          </a:p>
          <a:p>
            <a:pPr indent="-298450" lvl="1" marL="914400" rtl="0" algn="l">
              <a:spcBef>
                <a:spcPts val="0"/>
              </a:spcBef>
              <a:spcAft>
                <a:spcPts val="0"/>
              </a:spcAft>
              <a:buSzPts val="1100"/>
              <a:buChar char="○"/>
            </a:pPr>
            <a:r>
              <a:rPr lang="en"/>
              <a:t>r</a:t>
            </a:r>
            <a:r>
              <a:rPr lang="en"/>
              <a:t> - return of node</a:t>
            </a:r>
            <a:endParaRPr/>
          </a:p>
          <a:p>
            <a:pPr indent="-298450" lvl="0" marL="457200" rtl="0" algn="l">
              <a:spcBef>
                <a:spcPts val="0"/>
              </a:spcBef>
              <a:spcAft>
                <a:spcPts val="0"/>
              </a:spcAft>
              <a:buSzPts val="1100"/>
              <a:buChar char="●"/>
            </a:pPr>
            <a:r>
              <a:rPr lang="en"/>
              <a:t>No need to </a:t>
            </a:r>
            <a:r>
              <a:rPr lang="en"/>
              <a:t>perform backstepping to unroll action history to form tree since we can copy and paste historical context via a memory bank</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3110fcf0c5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3110fcf0c5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3110fcf0c5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3110fcf0c5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3110fcf0c5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3110fcf0c5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Scalar</a:t>
            </a:r>
            <a:r>
              <a:rPr lang="en"/>
              <a:t> value effectively quantifies the agent’s progress in task completion, serving as a heuristic to steer the search algorithm towards the most promising regions of the tree. </a:t>
            </a:r>
            <a:endParaRPr/>
          </a:p>
          <a:p>
            <a:pPr indent="-298450" lvl="0" marL="457200" rtl="0" algn="l">
              <a:spcBef>
                <a:spcPts val="0"/>
              </a:spcBef>
              <a:spcAft>
                <a:spcPts val="0"/>
              </a:spcAft>
              <a:buSzPts val="1100"/>
              <a:buChar char="●"/>
            </a:pPr>
            <a:r>
              <a:rPr lang="en"/>
              <a:t>These equations are critical for guiding the search and ensuring that both internal confidence and consistency inform decision-making.</a:t>
            </a:r>
            <a:endParaRPr/>
          </a:p>
          <a:p>
            <a:pPr indent="-298450" lvl="1" marL="914400" rtl="0" algn="l">
              <a:spcBef>
                <a:spcPts val="0"/>
              </a:spcBef>
              <a:spcAft>
                <a:spcPts val="0"/>
              </a:spcAft>
              <a:buSzPts val="1100"/>
              <a:buChar char="○"/>
            </a:pPr>
            <a:r>
              <a:rPr lang="en"/>
              <a:t>LM(s): The self-generated LM score</a:t>
            </a:r>
            <a:endParaRPr/>
          </a:p>
          <a:p>
            <a:pPr indent="-298450" lvl="1" marL="914400" rtl="0" algn="l">
              <a:spcBef>
                <a:spcPts val="0"/>
              </a:spcBef>
              <a:spcAft>
                <a:spcPts val="0"/>
              </a:spcAft>
              <a:buSzPts val="1100"/>
              <a:buChar char="○"/>
            </a:pPr>
            <a:r>
              <a:rPr lang="en"/>
              <a:t>SC(s): Self-consistency score across multiple samples</a:t>
            </a:r>
            <a:endParaRPr/>
          </a:p>
          <a:p>
            <a:pPr indent="-298450" lvl="1" marL="914400" rtl="0" algn="l">
              <a:spcBef>
                <a:spcPts val="0"/>
              </a:spcBef>
              <a:spcAft>
                <a:spcPts val="0"/>
              </a:spcAft>
              <a:buSzPts val="1100"/>
              <a:buChar char="○"/>
            </a:pPr>
            <a:r>
              <a:rPr lang="en"/>
              <a:t>λ: Hyperparameter balancing the two terms</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Inspired by ToT, we repurpose pθ into a value function by prompting it to reason about a given state. To obtain a scalar value, we instruct pθ to end its reasoning trace with a score indicating the correctness of the trajectory. Our key distinction from ToT is that we obtain this value after obtaining the environmental feedback, improving value assignment. This also enables scaling to more challenging environments, as it is difficult for LMs to improve their responses without external feedback (Huang et al., 2024). </a:t>
            </a:r>
            <a:endParaRPr/>
          </a:p>
          <a:p>
            <a:pPr indent="-298450" lvl="0" marL="457200" rtl="0" algn="l">
              <a:spcBef>
                <a:spcPts val="0"/>
              </a:spcBef>
              <a:spcAft>
                <a:spcPts val="0"/>
              </a:spcAft>
              <a:buSzPts val="1100"/>
              <a:buChar char="●"/>
            </a:pPr>
            <a:r>
              <a:rPr lang="en"/>
              <a:t>Additionally, to further improve value assignment, we introduce an additional heuristic based on self-consistency (Wang et al., 2022), in which actions sampled multiple times at the same state tend to be more accurate. This results in the overall value function: V (s) = λ ∗ LM(s) + (1 − λ) ∗ SC(s), (2) where λ is a hyperparameter. Notably, our method offers enhanced flexibility over programmed heuristics (Campbell et al., 2002) and greater efficiency than learned heuristics (Silver et al., 2017).</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3110fcf0c5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3110fcf0c5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 We will explain what happens if we don’t reach a </a:t>
            </a:r>
            <a:r>
              <a:rPr lang="en"/>
              <a:t>terminal</a:t>
            </a:r>
            <a:r>
              <a:rPr lang="en"/>
              <a:t> state in the last part of the algorithm</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3110fcf0c5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3110fcf0c5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r</a:t>
            </a:r>
            <a:r>
              <a:rPr lang="en"/>
              <a:t> is the reward at the timestep</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3110fcf0c5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3110fcf0c5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1" marL="914400" rtl="0" algn="l">
              <a:lnSpc>
                <a:spcPct val="115000"/>
              </a:lnSpc>
              <a:spcBef>
                <a:spcPts val="0"/>
              </a:spcBef>
              <a:spcAft>
                <a:spcPts val="0"/>
              </a:spcAft>
              <a:buClr>
                <a:srgbClr val="666666"/>
              </a:buClr>
              <a:buSzPts val="1400"/>
              <a:buFont typeface="Proxima Nova"/>
              <a:buChar char="○"/>
            </a:pPr>
            <a:r>
              <a:rPr lang="en" sz="1400">
                <a:solidFill>
                  <a:srgbClr val="666666"/>
                </a:solidFill>
                <a:latin typeface="Proxima Nova"/>
                <a:ea typeface="Proxima Nova"/>
                <a:cs typeface="Proxima Nova"/>
                <a:sym typeface="Proxima Nova"/>
              </a:rPr>
              <a:t>Reflection</a:t>
            </a:r>
            <a:r>
              <a:rPr lang="en" sz="1400">
                <a:solidFill>
                  <a:srgbClr val="666666"/>
                </a:solidFill>
                <a:latin typeface="Proxima Nova"/>
                <a:ea typeface="Proxima Nova"/>
                <a:cs typeface="Proxima Nova"/>
                <a:sym typeface="Proxima Nova"/>
              </a:rPr>
              <a:t> imparts a semantic gradient signal more useful than a scalar value, enabling the agent to learn from trial and error without the cost of expensive optimization such as reinforcement learning.</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3110fcf0c5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3110fcf0c5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1" marL="914400" rtl="0" algn="l">
              <a:lnSpc>
                <a:spcPct val="115000"/>
              </a:lnSpc>
              <a:spcBef>
                <a:spcPts val="0"/>
              </a:spcBef>
              <a:spcAft>
                <a:spcPts val="0"/>
              </a:spcAft>
              <a:buClr>
                <a:srgbClr val="666666"/>
              </a:buClr>
              <a:buSzPts val="1400"/>
              <a:buFont typeface="Proxima Nova"/>
              <a:buChar char="○"/>
            </a:pPr>
            <a:r>
              <a:rPr lang="en" sz="1400">
                <a:solidFill>
                  <a:srgbClr val="666666"/>
                </a:solidFill>
                <a:latin typeface="Proxima Nova"/>
                <a:ea typeface="Proxima Nova"/>
                <a:cs typeface="Proxima Nova"/>
                <a:sym typeface="Proxima Nova"/>
              </a:rPr>
              <a:t>Reflection imparts a semantic gradient signal more useful than a scalar value, enabling the agent to learn from trial and error without the cost of expensive optimization such as reinforcement learning.</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3110fcf0c5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3110fcf0c5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3110fcf0c5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3110fcf0c5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Table 2. GPT-3.5 reasoning-based prompting results on HotpotQA. LATS achieves the highest exact match (EM) for reasoning. We sample n = 5 nodes during expansion and k = 50 trajectories.</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Table 3. GPT-3.5 acting-based prompting results on HotpotQA. LATS achieves the highest exact match (EM) for acting. We sample n = 5 nodes and use k = 50 trajectories. We also evaluate sampling ReAct k times and using both CoT and ReAct base prompting designs for LATS, which achieves the best performance. Note that LATS outperforms ToT and RAP with ReAct prompting, which are the simple adaptations of search algorithms to decision making.</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3110fcf0c5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3110fcf0c5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3110fcf0c5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3110fcf0c5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3110fcf0c5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3110fcf0c5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3110fcf0c5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3110fcf0c5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3110fcf0c5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3110fcf0c5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The essential idea of this is that given a task and tools we want to use, we can have the LLM iteratively</a:t>
            </a:r>
            <a:endParaRPr/>
          </a:p>
          <a:p>
            <a:pPr indent="-298450" lvl="0" marL="914400" rtl="0" algn="l">
              <a:spcBef>
                <a:spcPts val="0"/>
              </a:spcBef>
              <a:spcAft>
                <a:spcPts val="0"/>
              </a:spcAft>
              <a:buSzPts val="1100"/>
              <a:buAutoNum type="arabicPeriod"/>
            </a:pPr>
            <a:r>
              <a:rPr lang="en"/>
              <a:t>Think</a:t>
            </a:r>
            <a:endParaRPr/>
          </a:p>
          <a:p>
            <a:pPr indent="-298450" lvl="0" marL="914400" rtl="0" algn="l">
              <a:spcBef>
                <a:spcPts val="0"/>
              </a:spcBef>
              <a:spcAft>
                <a:spcPts val="0"/>
              </a:spcAft>
              <a:buSzPts val="1100"/>
              <a:buAutoNum type="arabicPeriod"/>
            </a:pPr>
            <a:r>
              <a:rPr lang="en"/>
              <a:t>Use the tool with arguments/write code etc</a:t>
            </a:r>
            <a:endParaRPr/>
          </a:p>
          <a:p>
            <a:pPr indent="-298450" lvl="0" marL="914400" rtl="0" algn="l">
              <a:spcBef>
                <a:spcPts val="0"/>
              </a:spcBef>
              <a:spcAft>
                <a:spcPts val="0"/>
              </a:spcAft>
              <a:buSzPts val="1100"/>
              <a:buAutoNum type="arabicPeriod"/>
            </a:pPr>
            <a:r>
              <a:rPr lang="en"/>
              <a:t>Get observation on what is happening</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35498b4b7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35498b4b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34fbeb27c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34fbeb27c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planning: </a:t>
            </a:r>
            <a:endParaRPr/>
          </a:p>
          <a:p>
            <a:pPr indent="-298450" lvl="1" marL="914400" rtl="0" algn="l">
              <a:spcBef>
                <a:spcPts val="0"/>
              </a:spcBef>
              <a:spcAft>
                <a:spcPts val="0"/>
              </a:spcAft>
              <a:buSzPts val="1100"/>
              <a:buChar char="○"/>
            </a:pPr>
            <a:r>
              <a:rPr lang="en"/>
              <a:t>decomposing tasks, searching for solutions, making final decisions </a:t>
            </a:r>
            <a:endParaRPr/>
          </a:p>
          <a:p>
            <a:pPr indent="-298450" lvl="1" marL="914400" rtl="0" algn="l">
              <a:spcBef>
                <a:spcPts val="0"/>
              </a:spcBef>
              <a:spcAft>
                <a:spcPts val="0"/>
              </a:spcAft>
              <a:buSzPts val="1100"/>
              <a:buChar char="○"/>
            </a:pPr>
            <a:r>
              <a:rPr lang="en"/>
              <a:t>well studied in various areas, but hard for models</a:t>
            </a:r>
            <a:endParaRPr/>
          </a:p>
          <a:p>
            <a:pPr indent="-298450" lvl="0" marL="457200" rtl="0" algn="l">
              <a:spcBef>
                <a:spcPts val="0"/>
              </a:spcBef>
              <a:spcAft>
                <a:spcPts val="0"/>
              </a:spcAft>
              <a:buSzPts val="1100"/>
              <a:buChar char="●"/>
            </a:pPr>
            <a:r>
              <a:rPr lang="en"/>
              <a:t>advent of llms which have performed so well elsewhere</a:t>
            </a:r>
            <a:endParaRPr/>
          </a:p>
          <a:p>
            <a:pPr indent="-298450" lvl="1" marL="914400" rtl="0" algn="l">
              <a:spcBef>
                <a:spcPts val="0"/>
              </a:spcBef>
              <a:spcAft>
                <a:spcPts val="0"/>
              </a:spcAft>
              <a:buSzPts val="1100"/>
              <a:buChar char="○"/>
            </a:pPr>
            <a:r>
              <a:rPr lang="en"/>
              <a:t>memory, tool-use, planning modules </a:t>
            </a:r>
            <a:endParaRPr/>
          </a:p>
          <a:p>
            <a:pPr indent="-298450" lvl="1" marL="914400" rtl="0" algn="l">
              <a:spcBef>
                <a:spcPts val="0"/>
              </a:spcBef>
              <a:spcAft>
                <a:spcPts val="0"/>
              </a:spcAft>
              <a:buSzPts val="1100"/>
              <a:buChar char="○"/>
            </a:pPr>
            <a:r>
              <a:rPr lang="en"/>
              <a:t>even extending into planning with things like tree search, environment feedback, etc </a:t>
            </a:r>
            <a:endParaRPr/>
          </a:p>
          <a:p>
            <a:pPr indent="-298450" lvl="0" marL="457200" rtl="0" algn="l">
              <a:spcBef>
                <a:spcPts val="0"/>
              </a:spcBef>
              <a:spcAft>
                <a:spcPts val="0"/>
              </a:spcAft>
              <a:buSzPts val="1100"/>
              <a:buChar char="●"/>
            </a:pPr>
            <a:r>
              <a:rPr lang="en"/>
              <a:t>but, they are limited </a:t>
            </a:r>
            <a:endParaRPr/>
          </a:p>
          <a:p>
            <a:pPr indent="-298450" lvl="1" marL="914400" rtl="0" algn="l">
              <a:spcBef>
                <a:spcPts val="0"/>
              </a:spcBef>
              <a:spcAft>
                <a:spcPts val="0"/>
              </a:spcAft>
              <a:buSzPts val="1100"/>
              <a:buChar char="○"/>
            </a:pPr>
            <a:r>
              <a:rPr lang="en"/>
              <a:t>e.g. minimal sets of actions </a:t>
            </a:r>
            <a:endParaRPr/>
          </a:p>
          <a:p>
            <a:pPr indent="-298450" lvl="0" marL="457200" rtl="0" algn="l">
              <a:spcBef>
                <a:spcPts val="0"/>
              </a:spcBef>
              <a:spcAft>
                <a:spcPts val="0"/>
              </a:spcAft>
              <a:buSzPts val="1100"/>
              <a:buChar char="●"/>
            </a:pPr>
            <a:r>
              <a:rPr lang="en"/>
              <a:t>don’t resembles cases of how humans use planning in everyday life</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35498b4b7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35498b4b7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constraints types:</a:t>
            </a:r>
            <a:endParaRPr/>
          </a:p>
          <a:p>
            <a:pPr indent="-298450" lvl="0" marL="457200" rtl="0" algn="l">
              <a:spcBef>
                <a:spcPts val="0"/>
              </a:spcBef>
              <a:spcAft>
                <a:spcPts val="0"/>
              </a:spcAft>
              <a:buSzPts val="1100"/>
              <a:buChar char="-"/>
            </a:pPr>
            <a:r>
              <a:rPr lang="en"/>
              <a:t>commonsense:</a:t>
            </a:r>
            <a:endParaRPr/>
          </a:p>
          <a:p>
            <a:pPr indent="-298450" lvl="1" marL="914400" rtl="0" algn="l">
              <a:spcBef>
                <a:spcPts val="0"/>
              </a:spcBef>
              <a:spcAft>
                <a:spcPts val="0"/>
              </a:spcAft>
              <a:buSzPts val="1100"/>
              <a:buChar char="-"/>
            </a:pPr>
            <a:r>
              <a:rPr lang="en"/>
              <a:t>info must be in sandbox</a:t>
            </a:r>
            <a:endParaRPr/>
          </a:p>
          <a:p>
            <a:pPr indent="-298450" lvl="1" marL="914400" rtl="0" algn="l">
              <a:spcBef>
                <a:spcPts val="0"/>
              </a:spcBef>
              <a:spcAft>
                <a:spcPts val="0"/>
              </a:spcAft>
              <a:buSzPts val="1100"/>
              <a:buChar char="-"/>
            </a:pPr>
            <a:r>
              <a:rPr lang="en"/>
              <a:t>no info left out </a:t>
            </a:r>
            <a:endParaRPr/>
          </a:p>
          <a:p>
            <a:pPr indent="-298450" lvl="1" marL="914400" rtl="0" algn="l">
              <a:spcBef>
                <a:spcPts val="0"/>
              </a:spcBef>
              <a:spcAft>
                <a:spcPts val="0"/>
              </a:spcAft>
              <a:buSzPts val="1100"/>
              <a:buChar char="-"/>
            </a:pPr>
            <a:r>
              <a:rPr lang="en"/>
              <a:t>everything within current city </a:t>
            </a:r>
            <a:endParaRPr/>
          </a:p>
          <a:p>
            <a:pPr indent="-298450" lvl="1" marL="914400" rtl="0" algn="l">
              <a:spcBef>
                <a:spcPts val="0"/>
              </a:spcBef>
              <a:spcAft>
                <a:spcPts val="0"/>
              </a:spcAft>
              <a:buSzPts val="1100"/>
              <a:buChar char="-"/>
            </a:pPr>
            <a:r>
              <a:rPr lang="en"/>
              <a:t>diverse attractions and restaurants </a:t>
            </a:r>
            <a:endParaRPr/>
          </a:p>
          <a:p>
            <a:pPr indent="-298450" lvl="0" marL="457200" rtl="0" algn="l">
              <a:spcBef>
                <a:spcPts val="0"/>
              </a:spcBef>
              <a:spcAft>
                <a:spcPts val="0"/>
              </a:spcAft>
              <a:buSzPts val="1100"/>
              <a:buChar char="-"/>
            </a:pPr>
            <a:r>
              <a:rPr lang="en"/>
              <a:t>hard</a:t>
            </a:r>
            <a:endParaRPr/>
          </a:p>
          <a:p>
            <a:pPr indent="-298450" lvl="1" marL="914400" rtl="0" algn="l">
              <a:spcBef>
                <a:spcPts val="0"/>
              </a:spcBef>
              <a:spcAft>
                <a:spcPts val="0"/>
              </a:spcAft>
              <a:buSzPts val="1100"/>
              <a:buChar char="-"/>
            </a:pPr>
            <a:r>
              <a:rPr lang="en"/>
              <a:t>room rules like no parties, no smoking, no children under 10</a:t>
            </a:r>
            <a:endParaRPr/>
          </a:p>
          <a:p>
            <a:pPr indent="-298450" lvl="1" marL="914400" rtl="0" algn="l">
              <a:spcBef>
                <a:spcPts val="0"/>
              </a:spcBef>
              <a:spcAft>
                <a:spcPts val="0"/>
              </a:spcAft>
              <a:buSzPts val="1100"/>
              <a:buChar char="-"/>
            </a:pPr>
            <a:r>
              <a:rPr lang="en"/>
              <a:t>cuisine preferences </a:t>
            </a:r>
            <a:endParaRPr/>
          </a:p>
          <a:p>
            <a:pPr indent="-298450" lvl="1" marL="914400" rtl="0" algn="l">
              <a:spcBef>
                <a:spcPts val="0"/>
              </a:spcBef>
              <a:spcAft>
                <a:spcPts val="0"/>
              </a:spcAft>
              <a:buSzPts val="1100"/>
              <a:buChar char="-"/>
            </a:pPr>
            <a:r>
              <a:rPr lang="en"/>
              <a:t>transportation preferences </a:t>
            </a:r>
            <a:endParaRPr/>
          </a:p>
          <a:p>
            <a:pPr indent="-298450" lvl="0" marL="457200" rtl="0" algn="l">
              <a:spcBef>
                <a:spcPts val="0"/>
              </a:spcBef>
              <a:spcAft>
                <a:spcPts val="0"/>
              </a:spcAft>
              <a:buSzPts val="1100"/>
              <a:buChar char="-"/>
            </a:pPr>
            <a:r>
              <a:rPr lang="en"/>
              <a:t>environment</a:t>
            </a:r>
            <a:endParaRPr/>
          </a:p>
          <a:p>
            <a:pPr indent="-298450" lvl="1" marL="914400" rtl="0" algn="l">
              <a:spcBef>
                <a:spcPts val="0"/>
              </a:spcBef>
              <a:spcAft>
                <a:spcPts val="0"/>
              </a:spcAft>
              <a:buSzPts val="1100"/>
              <a:buChar char="-"/>
            </a:pPr>
            <a:r>
              <a:rPr lang="en"/>
              <a:t>mostly just things being booked/closed</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35498b4b7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35498b4b7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45 train, 180 validation, 1000 test </a:t>
            </a:r>
            <a:endParaRPr/>
          </a:p>
          <a:p>
            <a:pPr indent="0" lvl="0" marL="0" rtl="0" algn="l">
              <a:spcBef>
                <a:spcPts val="0"/>
              </a:spcBef>
              <a:spcAft>
                <a:spcPts val="0"/>
              </a:spcAft>
              <a:buNone/>
            </a:pPr>
            <a:r>
              <a:rPr lang="en"/>
              <a:t>spread evenly over easy medium and hard settings </a:t>
            </a:r>
            <a:endParaRPr/>
          </a:p>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35498b4b76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35498b4b76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35498b4b76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35498b4b76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entries range from 312 for city search to 3.8M for flight search, the rest are in the 5-20k range</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35498b4b7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35498b4b7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35498b4b76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35498b4b76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easiest and hardest metric</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35498b4b76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35498b4b76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micro pass rate: what % of constraints do we fulfill </a:t>
            </a:r>
            <a:endParaRPr/>
          </a:p>
          <a:p>
            <a:pPr indent="0" lvl="0" marL="0" rtl="0" algn="l">
              <a:spcBef>
                <a:spcPts val="0"/>
              </a:spcBef>
              <a:spcAft>
                <a:spcPts val="0"/>
              </a:spcAft>
              <a:buNone/>
            </a:pPr>
            <a:r>
              <a:rPr lang="en"/>
              <a:t>macro pass rate: % of plans that pass all </a:t>
            </a:r>
            <a:r>
              <a:rPr lang="en"/>
              <a:t>constraints</a:t>
            </a:r>
            <a:r>
              <a:rPr lang="en"/>
              <a:t>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35498b4b76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35498b4b76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greedy search: </a:t>
            </a:r>
            <a:endParaRPr/>
          </a:p>
          <a:p>
            <a:pPr indent="-298450" lvl="0" marL="457200" rtl="0" algn="l">
              <a:spcBef>
                <a:spcPts val="0"/>
              </a:spcBef>
              <a:spcAft>
                <a:spcPts val="0"/>
              </a:spcAft>
              <a:buSzPts val="1100"/>
              <a:buChar char="-"/>
            </a:pPr>
            <a:r>
              <a:rPr lang="en"/>
              <a:t>optimizing cost </a:t>
            </a:r>
            <a:endParaRPr/>
          </a:p>
          <a:p>
            <a:pPr indent="-298450" lvl="0" marL="457200" rtl="0" algn="l">
              <a:spcBef>
                <a:spcPts val="0"/>
              </a:spcBef>
              <a:spcAft>
                <a:spcPts val="0"/>
              </a:spcAft>
              <a:buSzPts val="1100"/>
              <a:buChar char="-"/>
            </a:pPr>
            <a:r>
              <a:rPr lang="en"/>
              <a:t>literally: first cities, cheapest travel, cheapest accommodation, cheapest food, random attractions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LLMs:</a:t>
            </a:r>
            <a:endParaRPr/>
          </a:p>
          <a:p>
            <a:pPr indent="-298450" lvl="0" marL="457200" rtl="0" algn="l">
              <a:spcBef>
                <a:spcPts val="0"/>
              </a:spcBef>
              <a:spcAft>
                <a:spcPts val="0"/>
              </a:spcAft>
              <a:buSzPts val="1100"/>
              <a:buChar char="-"/>
            </a:pPr>
            <a:r>
              <a:rPr lang="en"/>
              <a:t>context windows at least 8k given how much information </a:t>
            </a:r>
            <a:endParaRPr/>
          </a:p>
          <a:p>
            <a:pPr indent="-298450" lvl="0" marL="457200" rtl="0" algn="l">
              <a:spcBef>
                <a:spcPts val="0"/>
              </a:spcBef>
              <a:spcAft>
                <a:spcPts val="0"/>
              </a:spcAft>
              <a:buSzPts val="1100"/>
              <a:buChar char="-"/>
            </a:pPr>
            <a:r>
              <a:rPr lang="en"/>
              <a:t>both open and closed source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results: </a:t>
            </a:r>
            <a:endParaRPr/>
          </a:p>
          <a:p>
            <a:pPr indent="-298450" lvl="0" marL="457200" rtl="0" algn="l">
              <a:spcBef>
                <a:spcPts val="0"/>
              </a:spcBef>
              <a:spcAft>
                <a:spcPts val="0"/>
              </a:spcAft>
              <a:buSzPts val="1100"/>
              <a:buChar char="-"/>
            </a:pPr>
            <a:r>
              <a:rPr lang="en"/>
              <a:t>significant challenge, only gpt-4 turbo passes any </a:t>
            </a:r>
            <a:endParaRPr/>
          </a:p>
          <a:p>
            <a:pPr indent="-298450" lvl="0" marL="457200" rtl="0" algn="l">
              <a:spcBef>
                <a:spcPts val="0"/>
              </a:spcBef>
              <a:spcAft>
                <a:spcPts val="0"/>
              </a:spcAft>
              <a:buSzPts val="1100"/>
              <a:buChar char="-"/>
            </a:pPr>
            <a:r>
              <a:rPr lang="en"/>
              <a:t>gemini pro refuses to answer sometimes</a:t>
            </a:r>
            <a:endParaRPr/>
          </a:p>
          <a:p>
            <a:pPr indent="-298450" lvl="0" marL="457200" rtl="0" algn="l">
              <a:spcBef>
                <a:spcPts val="0"/>
              </a:spcBef>
              <a:spcAft>
                <a:spcPts val="0"/>
              </a:spcAft>
              <a:buSzPts val="1100"/>
              <a:buChar char="-"/>
            </a:pPr>
            <a:r>
              <a:rPr lang="en"/>
              <a:t>average human takes 12 minutes to annotate a plan but turbo takes 1-2 minutes </a:t>
            </a:r>
            <a:endParaRPr/>
          </a:p>
          <a:p>
            <a:pPr indent="-298450" lvl="0" marL="457200" rtl="0" algn="l">
              <a:spcBef>
                <a:spcPts val="0"/>
              </a:spcBef>
              <a:spcAft>
                <a:spcPts val="0"/>
              </a:spcAft>
              <a:buSzPts val="1100"/>
              <a:buChar char="-"/>
            </a:pPr>
            <a:r>
              <a:rPr lang="en"/>
              <a:t>micro macro difference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35498b4b7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35498b4b76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LLMs</a:t>
            </a:r>
            <a:endParaRPr/>
          </a:p>
          <a:p>
            <a:pPr indent="-298450" lvl="0" marL="457200" rtl="0" algn="l">
              <a:spcBef>
                <a:spcPts val="0"/>
              </a:spcBef>
              <a:spcAft>
                <a:spcPts val="0"/>
              </a:spcAft>
              <a:buSzPts val="1100"/>
              <a:buChar char="-"/>
            </a:pPr>
            <a:r>
              <a:rPr lang="en"/>
              <a:t>no Tree of Thought or Graph of Thought because it would get very complex for this problem, very costly</a:t>
            </a:r>
            <a:endParaRPr/>
          </a:p>
          <a:p>
            <a:pPr indent="-298450" lvl="0" marL="457200" rtl="0" algn="l">
              <a:spcBef>
                <a:spcPts val="0"/>
              </a:spcBef>
              <a:spcAft>
                <a:spcPts val="0"/>
              </a:spcAft>
              <a:buSzPts val="1100"/>
              <a:buChar char="-"/>
            </a:pPr>
            <a:r>
              <a:rPr lang="en"/>
              <a:t>also similar performance to ReAct so probably not worth it</a:t>
            </a:r>
            <a:endParaRPr/>
          </a:p>
          <a:p>
            <a:pPr indent="-298450" lvl="0" marL="457200" rtl="0" algn="l">
              <a:spcBef>
                <a:spcPts val="0"/>
              </a:spcBef>
              <a:spcAft>
                <a:spcPts val="0"/>
              </a:spcAft>
              <a:buSzPts val="1100"/>
              <a:buChar char="-"/>
            </a:pPr>
            <a:r>
              <a:rPr lang="en"/>
              <a:t>direct: query just directly given to model, in context with examples </a:t>
            </a:r>
            <a:endParaRPr/>
          </a:p>
          <a:p>
            <a:pPr indent="-298450" lvl="0" marL="457200" rtl="0" algn="l">
              <a:spcBef>
                <a:spcPts val="0"/>
              </a:spcBef>
              <a:spcAft>
                <a:spcPts val="0"/>
              </a:spcAft>
              <a:buSzPts val="1100"/>
              <a:buChar char="-"/>
            </a:pPr>
            <a:r>
              <a:rPr lang="en"/>
              <a:t>zs-cot: think step by step, have reasoning steps </a:t>
            </a:r>
            <a:endParaRPr/>
          </a:p>
          <a:p>
            <a:pPr indent="-298450" lvl="0" marL="457200" rtl="0" algn="l">
              <a:spcBef>
                <a:spcPts val="0"/>
              </a:spcBef>
              <a:spcAft>
                <a:spcPts val="0"/>
              </a:spcAft>
              <a:buSzPts val="1100"/>
              <a:buChar char="-"/>
            </a:pPr>
            <a:r>
              <a:rPr lang="en"/>
              <a:t>react: cost is the environmental feedback </a:t>
            </a:r>
            <a:endParaRPr/>
          </a:p>
          <a:p>
            <a:pPr indent="-298450" lvl="0" marL="457200" rtl="0" algn="l">
              <a:spcBef>
                <a:spcPts val="0"/>
              </a:spcBef>
              <a:spcAft>
                <a:spcPts val="0"/>
              </a:spcAft>
              <a:buSzPts val="1100"/>
              <a:buChar char="-"/>
            </a:pPr>
            <a:r>
              <a:rPr lang="en"/>
              <a:t>reflexion: high level insights into previous erroneous answers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solo-planning: no tool-use/looking things up, just </a:t>
            </a:r>
            <a:r>
              <a:rPr lang="en"/>
              <a:t>reasoning</a:t>
            </a:r>
            <a:r>
              <a:rPr lang="en"/>
              <a:t> </a:t>
            </a:r>
            <a:endParaRPr/>
          </a:p>
          <a:p>
            <a:pPr indent="0" lvl="0" marL="0" rtl="0" algn="l">
              <a:spcBef>
                <a:spcPts val="0"/>
              </a:spcBef>
              <a:spcAft>
                <a:spcPts val="0"/>
              </a:spcAft>
              <a:buNone/>
            </a:pPr>
            <a:r>
              <a:rPr lang="en"/>
              <a:t>results:</a:t>
            </a:r>
            <a:endParaRPr/>
          </a:p>
          <a:p>
            <a:pPr indent="-298450" lvl="0" marL="457200" rtl="0" algn="l">
              <a:spcBef>
                <a:spcPts val="0"/>
              </a:spcBef>
              <a:spcAft>
                <a:spcPts val="0"/>
              </a:spcAft>
              <a:buSzPts val="1100"/>
              <a:buChar char="-"/>
            </a:pPr>
            <a:r>
              <a:rPr lang="en"/>
              <a:t>best agents still fall short of the greedy for hard </a:t>
            </a:r>
            <a:r>
              <a:rPr lang="en"/>
              <a:t>constraints</a:t>
            </a:r>
            <a:r>
              <a:rPr lang="en"/>
              <a:t> </a:t>
            </a:r>
            <a:endParaRPr/>
          </a:p>
          <a:p>
            <a:pPr indent="-298450" lvl="0" marL="457200" rtl="0" algn="l">
              <a:spcBef>
                <a:spcPts val="0"/>
              </a:spcBef>
              <a:spcAft>
                <a:spcPts val="0"/>
              </a:spcAft>
              <a:buSzPts val="1100"/>
              <a:buChar char="-"/>
            </a:pPr>
            <a:r>
              <a:rPr lang="en"/>
              <a:t>huge gap between the modes suggesting bad at multiple tasks at once but also tool use yikes </a:t>
            </a:r>
            <a:endParaRPr/>
          </a:p>
          <a:p>
            <a:pPr indent="-298450" lvl="0" marL="457200" rtl="0" algn="l">
              <a:spcBef>
                <a:spcPts val="0"/>
              </a:spcBef>
              <a:spcAft>
                <a:spcPts val="0"/>
              </a:spcAft>
              <a:buSzPts val="1100"/>
              <a:buChar char="-"/>
            </a:pPr>
            <a:r>
              <a:rPr lang="en"/>
              <a:t>let’s look more into the errors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35498b4b76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35498b4b76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 models worse than other</a:t>
            </a:r>
            <a:endParaRPr/>
          </a:p>
          <a:p>
            <a:pPr indent="0" lvl="0" marL="0" rtl="0" algn="l">
              <a:spcBef>
                <a:spcPts val="0"/>
              </a:spcBef>
              <a:spcAft>
                <a:spcPts val="0"/>
              </a:spcAft>
              <a:buNone/>
            </a:pPr>
            <a:r>
              <a:rPr lang="en"/>
              <a:t>even getting feedback that things are wrong they try the same things repeatedly</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35498b4b76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35498b4b76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modes: how many constraints </a:t>
            </a:r>
            <a:endParaRPr/>
          </a:p>
          <a:p>
            <a:pPr indent="-298450" lvl="0" marL="457200" rtl="0" algn="l">
              <a:spcBef>
                <a:spcPts val="0"/>
              </a:spcBef>
              <a:spcAft>
                <a:spcPts val="0"/>
              </a:spcAft>
              <a:buSzPts val="1100"/>
              <a:buChar char="-"/>
            </a:pPr>
            <a:r>
              <a:rPr lang="en"/>
              <a:t>number of constraints affects </a:t>
            </a:r>
            <a:r>
              <a:rPr lang="en"/>
              <a:t>performance</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on gpt turbo</a:t>
            </a:r>
            <a:endParaRPr/>
          </a:p>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35498b4b76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35498b4b76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given the performance difference between the full problem and the solo planning one</a:t>
            </a:r>
            <a:endParaRPr/>
          </a:p>
          <a:p>
            <a:pPr indent="-298450" lvl="0" marL="457200" rtl="0" algn="l">
              <a:spcBef>
                <a:spcPts val="0"/>
              </a:spcBef>
              <a:spcAft>
                <a:spcPts val="0"/>
              </a:spcAft>
              <a:buSzPts val="1100"/>
              <a:buChar char="-"/>
            </a:pPr>
            <a:r>
              <a:rPr lang="en"/>
              <a:t>agents don’t use information </a:t>
            </a:r>
            <a:r>
              <a:rPr lang="en"/>
              <a:t>effectively</a:t>
            </a:r>
            <a:r>
              <a:rPr lang="en"/>
              <a:t> compared to the reference plans </a:t>
            </a:r>
            <a:endParaRPr/>
          </a:p>
          <a:p>
            <a:pPr indent="-298450" lvl="0" marL="457200" rtl="0" algn="l">
              <a:spcBef>
                <a:spcPts val="0"/>
              </a:spcBef>
              <a:spcAft>
                <a:spcPts val="0"/>
              </a:spcAft>
              <a:buSzPts val="1100"/>
              <a:buChar char="-"/>
            </a:pPr>
            <a:r>
              <a:rPr lang="en"/>
              <a:t>i.e. they don’t get all the information they should </a:t>
            </a:r>
            <a:endParaRPr/>
          </a:p>
          <a:p>
            <a:pPr indent="-298450" lvl="0" marL="457200" rtl="0" algn="l">
              <a:spcBef>
                <a:spcPts val="0"/>
              </a:spcBef>
              <a:spcAft>
                <a:spcPts val="0"/>
              </a:spcAft>
              <a:buSzPts val="1100"/>
              <a:buChar char="-"/>
            </a:pPr>
            <a:r>
              <a:rPr lang="en"/>
              <a:t>so they generate made up info or leave stuff out </a:t>
            </a:r>
            <a:endParaRPr/>
          </a:p>
          <a:p>
            <a:pPr indent="-298450" lvl="0" marL="457200" rtl="0" algn="l">
              <a:spcBef>
                <a:spcPts val="0"/>
              </a:spcBef>
              <a:spcAft>
                <a:spcPts val="0"/>
              </a:spcAft>
              <a:buSzPts val="1100"/>
              <a:buChar char="-"/>
            </a:pPr>
            <a:r>
              <a:rPr lang="en"/>
              <a:t>suffering on long horizon tasks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35498b4b76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35498b4b76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general, models struggle with global planning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reasons for failure </a:t>
            </a:r>
            <a:endParaRPr/>
          </a:p>
          <a:p>
            <a:pPr indent="-298450" lvl="0" marL="457200" rtl="0" algn="l">
              <a:spcBef>
                <a:spcPts val="0"/>
              </a:spcBef>
              <a:spcAft>
                <a:spcPts val="0"/>
              </a:spcAft>
              <a:buSzPts val="1100"/>
              <a:buChar char="-"/>
            </a:pPr>
            <a:r>
              <a:rPr lang="en"/>
              <a:t>unable to </a:t>
            </a:r>
            <a:r>
              <a:rPr lang="en"/>
              <a:t>identify</a:t>
            </a:r>
            <a:r>
              <a:rPr lang="en"/>
              <a:t> persistent errors </a:t>
            </a:r>
            <a:endParaRPr/>
          </a:p>
          <a:p>
            <a:pPr indent="-298450" lvl="1" marL="914400" rtl="0" algn="l">
              <a:spcBef>
                <a:spcPts val="0"/>
              </a:spcBef>
              <a:spcAft>
                <a:spcPts val="0"/>
              </a:spcAft>
              <a:buSzPts val="1100"/>
              <a:buChar char="-"/>
            </a:pPr>
            <a:r>
              <a:rPr lang="en"/>
              <a:t>e.g. incorrect date inputs</a:t>
            </a:r>
            <a:endParaRPr/>
          </a:p>
          <a:p>
            <a:pPr indent="-298450" lvl="0" marL="457200" rtl="0" algn="l">
              <a:spcBef>
                <a:spcPts val="0"/>
              </a:spcBef>
              <a:spcAft>
                <a:spcPts val="0"/>
              </a:spcAft>
              <a:buSzPts val="1100"/>
              <a:buChar char="-"/>
            </a:pPr>
            <a:r>
              <a:rPr lang="en"/>
              <a:t>hallucination</a:t>
            </a:r>
            <a:r>
              <a:rPr lang="en"/>
              <a:t> </a:t>
            </a:r>
            <a:endParaRPr/>
          </a:p>
          <a:p>
            <a:pPr indent="-298450" lvl="1" marL="914400" rtl="0" algn="l">
              <a:spcBef>
                <a:spcPts val="0"/>
              </a:spcBef>
              <a:spcAft>
                <a:spcPts val="0"/>
              </a:spcAft>
              <a:buSzPts val="1100"/>
              <a:buChar char="-"/>
            </a:pPr>
            <a:r>
              <a:rPr lang="en"/>
              <a:t>confusing multiple </a:t>
            </a:r>
            <a:r>
              <a:rPr lang="en"/>
              <a:t>pieces</a:t>
            </a:r>
            <a:r>
              <a:rPr lang="en"/>
              <a:t> of information </a:t>
            </a:r>
            <a:endParaRPr/>
          </a:p>
          <a:p>
            <a:pPr indent="-298450" lvl="0" marL="457200" rtl="0" algn="l">
              <a:spcBef>
                <a:spcPts val="0"/>
              </a:spcBef>
              <a:spcAft>
                <a:spcPts val="0"/>
              </a:spcAft>
              <a:buSzPts val="1100"/>
              <a:buChar char="-"/>
            </a:pPr>
            <a:r>
              <a:rPr lang="en"/>
              <a:t>aligning actions with reasoning </a:t>
            </a:r>
            <a:endParaRPr/>
          </a:p>
          <a:p>
            <a:pPr indent="-298450" lvl="1" marL="914400" rtl="0" algn="l">
              <a:spcBef>
                <a:spcPts val="0"/>
              </a:spcBef>
              <a:spcAft>
                <a:spcPts val="0"/>
              </a:spcAft>
              <a:buSzPts val="1100"/>
              <a:buChar char="-"/>
            </a:pPr>
            <a:r>
              <a:rPr lang="en"/>
              <a:t> </a:t>
            </a:r>
            <a:r>
              <a:rPr lang="en"/>
              <a:t>discrepancy</a:t>
            </a:r>
            <a:r>
              <a:rPr lang="en"/>
              <a:t> between thoughts and actions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35498b4b76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35498b4b76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p2"/>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2" name="Google Shape;12;p2"/>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311700" y="2480550"/>
            <a:ext cx="8114400" cy="24459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6800"/>
              <a:buNone/>
              <a:defRPr sz="6800">
                <a:solidFill>
                  <a:schemeClr val="lt1"/>
                </a:solidFill>
              </a:defRPr>
            </a:lvl1pPr>
            <a:lvl2pPr lvl="1">
              <a:spcBef>
                <a:spcPts val="0"/>
              </a:spcBef>
              <a:spcAft>
                <a:spcPts val="0"/>
              </a:spcAft>
              <a:buClr>
                <a:schemeClr val="lt1"/>
              </a:buClr>
              <a:buSzPts val="6800"/>
              <a:buNone/>
              <a:defRPr sz="6800">
                <a:solidFill>
                  <a:schemeClr val="lt1"/>
                </a:solidFill>
              </a:defRPr>
            </a:lvl2pPr>
            <a:lvl3pPr lvl="2">
              <a:spcBef>
                <a:spcPts val="0"/>
              </a:spcBef>
              <a:spcAft>
                <a:spcPts val="0"/>
              </a:spcAft>
              <a:buClr>
                <a:schemeClr val="lt1"/>
              </a:buClr>
              <a:buSzPts val="6800"/>
              <a:buNone/>
              <a:defRPr sz="6800">
                <a:solidFill>
                  <a:schemeClr val="lt1"/>
                </a:solidFill>
              </a:defRPr>
            </a:lvl3pPr>
            <a:lvl4pPr lvl="3">
              <a:spcBef>
                <a:spcPts val="0"/>
              </a:spcBef>
              <a:spcAft>
                <a:spcPts val="0"/>
              </a:spcAft>
              <a:buClr>
                <a:schemeClr val="lt1"/>
              </a:buClr>
              <a:buSzPts val="6800"/>
              <a:buNone/>
              <a:defRPr sz="6800">
                <a:solidFill>
                  <a:schemeClr val="lt1"/>
                </a:solidFill>
              </a:defRPr>
            </a:lvl4pPr>
            <a:lvl5pPr lvl="4">
              <a:spcBef>
                <a:spcPts val="0"/>
              </a:spcBef>
              <a:spcAft>
                <a:spcPts val="0"/>
              </a:spcAft>
              <a:buClr>
                <a:schemeClr val="lt1"/>
              </a:buClr>
              <a:buSzPts val="6800"/>
              <a:buNone/>
              <a:defRPr sz="6800">
                <a:solidFill>
                  <a:schemeClr val="lt1"/>
                </a:solidFill>
              </a:defRPr>
            </a:lvl5pPr>
            <a:lvl6pPr lvl="5">
              <a:spcBef>
                <a:spcPts val="0"/>
              </a:spcBef>
              <a:spcAft>
                <a:spcPts val="0"/>
              </a:spcAft>
              <a:buClr>
                <a:schemeClr val="lt1"/>
              </a:buClr>
              <a:buSzPts val="6800"/>
              <a:buNone/>
              <a:defRPr sz="6800">
                <a:solidFill>
                  <a:schemeClr val="lt1"/>
                </a:solidFill>
              </a:defRPr>
            </a:lvl6pPr>
            <a:lvl7pPr lvl="6">
              <a:spcBef>
                <a:spcPts val="0"/>
              </a:spcBef>
              <a:spcAft>
                <a:spcPts val="0"/>
              </a:spcAft>
              <a:buClr>
                <a:schemeClr val="lt1"/>
              </a:buClr>
              <a:buSzPts val="6800"/>
              <a:buNone/>
              <a:defRPr sz="6800">
                <a:solidFill>
                  <a:schemeClr val="lt1"/>
                </a:solidFill>
              </a:defRPr>
            </a:lvl7pPr>
            <a:lvl8pPr lvl="7">
              <a:spcBef>
                <a:spcPts val="0"/>
              </a:spcBef>
              <a:spcAft>
                <a:spcPts val="0"/>
              </a:spcAft>
              <a:buClr>
                <a:schemeClr val="lt1"/>
              </a:buClr>
              <a:buSzPts val="6800"/>
              <a:buNone/>
              <a:defRPr sz="6800">
                <a:solidFill>
                  <a:schemeClr val="lt1"/>
                </a:solidFill>
              </a:defRPr>
            </a:lvl8pPr>
            <a:lvl9pPr lvl="8">
              <a:spcBef>
                <a:spcPts val="0"/>
              </a:spcBef>
              <a:spcAft>
                <a:spcPts val="0"/>
              </a:spcAft>
              <a:buClr>
                <a:schemeClr val="lt1"/>
              </a:buClr>
              <a:buSzPts val="6800"/>
              <a:buNone/>
              <a:defRPr sz="6800">
                <a:solidFill>
                  <a:schemeClr val="lt1"/>
                </a:solidFill>
              </a:defRPr>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490875"/>
            <a:ext cx="2808000" cy="30780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39" name="Google Shape;39;p9"/>
          <p:cNvSpPr txBox="1"/>
          <p:nvPr>
            <p:ph type="title"/>
          </p:nvPr>
        </p:nvSpPr>
        <p:spPr>
          <a:xfrm>
            <a:off x="265500" y="1375599"/>
            <a:ext cx="4045200" cy="15519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0" name="Google Shape;40;p9"/>
          <p:cNvSpPr txBox="1"/>
          <p:nvPr>
            <p:ph idx="1" type="subTitle"/>
          </p:nvPr>
        </p:nvSpPr>
        <p:spPr>
          <a:xfrm>
            <a:off x="265500" y="2981125"/>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67925"/>
            <a:ext cx="8520600" cy="1980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1000"/>
              <a:buNone/>
              <a:defRPr sz="11000">
                <a:solidFill>
                  <a:schemeClr val="dk1"/>
                </a:solidFill>
              </a:defRPr>
            </a:lvl1pPr>
            <a:lvl2pPr lvl="1" algn="ctr">
              <a:spcBef>
                <a:spcPts val="0"/>
              </a:spcBef>
              <a:spcAft>
                <a:spcPts val="0"/>
              </a:spcAft>
              <a:buClr>
                <a:schemeClr val="dk1"/>
              </a:buClr>
              <a:buSzPts val="11000"/>
              <a:buNone/>
              <a:defRPr sz="11000">
                <a:solidFill>
                  <a:schemeClr val="dk1"/>
                </a:solidFill>
              </a:defRPr>
            </a:lvl2pPr>
            <a:lvl3pPr lvl="2" algn="ctr">
              <a:spcBef>
                <a:spcPts val="0"/>
              </a:spcBef>
              <a:spcAft>
                <a:spcPts val="0"/>
              </a:spcAft>
              <a:buClr>
                <a:schemeClr val="dk1"/>
              </a:buClr>
              <a:buSzPts val="11000"/>
              <a:buNone/>
              <a:defRPr sz="11000">
                <a:solidFill>
                  <a:schemeClr val="dk1"/>
                </a:solidFill>
              </a:defRPr>
            </a:lvl3pPr>
            <a:lvl4pPr lvl="3" algn="ctr">
              <a:spcBef>
                <a:spcPts val="0"/>
              </a:spcBef>
              <a:spcAft>
                <a:spcPts val="0"/>
              </a:spcAft>
              <a:buClr>
                <a:schemeClr val="dk1"/>
              </a:buClr>
              <a:buSzPts val="11000"/>
              <a:buNone/>
              <a:defRPr sz="11000">
                <a:solidFill>
                  <a:schemeClr val="dk1"/>
                </a:solidFill>
              </a:defRPr>
            </a:lvl4pPr>
            <a:lvl5pPr lvl="4" algn="ctr">
              <a:spcBef>
                <a:spcPts val="0"/>
              </a:spcBef>
              <a:spcAft>
                <a:spcPts val="0"/>
              </a:spcAft>
              <a:buClr>
                <a:schemeClr val="dk1"/>
              </a:buClr>
              <a:buSzPts val="11000"/>
              <a:buNone/>
              <a:defRPr sz="11000">
                <a:solidFill>
                  <a:schemeClr val="dk1"/>
                </a:solidFill>
              </a:defRPr>
            </a:lvl5pPr>
            <a:lvl6pPr lvl="5" algn="ctr">
              <a:spcBef>
                <a:spcPts val="0"/>
              </a:spcBef>
              <a:spcAft>
                <a:spcPts val="0"/>
              </a:spcAft>
              <a:buClr>
                <a:schemeClr val="dk1"/>
              </a:buClr>
              <a:buSzPts val="11000"/>
              <a:buNone/>
              <a:defRPr sz="11000">
                <a:solidFill>
                  <a:schemeClr val="dk1"/>
                </a:solidFill>
              </a:defRPr>
            </a:lvl6pPr>
            <a:lvl7pPr lvl="6" algn="ctr">
              <a:spcBef>
                <a:spcPts val="0"/>
              </a:spcBef>
              <a:spcAft>
                <a:spcPts val="0"/>
              </a:spcAft>
              <a:buClr>
                <a:schemeClr val="dk1"/>
              </a:buClr>
              <a:buSzPts val="11000"/>
              <a:buNone/>
              <a:defRPr sz="11000">
                <a:solidFill>
                  <a:schemeClr val="dk1"/>
                </a:solidFill>
              </a:defRPr>
            </a:lvl7pPr>
            <a:lvl8pPr lvl="7" algn="ctr">
              <a:spcBef>
                <a:spcPts val="0"/>
              </a:spcBef>
              <a:spcAft>
                <a:spcPts val="0"/>
              </a:spcAft>
              <a:buClr>
                <a:schemeClr val="dk1"/>
              </a:buClr>
              <a:buSzPts val="11000"/>
              <a:buNone/>
              <a:defRPr sz="11000">
                <a:solidFill>
                  <a:schemeClr val="dk1"/>
                </a:solidFill>
              </a:defRPr>
            </a:lvl8pPr>
            <a:lvl9pPr lvl="8" algn="ctr">
              <a:spcBef>
                <a:spcPts val="0"/>
              </a:spcBef>
              <a:spcAft>
                <a:spcPts val="0"/>
              </a:spcAft>
              <a:buClr>
                <a:schemeClr val="dk1"/>
              </a:buClr>
              <a:buSzPts val="11000"/>
              <a:buNone/>
              <a:defRPr sz="11000">
                <a:solidFill>
                  <a:schemeClr val="dk1"/>
                </a:solidFill>
              </a:defRPr>
            </a:lvl9pPr>
          </a:lstStyle>
          <a:p>
            <a:r>
              <a:t>xx%</a:t>
            </a:r>
          </a:p>
        </p:txBody>
      </p:sp>
      <p:sp>
        <p:nvSpPr>
          <p:cNvPr id="48" name="Google Shape;48;p11"/>
          <p:cNvSpPr txBox="1"/>
          <p:nvPr>
            <p:ph idx="1" type="body"/>
          </p:nvPr>
        </p:nvSpPr>
        <p:spPr>
          <a:xfrm>
            <a:off x="311700" y="32242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roxima Nova"/>
              <a:buChar char="●"/>
              <a:defRPr sz="1800">
                <a:solidFill>
                  <a:schemeClr val="dk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hyperlink" Target="https://www.cs.toronto.edu/~sheila/2542/s14/A1/introtopddl2.pdf"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5.png"/><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7.png"/><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7.png"/><Relationship Id="rId4" Type="http://schemas.openxmlformats.org/officeDocument/2006/relationships/image" Target="../media/image1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4.png"/><Relationship Id="rId4" Type="http://schemas.openxmlformats.org/officeDocument/2006/relationships/image" Target="../media/image1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1.png"/><Relationship Id="rId4" Type="http://schemas.openxmlformats.org/officeDocument/2006/relationships/image" Target="../media/image1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1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1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23.png"/><Relationship Id="rId4" Type="http://schemas.openxmlformats.org/officeDocument/2006/relationships/image" Target="../media/image2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3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3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2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3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3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3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Agent Planning Ability</a:t>
            </a:r>
            <a:endParaRPr/>
          </a:p>
        </p:txBody>
      </p:sp>
      <p:sp>
        <p:nvSpPr>
          <p:cNvPr id="57" name="Google Shape;57;p13"/>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Tianjiao Yu, </a:t>
            </a:r>
            <a:r>
              <a:rPr lang="en"/>
              <a:t>Siddarth Madala, Risham Sidhu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Agenda</a:t>
            </a:r>
            <a:endParaRPr/>
          </a:p>
        </p:txBody>
      </p:sp>
      <p:sp>
        <p:nvSpPr>
          <p:cNvPr id="63" name="Google Shape;63;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Char char="●"/>
            </a:pPr>
            <a:r>
              <a:rPr lang="en" sz="2200"/>
              <a:t>LLM+P: Empowering Large Language Models with Optimal Planning Proficiency (Required)</a:t>
            </a:r>
            <a:endParaRPr sz="2200"/>
          </a:p>
          <a:p>
            <a:pPr indent="-368300" lvl="0" marL="457200" rtl="0" algn="l">
              <a:spcBef>
                <a:spcPts val="0"/>
              </a:spcBef>
              <a:spcAft>
                <a:spcPts val="0"/>
              </a:spcAft>
              <a:buSzPts val="2200"/>
              <a:buChar char="●"/>
            </a:pPr>
            <a:r>
              <a:rPr lang="en" sz="2200"/>
              <a:t>AutoGPT+P: Affordance-based Task Planning using Large Language Models</a:t>
            </a:r>
            <a:endParaRPr sz="2200"/>
          </a:p>
          <a:p>
            <a:pPr indent="-368300" lvl="0" marL="457200" rtl="0" algn="l">
              <a:spcBef>
                <a:spcPts val="0"/>
              </a:spcBef>
              <a:spcAft>
                <a:spcPts val="0"/>
              </a:spcAft>
              <a:buSzPts val="2200"/>
              <a:buChar char="●"/>
            </a:pPr>
            <a:r>
              <a:rPr lang="en" sz="2200"/>
              <a:t>Language Agent Tree Search Unifies Reasoning Acting and Planning in Language Models (Required)</a:t>
            </a:r>
            <a:endParaRPr sz="2200"/>
          </a:p>
          <a:p>
            <a:pPr indent="-368300" lvl="0" marL="457200" rtl="0" algn="l">
              <a:spcBef>
                <a:spcPts val="0"/>
              </a:spcBef>
              <a:spcAft>
                <a:spcPts val="0"/>
              </a:spcAft>
              <a:buSzPts val="2200"/>
              <a:buChar char="●"/>
            </a:pPr>
            <a:r>
              <a:rPr lang="en" sz="2200"/>
              <a:t>TravelPlanner: A Benchmark for Real-World Planning with Language Agents</a:t>
            </a:r>
            <a:endParaRPr sz="2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200"/>
              <a:t>LLM+P: Empowering Large Language Models with Optimal Planning Proficiency</a:t>
            </a:r>
            <a:endParaRPr sz="3200"/>
          </a:p>
        </p:txBody>
      </p:sp>
      <p:sp>
        <p:nvSpPr>
          <p:cNvPr id="69" name="Google Shape;69;p15"/>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fontScale="62500" lnSpcReduction="20000"/>
          </a:bodyPr>
          <a:lstStyle/>
          <a:p>
            <a:pPr indent="0" lvl="0" marL="0" rtl="0" algn="ctr">
              <a:spcBef>
                <a:spcPts val="0"/>
              </a:spcBef>
              <a:spcAft>
                <a:spcPts val="0"/>
              </a:spcAft>
              <a:buNone/>
            </a:pPr>
            <a:r>
              <a:rPr lang="en"/>
              <a:t>Bo Liu, Yuqian Jiang, Xiaohan Zhang, Qiang Liu, Shiqi Zhang, Joydeep Biswas, Peter Stone</a:t>
            </a:r>
            <a:endParaRPr/>
          </a:p>
          <a:p>
            <a:pPr indent="0" lvl="0" marL="0" rtl="0" algn="ctr">
              <a:spcBef>
                <a:spcPts val="0"/>
              </a:spcBef>
              <a:spcAft>
                <a:spcPts val="0"/>
              </a:spcAft>
              <a:buNone/>
            </a:pPr>
            <a:r>
              <a:t/>
            </a:r>
            <a:endParaRPr/>
          </a:p>
          <a:p>
            <a:pPr indent="0" lvl="0" marL="3657600" rtl="0" algn="l">
              <a:spcBef>
                <a:spcPts val="0"/>
              </a:spcBef>
              <a:spcAft>
                <a:spcPts val="0"/>
              </a:spcAft>
              <a:buNone/>
            </a:pPr>
            <a:r>
              <a:rPr i="1" lang="en"/>
              <a:t>      </a:t>
            </a:r>
            <a:r>
              <a:rPr i="1" lang="en"/>
              <a:t>2023</a:t>
            </a:r>
            <a:endParaRPr i="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LLM+P </a:t>
            </a:r>
            <a:r>
              <a:rPr lang="en"/>
              <a:t>Intro &amp; Background</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It has always been easy to generate prompts that expose Model’s lack of true “understanding”</a:t>
            </a:r>
            <a:endParaRPr sz="2200"/>
          </a:p>
          <a:p>
            <a:pPr indent="-368300" lvl="0" marL="457200" rtl="0" algn="l">
              <a:spcBef>
                <a:spcPts val="1200"/>
              </a:spcBef>
              <a:spcAft>
                <a:spcPts val="0"/>
              </a:spcAft>
              <a:buSzPts val="2200"/>
              <a:buChar char="-"/>
            </a:pPr>
            <a:r>
              <a:rPr lang="en" sz="2200"/>
              <a:t>Trained to generate sequences of words that might be </a:t>
            </a:r>
            <a:r>
              <a:rPr lang="en" sz="2200"/>
              <a:t>plausible. Not to demonstrate understanding.</a:t>
            </a:r>
            <a:endParaRPr sz="2200"/>
          </a:p>
          <a:p>
            <a:pPr indent="-368300" lvl="0" marL="457200" rtl="0" algn="l">
              <a:spcBef>
                <a:spcPts val="0"/>
              </a:spcBef>
              <a:spcAft>
                <a:spcPts val="0"/>
              </a:spcAft>
              <a:buSzPts val="2200"/>
              <a:buChar char="-"/>
            </a:pPr>
            <a:r>
              <a:rPr lang="en" sz="2200"/>
              <a:t>The</a:t>
            </a:r>
            <a:r>
              <a:rPr lang="en" sz="2200"/>
              <a:t> internet is awash with 5-year-old </a:t>
            </a:r>
            <a:r>
              <a:rPr lang="en" sz="2200"/>
              <a:t>examples</a:t>
            </a:r>
            <a:r>
              <a:rPr lang="en" sz="2200"/>
              <a:t> that ChatGPT fails to solve.</a:t>
            </a:r>
            <a:endParaRPr sz="2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LLM+P Intro &amp; Background</a:t>
            </a:r>
            <a:endParaRPr/>
          </a:p>
        </p:txBody>
      </p:sp>
      <p:pic>
        <p:nvPicPr>
          <p:cNvPr id="81" name="Google Shape;81;p17"/>
          <p:cNvPicPr preferRelativeResize="0"/>
          <p:nvPr/>
        </p:nvPicPr>
        <p:blipFill>
          <a:blip r:embed="rId3">
            <a:alphaModFix/>
          </a:blip>
          <a:stretch>
            <a:fillRect/>
          </a:stretch>
        </p:blipFill>
        <p:spPr>
          <a:xfrm>
            <a:off x="706575" y="1138075"/>
            <a:ext cx="3865424" cy="3849340"/>
          </a:xfrm>
          <a:prstGeom prst="rect">
            <a:avLst/>
          </a:prstGeom>
          <a:noFill/>
          <a:ln>
            <a:noFill/>
          </a:ln>
        </p:spPr>
      </p:pic>
      <p:sp>
        <p:nvSpPr>
          <p:cNvPr id="82" name="Google Shape;82;p17"/>
          <p:cNvSpPr/>
          <p:nvPr/>
        </p:nvSpPr>
        <p:spPr>
          <a:xfrm>
            <a:off x="6548775" y="3827500"/>
            <a:ext cx="982200" cy="506100"/>
          </a:xfrm>
          <a:prstGeom prst="roundRect">
            <a:avLst>
              <a:gd fmla="val 16667" name="adj"/>
            </a:avLst>
          </a:prstGeom>
          <a:solidFill>
            <a:srgbClr val="00919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roxima Nova"/>
                <a:ea typeface="Proxima Nova"/>
                <a:cs typeface="Proxima Nova"/>
                <a:sym typeface="Proxima Nova"/>
              </a:rPr>
              <a:t>b5</a:t>
            </a:r>
            <a:endParaRPr>
              <a:latin typeface="Proxima Nova"/>
              <a:ea typeface="Proxima Nova"/>
              <a:cs typeface="Proxima Nova"/>
              <a:sym typeface="Proxima Nova"/>
            </a:endParaRPr>
          </a:p>
        </p:txBody>
      </p:sp>
      <p:sp>
        <p:nvSpPr>
          <p:cNvPr id="83" name="Google Shape;83;p17"/>
          <p:cNvSpPr/>
          <p:nvPr/>
        </p:nvSpPr>
        <p:spPr>
          <a:xfrm>
            <a:off x="6079625" y="3321400"/>
            <a:ext cx="982200" cy="5061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roxima Nova"/>
                <a:ea typeface="Proxima Nova"/>
                <a:cs typeface="Proxima Nova"/>
                <a:sym typeface="Proxima Nova"/>
              </a:rPr>
              <a:t>b3</a:t>
            </a:r>
            <a:endParaRPr>
              <a:latin typeface="Proxima Nova"/>
              <a:ea typeface="Proxima Nova"/>
              <a:cs typeface="Proxima Nova"/>
              <a:sym typeface="Proxima Nova"/>
            </a:endParaRPr>
          </a:p>
        </p:txBody>
      </p:sp>
      <p:sp>
        <p:nvSpPr>
          <p:cNvPr id="84" name="Google Shape;84;p17"/>
          <p:cNvSpPr/>
          <p:nvPr/>
        </p:nvSpPr>
        <p:spPr>
          <a:xfrm>
            <a:off x="7061825" y="2309200"/>
            <a:ext cx="982200" cy="506100"/>
          </a:xfrm>
          <a:prstGeom prst="roundRect">
            <a:avLst>
              <a:gd fmla="val 16667" name="adj"/>
            </a:avLst>
          </a:prstGeom>
          <a:solidFill>
            <a:srgbClr val="77D6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roxima Nova"/>
                <a:ea typeface="Proxima Nova"/>
                <a:cs typeface="Proxima Nova"/>
                <a:sym typeface="Proxima Nova"/>
              </a:rPr>
              <a:t>b4</a:t>
            </a:r>
            <a:endParaRPr>
              <a:latin typeface="Proxima Nova"/>
              <a:ea typeface="Proxima Nova"/>
              <a:cs typeface="Proxima Nova"/>
              <a:sym typeface="Proxima Nova"/>
            </a:endParaRPr>
          </a:p>
        </p:txBody>
      </p:sp>
      <p:sp>
        <p:nvSpPr>
          <p:cNvPr id="85" name="Google Shape;85;p17"/>
          <p:cNvSpPr/>
          <p:nvPr/>
        </p:nvSpPr>
        <p:spPr>
          <a:xfrm>
            <a:off x="7061825" y="3321400"/>
            <a:ext cx="982200" cy="506100"/>
          </a:xfrm>
          <a:prstGeom prst="roundRect">
            <a:avLst>
              <a:gd fmla="val 16667" name="adj"/>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roxima Nova"/>
                <a:ea typeface="Proxima Nova"/>
                <a:cs typeface="Proxima Nova"/>
                <a:sym typeface="Proxima Nova"/>
              </a:rPr>
              <a:t>b2</a:t>
            </a:r>
            <a:endParaRPr>
              <a:latin typeface="Proxima Nova"/>
              <a:ea typeface="Proxima Nova"/>
              <a:cs typeface="Proxima Nova"/>
              <a:sym typeface="Proxima Nova"/>
            </a:endParaRPr>
          </a:p>
        </p:txBody>
      </p:sp>
      <p:sp>
        <p:nvSpPr>
          <p:cNvPr id="86" name="Google Shape;86;p17"/>
          <p:cNvSpPr/>
          <p:nvPr/>
        </p:nvSpPr>
        <p:spPr>
          <a:xfrm>
            <a:off x="7061825" y="2815300"/>
            <a:ext cx="982200" cy="5061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roxima Nova"/>
                <a:ea typeface="Proxima Nova"/>
                <a:cs typeface="Proxima Nova"/>
                <a:sym typeface="Proxima Nova"/>
              </a:rPr>
              <a:t>b1</a:t>
            </a:r>
            <a:endParaRPr>
              <a:latin typeface="Proxima Nova"/>
              <a:ea typeface="Proxima Nova"/>
              <a:cs typeface="Proxima Nova"/>
              <a:sym typeface="Proxima Nov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LLM+P </a:t>
            </a:r>
            <a:r>
              <a:rPr lang="en"/>
              <a:t>Intro &amp; Background</a:t>
            </a:r>
            <a:endParaRPr/>
          </a:p>
        </p:txBody>
      </p:sp>
      <p:sp>
        <p:nvSpPr>
          <p:cNvPr id="92" name="Google Shape;92;p18"/>
          <p:cNvSpPr txBox="1"/>
          <p:nvPr>
            <p:ph idx="1" type="body"/>
          </p:nvPr>
        </p:nvSpPr>
        <p:spPr>
          <a:xfrm>
            <a:off x="311700" y="1152475"/>
            <a:ext cx="8520600" cy="372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The answer is </a:t>
            </a:r>
            <a:r>
              <a:rPr b="1" lang="en"/>
              <a:t>wrong</a:t>
            </a:r>
            <a:r>
              <a:rPr lang="en"/>
              <a:t>. It </a:t>
            </a:r>
            <a:r>
              <a:rPr lang="en"/>
              <a:t>should</a:t>
            </a:r>
            <a:r>
              <a:rPr lang="en"/>
              <a:t> be $660.44</a:t>
            </a:r>
            <a:endParaRPr/>
          </a:p>
        </p:txBody>
      </p:sp>
      <p:pic>
        <p:nvPicPr>
          <p:cNvPr id="93" name="Google Shape;93;p18"/>
          <p:cNvPicPr preferRelativeResize="0"/>
          <p:nvPr/>
        </p:nvPicPr>
        <p:blipFill>
          <a:blip r:embed="rId3">
            <a:alphaModFix/>
          </a:blip>
          <a:stretch>
            <a:fillRect/>
          </a:stretch>
        </p:blipFill>
        <p:spPr>
          <a:xfrm>
            <a:off x="608063" y="1504125"/>
            <a:ext cx="7927876" cy="21352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LLM+P </a:t>
            </a:r>
            <a:r>
              <a:rPr lang="en"/>
              <a:t>Intro &amp; Background</a:t>
            </a:r>
            <a:endParaRPr/>
          </a:p>
        </p:txBody>
      </p:sp>
      <p:sp>
        <p:nvSpPr>
          <p:cNvPr id="99" name="Google Shape;99;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Proficient at </a:t>
            </a:r>
            <a:r>
              <a:rPr lang="en"/>
              <a:t>linguistic competence, but not at functional competence.</a:t>
            </a:r>
            <a:endParaRPr/>
          </a:p>
          <a:p>
            <a:pPr indent="0" lvl="0" marL="0" rtl="0" algn="l">
              <a:spcBef>
                <a:spcPts val="1200"/>
              </a:spcBef>
              <a:spcAft>
                <a:spcPts val="0"/>
              </a:spcAft>
              <a:buNone/>
            </a:pPr>
            <a:r>
              <a:rPr lang="en"/>
              <a:t>Good at </a:t>
            </a:r>
            <a:r>
              <a:rPr b="1" lang="en"/>
              <a:t>how </a:t>
            </a:r>
            <a:r>
              <a:rPr lang="en"/>
              <a:t>to say things, but not as good at </a:t>
            </a:r>
            <a:r>
              <a:rPr b="1" lang="en"/>
              <a:t>what</a:t>
            </a:r>
            <a:r>
              <a:rPr lang="en"/>
              <a:t> to say.</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**Does this mean we should include all arithmetic and planning problems in the training corpus?  Why should it be necessary?</a:t>
            </a:r>
            <a:endParaRPr/>
          </a:p>
          <a:p>
            <a:pPr indent="0" lvl="0" marL="0" rtl="0" algn="l">
              <a:spcBef>
                <a:spcPts val="1200"/>
              </a:spcBef>
              <a:spcAft>
                <a:spcPts val="1200"/>
              </a:spcAft>
              <a:buNone/>
            </a:pPr>
            <a:r>
              <a:rPr lang="en"/>
              <a:t>We already have calculators and symbolic planners, we should connect llm with these tools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LLM+P Method</a:t>
            </a:r>
            <a:endParaRPr/>
          </a:p>
        </p:txBody>
      </p:sp>
      <p:sp>
        <p:nvSpPr>
          <p:cNvPr id="105" name="Google Shape;105;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the paper introduce a </a:t>
            </a:r>
            <a:r>
              <a:rPr i="1" lang="en" sz="2200"/>
              <a:t>methodology that </a:t>
            </a:r>
            <a:r>
              <a:rPr lang="en" sz="2200"/>
              <a:t>makes no changes to the LLM</a:t>
            </a:r>
            <a:r>
              <a:rPr i="1" lang="en" sz="2200"/>
              <a:t>, </a:t>
            </a:r>
            <a:r>
              <a:rPr b="1" i="1" lang="en" sz="2200"/>
              <a:t>LLM+P:</a:t>
            </a:r>
            <a:endParaRPr b="1" i="1" sz="2200"/>
          </a:p>
          <a:p>
            <a:pPr indent="-368300" lvl="0" marL="457200" rtl="0" algn="l">
              <a:spcBef>
                <a:spcPts val="1200"/>
              </a:spcBef>
              <a:spcAft>
                <a:spcPts val="0"/>
              </a:spcAft>
              <a:buSzPts val="2200"/>
              <a:buChar char="-"/>
            </a:pPr>
            <a:r>
              <a:rPr lang="en" sz="2200"/>
              <a:t>Outputs a problem description suitable as input to a general purpose planner (PDDL);</a:t>
            </a:r>
            <a:endParaRPr sz="2200"/>
          </a:p>
          <a:p>
            <a:pPr indent="-368300" lvl="0" marL="457200" rtl="0" algn="l">
              <a:spcBef>
                <a:spcPts val="0"/>
              </a:spcBef>
              <a:spcAft>
                <a:spcPts val="0"/>
              </a:spcAft>
              <a:buSzPts val="2200"/>
              <a:buChar char="-"/>
            </a:pPr>
            <a:r>
              <a:rPr lang="en" sz="2200"/>
              <a:t>Solves the problem using the general-purpose planner;</a:t>
            </a:r>
            <a:endParaRPr sz="2200"/>
          </a:p>
          <a:p>
            <a:pPr indent="-368300" lvl="0" marL="457200" rtl="0" algn="l">
              <a:spcBef>
                <a:spcPts val="0"/>
              </a:spcBef>
              <a:spcAft>
                <a:spcPts val="0"/>
              </a:spcAft>
              <a:buSzPts val="2200"/>
              <a:buChar char="-"/>
            </a:pPr>
            <a:r>
              <a:rPr lang="en" sz="2200"/>
              <a:t>Converts the output of the planner back to natural language (or connects to action executors of a robot).</a:t>
            </a:r>
            <a:endParaRPr sz="2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LLM+P Method</a:t>
            </a:r>
            <a:endParaRPr/>
          </a:p>
        </p:txBody>
      </p:sp>
      <p:pic>
        <p:nvPicPr>
          <p:cNvPr id="111" name="Google Shape;111;p21"/>
          <p:cNvPicPr preferRelativeResize="0"/>
          <p:nvPr/>
        </p:nvPicPr>
        <p:blipFill>
          <a:blip r:embed="rId3">
            <a:alphaModFix/>
          </a:blip>
          <a:stretch>
            <a:fillRect/>
          </a:stretch>
        </p:blipFill>
        <p:spPr>
          <a:xfrm>
            <a:off x="1652738" y="1152475"/>
            <a:ext cx="5838524" cy="37147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LLM+P Method</a:t>
            </a:r>
            <a:endParaRPr/>
          </a:p>
        </p:txBody>
      </p:sp>
      <p:pic>
        <p:nvPicPr>
          <p:cNvPr id="117" name="Google Shape;117;p22"/>
          <p:cNvPicPr preferRelativeResize="0"/>
          <p:nvPr/>
        </p:nvPicPr>
        <p:blipFill>
          <a:blip r:embed="rId3">
            <a:alphaModFix/>
          </a:blip>
          <a:stretch>
            <a:fillRect/>
          </a:stretch>
        </p:blipFill>
        <p:spPr>
          <a:xfrm>
            <a:off x="1082056" y="1263827"/>
            <a:ext cx="6979893" cy="3416401"/>
          </a:xfrm>
          <a:prstGeom prst="rect">
            <a:avLst/>
          </a:prstGeom>
          <a:noFill/>
          <a:ln>
            <a:noFill/>
          </a:ln>
        </p:spPr>
      </p:pic>
      <p:sp>
        <p:nvSpPr>
          <p:cNvPr id="118" name="Google Shape;118;p22"/>
          <p:cNvSpPr txBox="1"/>
          <p:nvPr/>
        </p:nvSpPr>
        <p:spPr>
          <a:xfrm>
            <a:off x="129350" y="4786025"/>
            <a:ext cx="6979800" cy="29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hlink"/>
                </a:solidFill>
                <a:latin typeface="Proxima Nova"/>
                <a:ea typeface="Proxima Nova"/>
                <a:cs typeface="Proxima Nova"/>
                <a:sym typeface="Proxima Nova"/>
                <a:hlinkClick r:id="rId4"/>
              </a:rPr>
              <a:t>https://www.cs.toronto.edu/~sheila/2542/s14/A1/introtopddl2.pdf</a:t>
            </a:r>
            <a:endParaRPr sz="1200">
              <a:solidFill>
                <a:schemeClr val="dk2"/>
              </a:solidFill>
              <a:latin typeface="Proxima Nova"/>
              <a:ea typeface="Proxima Nova"/>
              <a:cs typeface="Proxima Nova"/>
              <a:sym typeface="Proxima Nov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LLM+P Method</a:t>
            </a:r>
            <a:endParaRPr/>
          </a:p>
        </p:txBody>
      </p:sp>
      <p:sp>
        <p:nvSpPr>
          <p:cNvPr id="124" name="Google Shape;124;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Formally, the input of a planning problem P is defined by a tuple &lt;S ,s</a:t>
            </a:r>
            <a:r>
              <a:rPr baseline="30000" lang="en" sz="2000"/>
              <a:t>init</a:t>
            </a:r>
            <a:r>
              <a:rPr lang="en" sz="2000"/>
              <a:t> ,S</a:t>
            </a:r>
            <a:r>
              <a:rPr baseline="30000" lang="en" sz="2000"/>
              <a:t>G</a:t>
            </a:r>
            <a:r>
              <a:rPr lang="en" sz="2000"/>
              <a:t>, A , f⟩:</a:t>
            </a:r>
            <a:endParaRPr sz="2000"/>
          </a:p>
          <a:p>
            <a:pPr indent="-355600" lvl="0" marL="457200" rtl="0" algn="l">
              <a:spcBef>
                <a:spcPts val="1200"/>
              </a:spcBef>
              <a:spcAft>
                <a:spcPts val="0"/>
              </a:spcAft>
              <a:buSzPts val="2000"/>
              <a:buChar char="-"/>
            </a:pPr>
            <a:r>
              <a:rPr lang="en" sz="2000"/>
              <a:t>S is a finite and discrete set of states used to describe the world’s state. </a:t>
            </a:r>
            <a:endParaRPr sz="2000"/>
          </a:p>
          <a:p>
            <a:pPr indent="-355600" lvl="0" marL="457200" rtl="0" algn="l">
              <a:spcBef>
                <a:spcPts val="0"/>
              </a:spcBef>
              <a:spcAft>
                <a:spcPts val="0"/>
              </a:spcAft>
              <a:buSzPts val="2000"/>
              <a:buChar char="-"/>
            </a:pPr>
            <a:r>
              <a:rPr lang="en" sz="2000"/>
              <a:t>s</a:t>
            </a:r>
            <a:r>
              <a:rPr baseline="30000" lang="en" sz="2000"/>
              <a:t>init</a:t>
            </a:r>
            <a:r>
              <a:rPr lang="en" sz="2000"/>
              <a:t> ∈ S  is an initial world state.</a:t>
            </a:r>
            <a:endParaRPr sz="2000"/>
          </a:p>
          <a:p>
            <a:pPr indent="-355600" lvl="0" marL="457200" rtl="0" algn="l">
              <a:spcBef>
                <a:spcPts val="0"/>
              </a:spcBef>
              <a:spcAft>
                <a:spcPts val="0"/>
              </a:spcAft>
              <a:buSzPts val="2000"/>
              <a:buChar char="-"/>
            </a:pPr>
            <a:r>
              <a:rPr lang="en" sz="2000"/>
              <a:t>S</a:t>
            </a:r>
            <a:r>
              <a:rPr baseline="30000" lang="en" sz="2000"/>
              <a:t>G </a:t>
            </a:r>
            <a:r>
              <a:rPr lang="en" sz="2000"/>
              <a:t>is a set of goal states.</a:t>
            </a:r>
            <a:endParaRPr sz="2000"/>
          </a:p>
          <a:p>
            <a:pPr indent="-355600" lvl="0" marL="457200" rtl="0" algn="l">
              <a:spcBef>
                <a:spcPts val="0"/>
              </a:spcBef>
              <a:spcAft>
                <a:spcPts val="0"/>
              </a:spcAft>
              <a:buSzPts val="2000"/>
              <a:buChar char="-"/>
            </a:pPr>
            <a:r>
              <a:rPr lang="en" sz="2000"/>
              <a:t>A is a set of symbolic actions.</a:t>
            </a:r>
            <a:endParaRPr sz="2000"/>
          </a:p>
          <a:p>
            <a:pPr indent="-355600" lvl="0" marL="457200" rtl="0" algn="l">
              <a:spcBef>
                <a:spcPts val="0"/>
              </a:spcBef>
              <a:spcAft>
                <a:spcPts val="0"/>
              </a:spcAft>
              <a:buSzPts val="2000"/>
              <a:buChar char="-"/>
            </a:pPr>
            <a:r>
              <a:rPr lang="en" sz="2000"/>
              <a:t>F is the underlying state transition function. F takes the current state and an action as input and outputs the corresponding next state.</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LLM+P Method</a:t>
            </a:r>
            <a:endParaRPr/>
          </a:p>
        </p:txBody>
      </p:sp>
      <p:sp>
        <p:nvSpPr>
          <p:cNvPr id="130" name="Google Shape;130;p24"/>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a:t>
            </a:r>
            <a:r>
              <a:rPr lang="en"/>
              <a:t>e-writing planning prompts in the PDDL format</a:t>
            </a:r>
            <a:endParaRPr/>
          </a:p>
          <a:p>
            <a:pPr indent="-342900" lvl="0" marL="457200" rtl="0" algn="l">
              <a:spcBef>
                <a:spcPts val="1200"/>
              </a:spcBef>
              <a:spcAft>
                <a:spcPts val="0"/>
              </a:spcAft>
              <a:buSzPts val="1800"/>
              <a:buChar char="-"/>
            </a:pPr>
            <a:r>
              <a:rPr lang="en"/>
              <a:t>This is essentially a machine translation task.</a:t>
            </a:r>
            <a:endParaRPr/>
          </a:p>
          <a:p>
            <a:pPr indent="-342900" lvl="0" marL="457200" rtl="0" algn="l">
              <a:spcBef>
                <a:spcPts val="0"/>
              </a:spcBef>
              <a:spcAft>
                <a:spcPts val="0"/>
              </a:spcAft>
              <a:buSzPts val="1800"/>
              <a:buChar char="-"/>
            </a:pPr>
            <a:r>
              <a:rPr lang="en"/>
              <a:t>And LLMs are good at </a:t>
            </a:r>
            <a:r>
              <a:rPr lang="en"/>
              <a:t>describing</a:t>
            </a:r>
            <a:r>
              <a:rPr lang="en"/>
              <a:t> and translating.</a:t>
            </a:r>
            <a:endParaRPr/>
          </a:p>
          <a:p>
            <a:pPr indent="-342900" lvl="0" marL="457200" rtl="0" algn="l">
              <a:spcBef>
                <a:spcPts val="0"/>
              </a:spcBef>
              <a:spcAft>
                <a:spcPts val="0"/>
              </a:spcAft>
              <a:buSzPts val="1800"/>
              <a:buChar char="-"/>
            </a:pPr>
            <a:r>
              <a:rPr lang="en"/>
              <a:t>However, the zero-shot example:</a:t>
            </a:r>
            <a:endParaRPr/>
          </a:p>
          <a:p>
            <a:pPr indent="-317500" lvl="1" marL="914400" rtl="0" algn="l">
              <a:spcBef>
                <a:spcPts val="0"/>
              </a:spcBef>
              <a:spcAft>
                <a:spcPts val="0"/>
              </a:spcAft>
              <a:buSzPts val="1400"/>
              <a:buChar char="-"/>
            </a:pPr>
            <a:r>
              <a:rPr lang="en"/>
              <a:t>Missed the  “B1 is on the table”</a:t>
            </a:r>
            <a:endParaRPr/>
          </a:p>
          <a:p>
            <a:pPr indent="-317500" lvl="1" marL="914400" rtl="0" algn="l">
              <a:spcBef>
                <a:spcPts val="0"/>
              </a:spcBef>
              <a:spcAft>
                <a:spcPts val="0"/>
              </a:spcAft>
              <a:buSzPts val="1400"/>
              <a:buChar char="-"/>
            </a:pPr>
            <a:r>
              <a:rPr lang="en"/>
              <a:t>Made up Predicate “empty” </a:t>
            </a:r>
            <a:endParaRPr/>
          </a:p>
        </p:txBody>
      </p:sp>
      <p:pic>
        <p:nvPicPr>
          <p:cNvPr id="131" name="Google Shape;131;p24"/>
          <p:cNvPicPr preferRelativeResize="0"/>
          <p:nvPr/>
        </p:nvPicPr>
        <p:blipFill>
          <a:blip r:embed="rId3">
            <a:alphaModFix/>
          </a:blip>
          <a:stretch>
            <a:fillRect/>
          </a:stretch>
        </p:blipFill>
        <p:spPr>
          <a:xfrm>
            <a:off x="4724400" y="1170125"/>
            <a:ext cx="4267202" cy="288694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LLM+P Method </a:t>
            </a:r>
            <a:endParaRPr/>
          </a:p>
        </p:txBody>
      </p:sp>
      <p:pic>
        <p:nvPicPr>
          <p:cNvPr id="137" name="Google Shape;137;p25"/>
          <p:cNvPicPr preferRelativeResize="0"/>
          <p:nvPr/>
        </p:nvPicPr>
        <p:blipFill>
          <a:blip r:embed="rId3">
            <a:alphaModFix/>
          </a:blip>
          <a:stretch>
            <a:fillRect/>
          </a:stretch>
        </p:blipFill>
        <p:spPr>
          <a:xfrm>
            <a:off x="311700" y="1152463"/>
            <a:ext cx="3999625" cy="3569574"/>
          </a:xfrm>
          <a:prstGeom prst="rect">
            <a:avLst/>
          </a:prstGeom>
          <a:noFill/>
          <a:ln>
            <a:noFill/>
          </a:ln>
        </p:spPr>
      </p:pic>
      <p:pic>
        <p:nvPicPr>
          <p:cNvPr id="138" name="Google Shape;138;p25"/>
          <p:cNvPicPr preferRelativeResize="0"/>
          <p:nvPr/>
        </p:nvPicPr>
        <p:blipFill>
          <a:blip r:embed="rId4">
            <a:alphaModFix/>
          </a:blip>
          <a:stretch>
            <a:fillRect/>
          </a:stretch>
        </p:blipFill>
        <p:spPr>
          <a:xfrm>
            <a:off x="4925375" y="1489188"/>
            <a:ext cx="3639550" cy="32328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LLM+P Method</a:t>
            </a:r>
            <a:endParaRPr/>
          </a:p>
        </p:txBody>
      </p:sp>
      <p:sp>
        <p:nvSpPr>
          <p:cNvPr id="144" name="Google Shape;144;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Assumptions made for LLM+P:</a:t>
            </a:r>
            <a:endParaRPr sz="2200"/>
          </a:p>
          <a:p>
            <a:pPr indent="-368300" lvl="0" marL="457200" rtl="0" algn="l">
              <a:spcBef>
                <a:spcPts val="1200"/>
              </a:spcBef>
              <a:spcAft>
                <a:spcPts val="0"/>
              </a:spcAft>
              <a:buSzPts val="2200"/>
              <a:buChar char="-"/>
            </a:pPr>
            <a:r>
              <a:rPr lang="en" sz="2200"/>
              <a:t>The model knows when to trigger LLM+P based on its conversation with a user</a:t>
            </a:r>
            <a:endParaRPr sz="2200"/>
          </a:p>
          <a:p>
            <a:pPr indent="-368300" lvl="0" marL="457200" rtl="0" algn="l">
              <a:spcBef>
                <a:spcPts val="0"/>
              </a:spcBef>
              <a:spcAft>
                <a:spcPts val="0"/>
              </a:spcAft>
              <a:buSzPts val="2200"/>
              <a:buChar char="-"/>
            </a:pPr>
            <a:r>
              <a:rPr lang="en" sz="2200"/>
              <a:t>A domain PDDL is provided.  Actions, </a:t>
            </a:r>
            <a:r>
              <a:rPr lang="en" sz="2200"/>
              <a:t>predicates</a:t>
            </a:r>
            <a:r>
              <a:rPr lang="en" sz="2200"/>
              <a:t> need to be predefined. </a:t>
            </a:r>
            <a:endParaRPr sz="2200"/>
          </a:p>
          <a:p>
            <a:pPr indent="-368300" lvl="0" marL="457200" rtl="0" algn="l">
              <a:spcBef>
                <a:spcPts val="0"/>
              </a:spcBef>
              <a:spcAft>
                <a:spcPts val="0"/>
              </a:spcAft>
              <a:buSzPts val="2200"/>
              <a:buChar char="-"/>
            </a:pPr>
            <a:r>
              <a:rPr lang="en" sz="2200"/>
              <a:t>Problem description in natural </a:t>
            </a:r>
            <a:r>
              <a:rPr lang="en" sz="2200"/>
              <a:t>language and its corresponding problem PDDL file are also provided.</a:t>
            </a:r>
            <a:endParaRPr sz="2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LLM+P Method</a:t>
            </a:r>
            <a:endParaRPr/>
          </a:p>
        </p:txBody>
      </p:sp>
      <p:sp>
        <p:nvSpPr>
          <p:cNvPr id="150" name="Google Shape;150;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Novelty:</a:t>
            </a:r>
            <a:endParaRPr sz="2200"/>
          </a:p>
          <a:p>
            <a:pPr indent="-368300" lvl="0" marL="457200" rtl="0" algn="l">
              <a:spcBef>
                <a:spcPts val="1200"/>
              </a:spcBef>
              <a:spcAft>
                <a:spcPts val="0"/>
              </a:spcAft>
              <a:buSzPts val="2200"/>
              <a:buChar char="-"/>
            </a:pPr>
            <a:r>
              <a:rPr lang="en" sz="2200"/>
              <a:t> Previous classical planning systems need domain-specific programming languages</a:t>
            </a:r>
            <a:endParaRPr sz="2200"/>
          </a:p>
          <a:p>
            <a:pPr indent="-368300" lvl="0" marL="457200" rtl="0" algn="l">
              <a:spcBef>
                <a:spcPts val="0"/>
              </a:spcBef>
              <a:spcAft>
                <a:spcPts val="0"/>
              </a:spcAft>
              <a:buSzPts val="2200"/>
              <a:buChar char="-"/>
            </a:pPr>
            <a:r>
              <a:rPr lang="en" sz="2200"/>
              <a:t>LLM+P take advantage of both the LLM and the planner</a:t>
            </a:r>
            <a:endParaRPr sz="2200"/>
          </a:p>
          <a:p>
            <a:pPr indent="-355600" lvl="1" marL="914400" rtl="0" algn="l">
              <a:spcBef>
                <a:spcPts val="0"/>
              </a:spcBef>
              <a:spcAft>
                <a:spcPts val="0"/>
              </a:spcAft>
              <a:buSzPts val="2000"/>
              <a:buChar char="-"/>
            </a:pPr>
            <a:r>
              <a:rPr lang="en" sz="2000"/>
              <a:t>Previous works using LLMs directly as planners </a:t>
            </a:r>
            <a:r>
              <a:rPr lang="en" sz="2000"/>
              <a:t>either l</a:t>
            </a:r>
            <a:r>
              <a:rPr lang="en" sz="2000"/>
              <a:t>ack long-horizon reasoning ability or r</a:t>
            </a:r>
            <a:r>
              <a:rPr lang="en" sz="2000"/>
              <a:t>equire prompting and fine-tuning</a:t>
            </a:r>
            <a:endParaRPr sz="2000"/>
          </a:p>
          <a:p>
            <a:pPr indent="-368300" lvl="0" marL="457200" rtl="0" algn="l">
              <a:spcBef>
                <a:spcPts val="0"/>
              </a:spcBef>
              <a:spcAft>
                <a:spcPts val="0"/>
              </a:spcAft>
              <a:buSzPts val="2200"/>
              <a:buChar char="-"/>
            </a:pPr>
            <a:r>
              <a:rPr lang="en" sz="2200"/>
              <a:t>WebGPT and ToolFormer are similar but this work shows PDDL can be another useful external module.</a:t>
            </a:r>
            <a:endParaRPr sz="2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LLM+P </a:t>
            </a:r>
            <a:r>
              <a:rPr lang="en"/>
              <a:t>Experiment &amp; Results</a:t>
            </a:r>
            <a:endParaRPr/>
          </a:p>
        </p:txBody>
      </p:sp>
      <p:sp>
        <p:nvSpPr>
          <p:cNvPr id="156" name="Google Shape;156;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2200"/>
              <a:t>GPT4 with 0 temperature.</a:t>
            </a:r>
            <a:endParaRPr sz="2200"/>
          </a:p>
          <a:p>
            <a:pPr indent="0" lvl="0" marL="0" rtl="0" algn="l">
              <a:lnSpc>
                <a:spcPct val="105000"/>
              </a:lnSpc>
              <a:spcBef>
                <a:spcPts val="1200"/>
              </a:spcBef>
              <a:spcAft>
                <a:spcPts val="0"/>
              </a:spcAft>
              <a:buNone/>
            </a:pPr>
            <a:r>
              <a:rPr lang="en" sz="2200"/>
              <a:t>7 Planning domains, </a:t>
            </a:r>
            <a:r>
              <a:rPr lang="en" sz="2200"/>
              <a:t>20 automatically generated tasks in each domain:</a:t>
            </a:r>
            <a:endParaRPr sz="2200"/>
          </a:p>
          <a:p>
            <a:pPr indent="-368300" lvl="0" marL="457200" rtl="0" algn="l">
              <a:lnSpc>
                <a:spcPct val="105000"/>
              </a:lnSpc>
              <a:spcBef>
                <a:spcPts val="1200"/>
              </a:spcBef>
              <a:spcAft>
                <a:spcPts val="0"/>
              </a:spcAft>
              <a:buSzPts val="2200"/>
              <a:buChar char="-"/>
            </a:pPr>
            <a:r>
              <a:rPr lang="en" sz="2200"/>
              <a:t>Blockworld</a:t>
            </a:r>
            <a:endParaRPr sz="2200"/>
          </a:p>
          <a:p>
            <a:pPr indent="-368300" lvl="0" marL="457200" rtl="0" algn="l">
              <a:lnSpc>
                <a:spcPct val="105000"/>
              </a:lnSpc>
              <a:spcBef>
                <a:spcPts val="0"/>
              </a:spcBef>
              <a:spcAft>
                <a:spcPts val="0"/>
              </a:spcAft>
              <a:buSzPts val="2200"/>
              <a:buChar char="-"/>
            </a:pPr>
            <a:r>
              <a:rPr lang="en" sz="2200"/>
              <a:t>Floor tile:  use paint color patterns on floor tiles. Robots can move around and change colors but cannot step on painted tiles.</a:t>
            </a:r>
            <a:endParaRPr sz="2200"/>
          </a:p>
          <a:p>
            <a:pPr indent="-368300" lvl="0" marL="457200" rtl="0" algn="l">
              <a:lnSpc>
                <a:spcPct val="105000"/>
              </a:lnSpc>
              <a:spcBef>
                <a:spcPts val="0"/>
              </a:spcBef>
              <a:spcAft>
                <a:spcPts val="0"/>
              </a:spcAft>
              <a:buSzPts val="2200"/>
              <a:buChar char="-"/>
            </a:pPr>
            <a:r>
              <a:rPr lang="en" sz="2200"/>
              <a:t>Tyreworld:  replace flat tires by inflating tires, tightening nut, etc. </a:t>
            </a:r>
            <a:endParaRPr sz="2200"/>
          </a:p>
          <a:p>
            <a:pPr indent="-368300" lvl="0" marL="457200" rtl="0" algn="l">
              <a:lnSpc>
                <a:spcPct val="105000"/>
              </a:lnSpc>
              <a:spcBef>
                <a:spcPts val="0"/>
              </a:spcBef>
              <a:spcAft>
                <a:spcPts val="0"/>
              </a:spcAft>
              <a:buSzPts val="2200"/>
              <a:buChar char="-"/>
            </a:pPr>
            <a:r>
              <a:rPr lang="en" sz="2200"/>
              <a:t>Others.. </a:t>
            </a:r>
            <a:endParaRPr sz="2200"/>
          </a:p>
          <a:p>
            <a:pPr indent="0" lvl="0" marL="0" rtl="0" algn="l">
              <a:lnSpc>
                <a:spcPct val="105000"/>
              </a:lnSpc>
              <a:spcBef>
                <a:spcPts val="1200"/>
              </a:spcBef>
              <a:spcAft>
                <a:spcPts val="0"/>
              </a:spcAft>
              <a:buNone/>
            </a:pPr>
            <a:r>
              <a:t/>
            </a:r>
            <a:endParaRPr sz="2200"/>
          </a:p>
          <a:p>
            <a:pPr indent="0" lvl="0" marL="0" rtl="0" algn="l">
              <a:lnSpc>
                <a:spcPct val="105000"/>
              </a:lnSpc>
              <a:spcBef>
                <a:spcPts val="1200"/>
              </a:spcBef>
              <a:spcAft>
                <a:spcPts val="1200"/>
              </a:spcAft>
              <a:buNone/>
            </a:pPr>
            <a:r>
              <a:t/>
            </a:r>
            <a:endParaRPr sz="22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LLM+P Experiment &amp; Results</a:t>
            </a:r>
            <a:endParaRPr/>
          </a:p>
        </p:txBody>
      </p:sp>
      <p:sp>
        <p:nvSpPr>
          <p:cNvPr id="162" name="Google Shape;162;p29"/>
          <p:cNvSpPr txBox="1"/>
          <p:nvPr>
            <p:ph idx="1" type="body"/>
          </p:nvPr>
        </p:nvSpPr>
        <p:spPr>
          <a:xfrm>
            <a:off x="311700" y="1152475"/>
            <a:ext cx="2966700" cy="3416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200"/>
              <a:t>LLM-AS-P provides a plan in natural language for every problem, most of these plans are not feasible</a:t>
            </a:r>
            <a:endParaRPr sz="2200"/>
          </a:p>
          <a:p>
            <a:pPr indent="0" lvl="0" marL="0" rtl="0" algn="l">
              <a:spcBef>
                <a:spcPts val="1200"/>
              </a:spcBef>
              <a:spcAft>
                <a:spcPts val="1200"/>
              </a:spcAft>
              <a:buNone/>
            </a:pPr>
            <a:r>
              <a:t/>
            </a:r>
            <a:endParaRPr sz="2200"/>
          </a:p>
        </p:txBody>
      </p:sp>
      <p:pic>
        <p:nvPicPr>
          <p:cNvPr id="163" name="Google Shape;163;p29"/>
          <p:cNvPicPr preferRelativeResize="0"/>
          <p:nvPr/>
        </p:nvPicPr>
        <p:blipFill>
          <a:blip r:embed="rId3">
            <a:alphaModFix/>
          </a:blip>
          <a:stretch>
            <a:fillRect/>
          </a:stretch>
        </p:blipFill>
        <p:spPr>
          <a:xfrm>
            <a:off x="3278400" y="1517075"/>
            <a:ext cx="5733849" cy="24141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LLM+P Experiment &amp; Results</a:t>
            </a:r>
            <a:endParaRPr/>
          </a:p>
        </p:txBody>
      </p:sp>
      <p:sp>
        <p:nvSpPr>
          <p:cNvPr id="169" name="Google Shape;169;p30"/>
          <p:cNvSpPr txBox="1"/>
          <p:nvPr>
            <p:ph idx="1" type="body"/>
          </p:nvPr>
        </p:nvSpPr>
        <p:spPr>
          <a:xfrm>
            <a:off x="311700" y="1152475"/>
            <a:ext cx="2966700" cy="3416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200"/>
              <a:t>LLM-AS-P fails in the same way with or without the example plan as context.</a:t>
            </a:r>
            <a:endParaRPr sz="2200"/>
          </a:p>
          <a:p>
            <a:pPr indent="0" lvl="0" marL="0" rtl="0" algn="l">
              <a:spcBef>
                <a:spcPts val="1200"/>
              </a:spcBef>
              <a:spcAft>
                <a:spcPts val="1200"/>
              </a:spcAft>
              <a:buNone/>
            </a:pPr>
            <a:r>
              <a:t/>
            </a:r>
            <a:endParaRPr sz="2200"/>
          </a:p>
        </p:txBody>
      </p:sp>
      <p:pic>
        <p:nvPicPr>
          <p:cNvPr id="170" name="Google Shape;170;p30"/>
          <p:cNvPicPr preferRelativeResize="0"/>
          <p:nvPr/>
        </p:nvPicPr>
        <p:blipFill>
          <a:blip r:embed="rId3">
            <a:alphaModFix/>
          </a:blip>
          <a:stretch>
            <a:fillRect/>
          </a:stretch>
        </p:blipFill>
        <p:spPr>
          <a:xfrm>
            <a:off x="3278400" y="1517075"/>
            <a:ext cx="5733849" cy="24141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LLM+P Experiment &amp; Results</a:t>
            </a:r>
            <a:endParaRPr/>
          </a:p>
        </p:txBody>
      </p:sp>
      <p:sp>
        <p:nvSpPr>
          <p:cNvPr id="176" name="Google Shape;176;p31"/>
          <p:cNvSpPr txBox="1"/>
          <p:nvPr>
            <p:ph idx="1" type="body"/>
          </p:nvPr>
        </p:nvSpPr>
        <p:spPr>
          <a:xfrm>
            <a:off x="311700" y="1152475"/>
            <a:ext cx="29667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sz="2200"/>
          </a:p>
          <a:p>
            <a:pPr indent="0" lvl="0" marL="0" rtl="0" algn="l">
              <a:spcBef>
                <a:spcPts val="1200"/>
              </a:spcBef>
              <a:spcAft>
                <a:spcPts val="0"/>
              </a:spcAft>
              <a:buNone/>
            </a:pPr>
            <a:r>
              <a:t/>
            </a:r>
            <a:endParaRPr sz="2200"/>
          </a:p>
          <a:p>
            <a:pPr indent="0" lvl="0" marL="0" rtl="0" algn="l">
              <a:spcBef>
                <a:spcPts val="1200"/>
              </a:spcBef>
              <a:spcAft>
                <a:spcPts val="0"/>
              </a:spcAft>
              <a:buNone/>
            </a:pPr>
            <a:r>
              <a:rPr lang="en" sz="2200"/>
              <a:t>The hardest domains are the ones with complex spatial relationship. The LLM-AS-P methods (with or without context) completely fail at this type of problems.</a:t>
            </a:r>
            <a:endParaRPr sz="2200"/>
          </a:p>
          <a:p>
            <a:pPr indent="0" lvl="0" marL="0" rtl="0" algn="l">
              <a:spcBef>
                <a:spcPts val="1200"/>
              </a:spcBef>
              <a:spcAft>
                <a:spcPts val="1200"/>
              </a:spcAft>
              <a:buNone/>
            </a:pPr>
            <a:r>
              <a:t/>
            </a:r>
            <a:endParaRPr sz="2200"/>
          </a:p>
        </p:txBody>
      </p:sp>
      <p:pic>
        <p:nvPicPr>
          <p:cNvPr id="177" name="Google Shape;177;p31"/>
          <p:cNvPicPr preferRelativeResize="0"/>
          <p:nvPr/>
        </p:nvPicPr>
        <p:blipFill>
          <a:blip r:embed="rId3">
            <a:alphaModFix/>
          </a:blip>
          <a:stretch>
            <a:fillRect/>
          </a:stretch>
        </p:blipFill>
        <p:spPr>
          <a:xfrm>
            <a:off x="3278400" y="1517075"/>
            <a:ext cx="5733849" cy="24141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LLM+P Experiment &amp; Results</a:t>
            </a:r>
            <a:endParaRPr/>
          </a:p>
        </p:txBody>
      </p:sp>
      <p:sp>
        <p:nvSpPr>
          <p:cNvPr id="183" name="Google Shape;183;p32"/>
          <p:cNvSpPr txBox="1"/>
          <p:nvPr>
            <p:ph idx="1" type="body"/>
          </p:nvPr>
        </p:nvSpPr>
        <p:spPr>
          <a:xfrm>
            <a:off x="311700" y="1152475"/>
            <a:ext cx="2966700" cy="34164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lang="en" sz="2200"/>
              <a:t>- LLM+P produces optimal plans. </a:t>
            </a:r>
            <a:endParaRPr sz="2200"/>
          </a:p>
        </p:txBody>
      </p:sp>
      <p:pic>
        <p:nvPicPr>
          <p:cNvPr id="184" name="Google Shape;184;p32"/>
          <p:cNvPicPr preferRelativeResize="0"/>
          <p:nvPr/>
        </p:nvPicPr>
        <p:blipFill>
          <a:blip r:embed="rId3">
            <a:alphaModFix/>
          </a:blip>
          <a:stretch>
            <a:fillRect/>
          </a:stretch>
        </p:blipFill>
        <p:spPr>
          <a:xfrm>
            <a:off x="3278400" y="1517075"/>
            <a:ext cx="5733849" cy="24141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LLM+P Discussion</a:t>
            </a:r>
            <a:endParaRPr/>
          </a:p>
        </p:txBody>
      </p:sp>
      <p:sp>
        <p:nvSpPr>
          <p:cNvPr id="190" name="Google Shape;190;p33"/>
          <p:cNvSpPr txBox="1"/>
          <p:nvPr>
            <p:ph idx="1" type="body"/>
          </p:nvPr>
        </p:nvSpPr>
        <p:spPr>
          <a:xfrm>
            <a:off x="311700" y="1152475"/>
            <a:ext cx="29667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900"/>
              <a:t>- </a:t>
            </a:r>
            <a:r>
              <a:rPr lang="en" sz="1900"/>
              <a:t>LLM can give reasonable rankings on the plans, but it often fails to recognize whether the plan reaches the goal.</a:t>
            </a:r>
            <a:endParaRPr sz="1900"/>
          </a:p>
          <a:p>
            <a:pPr indent="0" lvl="0" marL="0" rtl="0" algn="l">
              <a:spcBef>
                <a:spcPts val="1200"/>
              </a:spcBef>
              <a:spcAft>
                <a:spcPts val="0"/>
              </a:spcAft>
              <a:buNone/>
            </a:pPr>
            <a:r>
              <a:rPr lang="en" sz="1900"/>
              <a:t>- Times out in most cases</a:t>
            </a:r>
            <a:endParaRPr sz="1900"/>
          </a:p>
          <a:p>
            <a:pPr indent="0" lvl="0" marL="0" rtl="0" algn="l">
              <a:spcBef>
                <a:spcPts val="1200"/>
              </a:spcBef>
              <a:spcAft>
                <a:spcPts val="0"/>
              </a:spcAft>
              <a:buNone/>
            </a:pPr>
            <a:r>
              <a:rPr lang="en" sz="1900"/>
              <a:t>- </a:t>
            </a:r>
            <a:r>
              <a:rPr lang="en" sz="1900"/>
              <a:t>Context is important for LLM+P to work.</a:t>
            </a:r>
            <a:r>
              <a:rPr lang="en" sz="1900"/>
              <a:t> </a:t>
            </a:r>
            <a:endParaRPr sz="1900"/>
          </a:p>
          <a:p>
            <a:pPr indent="0" lvl="0" marL="0" rtl="0" algn="l">
              <a:spcBef>
                <a:spcPts val="1200"/>
              </a:spcBef>
              <a:spcAft>
                <a:spcPts val="1200"/>
              </a:spcAft>
              <a:buNone/>
            </a:pPr>
            <a:r>
              <a:t/>
            </a:r>
            <a:endParaRPr sz="1900"/>
          </a:p>
        </p:txBody>
      </p:sp>
      <p:pic>
        <p:nvPicPr>
          <p:cNvPr id="191" name="Google Shape;191;p33"/>
          <p:cNvPicPr preferRelativeResize="0"/>
          <p:nvPr/>
        </p:nvPicPr>
        <p:blipFill>
          <a:blip r:embed="rId3">
            <a:alphaModFix/>
          </a:blip>
          <a:stretch>
            <a:fillRect/>
          </a:stretch>
        </p:blipFill>
        <p:spPr>
          <a:xfrm>
            <a:off x="3278400" y="1517075"/>
            <a:ext cx="5733849" cy="24141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4"/>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200"/>
              <a:t>AutoGPT+P: Affordance-based Task Planning with Large Language Models</a:t>
            </a:r>
            <a:endParaRPr sz="3200"/>
          </a:p>
        </p:txBody>
      </p:sp>
      <p:sp>
        <p:nvSpPr>
          <p:cNvPr id="197" name="Google Shape;197;p34"/>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fontScale="62500" lnSpcReduction="20000"/>
          </a:bodyPr>
          <a:lstStyle/>
          <a:p>
            <a:pPr indent="0" lvl="0" marL="0" rtl="0" algn="ctr">
              <a:spcBef>
                <a:spcPts val="0"/>
              </a:spcBef>
              <a:spcAft>
                <a:spcPts val="0"/>
              </a:spcAft>
              <a:buNone/>
            </a:pPr>
            <a:r>
              <a:rPr lang="en"/>
              <a:t>Timo Birr, Christoph Pohl, Abdelrahman Younes, Tamim Asfour</a:t>
            </a:r>
            <a:endParaRPr/>
          </a:p>
          <a:p>
            <a:pPr indent="0" lvl="0" marL="0" rtl="0" algn="ctr">
              <a:spcBef>
                <a:spcPts val="0"/>
              </a:spcBef>
              <a:spcAft>
                <a:spcPts val="0"/>
              </a:spcAft>
              <a:buNone/>
            </a:pPr>
            <a:r>
              <a:t/>
            </a:r>
            <a:endParaRPr/>
          </a:p>
          <a:p>
            <a:pPr indent="0" lvl="0" marL="3657600" rtl="0" algn="l">
              <a:spcBef>
                <a:spcPts val="0"/>
              </a:spcBef>
              <a:spcAft>
                <a:spcPts val="0"/>
              </a:spcAft>
              <a:buNone/>
            </a:pPr>
            <a:r>
              <a:rPr i="1" lang="en"/>
              <a:t>      2024</a:t>
            </a:r>
            <a:endParaRPr i="1"/>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AutoGPT+P Intro</a:t>
            </a:r>
            <a:endParaRPr/>
          </a:p>
        </p:txBody>
      </p:sp>
      <p:sp>
        <p:nvSpPr>
          <p:cNvPr id="203" name="Google Shape;203;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Limitation of LLM+P:</a:t>
            </a:r>
            <a:endParaRPr sz="2200"/>
          </a:p>
          <a:p>
            <a:pPr indent="-368300" lvl="0" marL="457200" rtl="0" algn="l">
              <a:spcBef>
                <a:spcPts val="1200"/>
              </a:spcBef>
              <a:spcAft>
                <a:spcPts val="0"/>
              </a:spcAft>
              <a:buSzPts val="2200"/>
              <a:buChar char="-"/>
            </a:pPr>
            <a:r>
              <a:rPr lang="en" sz="2200"/>
              <a:t>the system is restricted by the closed-world assumption of classical planners</a:t>
            </a:r>
            <a:endParaRPr sz="2200"/>
          </a:p>
          <a:p>
            <a:pPr indent="-368300" lvl="0" marL="457200" rtl="0" algn="l">
              <a:spcBef>
                <a:spcPts val="0"/>
              </a:spcBef>
              <a:spcAft>
                <a:spcPts val="0"/>
              </a:spcAft>
              <a:buSzPts val="2200"/>
              <a:buChar char="-"/>
            </a:pPr>
            <a:r>
              <a:rPr lang="en" sz="2200"/>
              <a:t>Need </a:t>
            </a:r>
            <a:r>
              <a:rPr lang="en" sz="2200"/>
              <a:t>definitions</a:t>
            </a:r>
            <a:r>
              <a:rPr lang="en" sz="2200"/>
              <a:t> of all the objects, actions, etc.</a:t>
            </a:r>
            <a:endParaRPr sz="2200"/>
          </a:p>
          <a:p>
            <a:pPr indent="-368300" lvl="0" marL="457200" rtl="0" algn="l">
              <a:spcBef>
                <a:spcPts val="0"/>
              </a:spcBef>
              <a:spcAft>
                <a:spcPts val="0"/>
              </a:spcAft>
              <a:buSzPts val="2200"/>
              <a:buChar char="-"/>
            </a:pPr>
            <a:r>
              <a:rPr lang="en" sz="2200"/>
              <a:t>No automated error correction. </a:t>
            </a:r>
            <a:endParaRPr sz="22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AutoGPT+P Intro</a:t>
            </a:r>
            <a:endParaRPr/>
          </a:p>
        </p:txBody>
      </p:sp>
      <p:sp>
        <p:nvSpPr>
          <p:cNvPr id="209" name="Google Shape;209;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AutoGPT</a:t>
            </a:r>
            <a:endParaRPr sz="2200"/>
          </a:p>
          <a:p>
            <a:pPr indent="-368300" lvl="0" marL="457200" rtl="0" algn="l">
              <a:spcBef>
                <a:spcPts val="1200"/>
              </a:spcBef>
              <a:spcAft>
                <a:spcPts val="0"/>
              </a:spcAft>
              <a:buSzPts val="2200"/>
              <a:buChar char="-"/>
            </a:pPr>
            <a:r>
              <a:rPr lang="en" sz="2200"/>
              <a:t>Consider alternative tools/objects suitable for the task (base on </a:t>
            </a:r>
            <a:r>
              <a:rPr lang="en" sz="2200"/>
              <a:t>similar</a:t>
            </a:r>
            <a:r>
              <a:rPr lang="en" sz="2200"/>
              <a:t>  affordance)</a:t>
            </a:r>
            <a:endParaRPr sz="2200"/>
          </a:p>
          <a:p>
            <a:pPr indent="-368300" lvl="0" marL="457200" rtl="0" algn="l">
              <a:spcBef>
                <a:spcPts val="0"/>
              </a:spcBef>
              <a:spcAft>
                <a:spcPts val="0"/>
              </a:spcAft>
              <a:buSzPts val="2200"/>
              <a:buChar char="-"/>
            </a:pPr>
            <a:r>
              <a:rPr lang="en" sz="2200"/>
              <a:t>Extend LLM+P with automated error correction and </a:t>
            </a:r>
            <a:r>
              <a:rPr lang="en" sz="2200"/>
              <a:t>dynamic planning. </a:t>
            </a:r>
            <a:endParaRPr sz="2200"/>
          </a:p>
          <a:p>
            <a:pPr indent="-368300" lvl="0" marL="457200" rtl="0" algn="l">
              <a:spcBef>
                <a:spcPts val="0"/>
              </a:spcBef>
              <a:spcAft>
                <a:spcPts val="0"/>
              </a:spcAft>
              <a:buSzPts val="2200"/>
              <a:buChar char="-"/>
            </a:pPr>
            <a:r>
              <a:rPr lang="en" sz="2200"/>
              <a:t>Also allow robot to seek assistance from humans when the task surpass agent’s capabilities.</a:t>
            </a:r>
            <a:endParaRPr sz="22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AutoGPT+P Method</a:t>
            </a:r>
            <a:endParaRPr/>
          </a:p>
        </p:txBody>
      </p:sp>
      <p:sp>
        <p:nvSpPr>
          <p:cNvPr id="215" name="Google Shape;215;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Affordance-based Scene </a:t>
            </a:r>
            <a:r>
              <a:rPr lang="en" sz="2200"/>
              <a:t>Representation</a:t>
            </a:r>
            <a:r>
              <a:rPr lang="en" sz="2200"/>
              <a:t>:</a:t>
            </a:r>
            <a:endParaRPr sz="2200"/>
          </a:p>
          <a:p>
            <a:pPr indent="-368300" lvl="0" marL="457200" rtl="0" algn="l">
              <a:spcBef>
                <a:spcPts val="1200"/>
              </a:spcBef>
              <a:spcAft>
                <a:spcPts val="0"/>
              </a:spcAft>
              <a:buSzPts val="2200"/>
              <a:buChar char="-"/>
            </a:pPr>
            <a:r>
              <a:rPr lang="en" sz="2200"/>
              <a:t>Affordance </a:t>
            </a:r>
            <a:r>
              <a:rPr lang="en" sz="2200"/>
              <a:t>provide</a:t>
            </a:r>
            <a:r>
              <a:rPr lang="en" sz="2200"/>
              <a:t> information about possible actions</a:t>
            </a:r>
            <a:endParaRPr sz="2200"/>
          </a:p>
          <a:p>
            <a:pPr indent="-368300" lvl="0" marL="457200" rtl="0" algn="l">
              <a:spcBef>
                <a:spcPts val="0"/>
              </a:spcBef>
              <a:spcAft>
                <a:spcPts val="0"/>
              </a:spcAft>
              <a:buSzPts val="2200"/>
              <a:buChar char="-"/>
            </a:pPr>
            <a:r>
              <a:rPr lang="en" sz="2200"/>
              <a:t>Affordance provide functionality info, which can be used for object </a:t>
            </a:r>
            <a:r>
              <a:rPr lang="en" sz="2200"/>
              <a:t>substitution</a:t>
            </a:r>
            <a:r>
              <a:rPr lang="en" sz="2200"/>
              <a:t> </a:t>
            </a:r>
            <a:endParaRPr sz="2200"/>
          </a:p>
          <a:p>
            <a:pPr indent="-368300" lvl="0" marL="457200" rtl="0" algn="l">
              <a:spcBef>
                <a:spcPts val="0"/>
              </a:spcBef>
              <a:spcAft>
                <a:spcPts val="0"/>
              </a:spcAft>
              <a:buSzPts val="2200"/>
              <a:buChar char="-"/>
            </a:pPr>
            <a:r>
              <a:rPr lang="en" sz="2200"/>
              <a:t>Object affordance mapping using ChatGPT</a:t>
            </a:r>
            <a:endParaRPr sz="22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AutoGPT+P Method</a:t>
            </a:r>
            <a:endParaRPr/>
          </a:p>
        </p:txBody>
      </p:sp>
      <p:pic>
        <p:nvPicPr>
          <p:cNvPr id="221" name="Google Shape;221;p38"/>
          <p:cNvPicPr preferRelativeResize="0"/>
          <p:nvPr/>
        </p:nvPicPr>
        <p:blipFill>
          <a:blip r:embed="rId3">
            <a:alphaModFix/>
          </a:blip>
          <a:stretch>
            <a:fillRect/>
          </a:stretch>
        </p:blipFill>
        <p:spPr>
          <a:xfrm>
            <a:off x="152400" y="2089200"/>
            <a:ext cx="8839204" cy="163953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AutoGPT+P Method</a:t>
            </a:r>
            <a:endParaRPr/>
          </a:p>
        </p:txBody>
      </p:sp>
      <p:pic>
        <p:nvPicPr>
          <p:cNvPr id="227" name="Google Shape;227;p39"/>
          <p:cNvPicPr preferRelativeResize="0"/>
          <p:nvPr/>
        </p:nvPicPr>
        <p:blipFill>
          <a:blip r:embed="rId3">
            <a:alphaModFix/>
          </a:blip>
          <a:stretch>
            <a:fillRect/>
          </a:stretch>
        </p:blipFill>
        <p:spPr>
          <a:xfrm>
            <a:off x="152400" y="1462025"/>
            <a:ext cx="8839201" cy="283412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AutoGPT+P Method</a:t>
            </a:r>
            <a:endParaRPr/>
          </a:p>
        </p:txBody>
      </p:sp>
      <p:pic>
        <p:nvPicPr>
          <p:cNvPr id="233" name="Google Shape;233;p40"/>
          <p:cNvPicPr preferRelativeResize="0"/>
          <p:nvPr/>
        </p:nvPicPr>
        <p:blipFill>
          <a:blip r:embed="rId3">
            <a:alphaModFix/>
          </a:blip>
          <a:stretch>
            <a:fillRect/>
          </a:stretch>
        </p:blipFill>
        <p:spPr>
          <a:xfrm>
            <a:off x="152400" y="1646375"/>
            <a:ext cx="8839202" cy="242122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AutoGPT+P Results</a:t>
            </a:r>
            <a:endParaRPr/>
          </a:p>
        </p:txBody>
      </p:sp>
      <p:pic>
        <p:nvPicPr>
          <p:cNvPr id="239" name="Google Shape;239;p41"/>
          <p:cNvPicPr preferRelativeResize="0"/>
          <p:nvPr/>
        </p:nvPicPr>
        <p:blipFill>
          <a:blip r:embed="rId3">
            <a:alphaModFix/>
          </a:blip>
          <a:stretch>
            <a:fillRect/>
          </a:stretch>
        </p:blipFill>
        <p:spPr>
          <a:xfrm>
            <a:off x="152400" y="1769275"/>
            <a:ext cx="8839200" cy="240426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AutoGPT+P Results</a:t>
            </a:r>
            <a:endParaRPr/>
          </a:p>
        </p:txBody>
      </p:sp>
      <p:sp>
        <p:nvSpPr>
          <p:cNvPr id="245" name="Google Shape;245;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Results show the potential of real-world applications. However,</a:t>
            </a:r>
            <a:endParaRPr sz="2200"/>
          </a:p>
          <a:p>
            <a:pPr indent="-368300" lvl="0" marL="457200" rtl="0" algn="l">
              <a:spcBef>
                <a:spcPts val="1200"/>
              </a:spcBef>
              <a:spcAft>
                <a:spcPts val="0"/>
              </a:spcAft>
              <a:buSzPts val="2200"/>
              <a:buChar char="-"/>
            </a:pPr>
            <a:r>
              <a:rPr lang="en" sz="2200"/>
              <a:t>uncertainty</a:t>
            </a:r>
            <a:r>
              <a:rPr lang="en" sz="2200"/>
              <a:t> can arise from object detection, affordance </a:t>
            </a:r>
            <a:r>
              <a:rPr lang="en" sz="2200"/>
              <a:t>mapping, and vague task definitions</a:t>
            </a:r>
            <a:endParaRPr sz="2200"/>
          </a:p>
          <a:p>
            <a:pPr indent="-368300" lvl="0" marL="457200" rtl="0" algn="l">
              <a:spcBef>
                <a:spcPts val="0"/>
              </a:spcBef>
              <a:spcAft>
                <a:spcPts val="0"/>
              </a:spcAft>
              <a:buSzPts val="2200"/>
              <a:buChar char="-"/>
            </a:pPr>
            <a:r>
              <a:rPr lang="en" sz="2200"/>
              <a:t>No feedback from execution</a:t>
            </a:r>
            <a:endParaRPr sz="2200"/>
          </a:p>
          <a:p>
            <a:pPr indent="-368300" lvl="0" marL="457200" rtl="0" algn="l">
              <a:spcBef>
                <a:spcPts val="0"/>
              </a:spcBef>
              <a:spcAft>
                <a:spcPts val="0"/>
              </a:spcAft>
              <a:buSzPts val="2200"/>
              <a:buChar char="-"/>
            </a:pPr>
            <a:r>
              <a:rPr lang="en" sz="2200"/>
              <a:t>Did not consider plans longer than 20 steps. </a:t>
            </a:r>
            <a:endParaRPr sz="22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3"/>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200"/>
              <a:t>Language Agent Tree Search Unifies Reasoning Acting and Planning in Language Models</a:t>
            </a:r>
            <a:endParaRPr sz="3200"/>
          </a:p>
        </p:txBody>
      </p:sp>
      <p:sp>
        <p:nvSpPr>
          <p:cNvPr id="251" name="Google Shape;251;p43"/>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fontScale="62500" lnSpcReduction="20000"/>
          </a:bodyPr>
          <a:lstStyle/>
          <a:p>
            <a:pPr indent="0" lvl="0" marL="0" rtl="0" algn="ctr">
              <a:spcBef>
                <a:spcPts val="0"/>
              </a:spcBef>
              <a:spcAft>
                <a:spcPts val="0"/>
              </a:spcAft>
              <a:buNone/>
            </a:pPr>
            <a:r>
              <a:rPr lang="en"/>
              <a:t>Andy Zhou, Kai Yan, Michal Shlapentokh-Rothman, Haohan Wang, Yu-Xiong Wang</a:t>
            </a:r>
            <a:endParaRPr/>
          </a:p>
          <a:p>
            <a:pPr indent="0" lvl="0" marL="0" rtl="0" algn="ctr">
              <a:spcBef>
                <a:spcPts val="0"/>
              </a:spcBef>
              <a:spcAft>
                <a:spcPts val="0"/>
              </a:spcAft>
              <a:buNone/>
            </a:pPr>
            <a:r>
              <a:t/>
            </a:r>
            <a:endParaRPr/>
          </a:p>
          <a:p>
            <a:pPr indent="0" lvl="0" marL="0" rtl="0" algn="ctr">
              <a:spcBef>
                <a:spcPts val="0"/>
              </a:spcBef>
              <a:spcAft>
                <a:spcPts val="0"/>
              </a:spcAft>
              <a:buNone/>
            </a:pPr>
            <a:r>
              <a:rPr i="1" lang="en"/>
              <a:t>ICML 2024</a:t>
            </a:r>
            <a:endParaRPr i="1"/>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LATS - Motivation/Background</a:t>
            </a:r>
            <a:endParaRPr/>
          </a:p>
        </p:txBody>
      </p:sp>
      <p:sp>
        <p:nvSpPr>
          <p:cNvPr id="257" name="Google Shape;257;p44"/>
          <p:cNvSpPr txBox="1"/>
          <p:nvPr>
            <p:ph idx="1" type="body"/>
          </p:nvPr>
        </p:nvSpPr>
        <p:spPr>
          <a:xfrm>
            <a:off x="311700" y="1152475"/>
            <a:ext cx="8520600" cy="39129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a:t>Chain-of-Thought (CoT) and ReAct face key limitations:</a:t>
            </a:r>
            <a:endParaRPr/>
          </a:p>
          <a:p>
            <a:pPr indent="-342900" lvl="1" marL="914400" rtl="0" algn="l">
              <a:lnSpc>
                <a:spcPct val="150000"/>
              </a:lnSpc>
              <a:spcBef>
                <a:spcPts val="0"/>
              </a:spcBef>
              <a:spcAft>
                <a:spcPts val="0"/>
              </a:spcAft>
              <a:buSzPts val="1800"/>
              <a:buChar char="○"/>
            </a:pPr>
            <a:r>
              <a:rPr lang="en" sz="1800"/>
              <a:t>Error propagation in long reasoning chains</a:t>
            </a:r>
            <a:endParaRPr sz="1800"/>
          </a:p>
          <a:p>
            <a:pPr indent="-342900" lvl="1" marL="914400" rtl="0" algn="l">
              <a:lnSpc>
                <a:spcPct val="150000"/>
              </a:lnSpc>
              <a:spcBef>
                <a:spcPts val="0"/>
              </a:spcBef>
              <a:spcAft>
                <a:spcPts val="0"/>
              </a:spcAft>
              <a:buSzPts val="1800"/>
              <a:buChar char="○"/>
            </a:pPr>
            <a:r>
              <a:rPr lang="en" sz="1800"/>
              <a:t>Inability to deliberate over multiple reasoning or acting paths</a:t>
            </a:r>
            <a:endParaRPr sz="1800"/>
          </a:p>
          <a:p>
            <a:pPr indent="0" lvl="0" marL="0" rtl="0" algn="l">
              <a:lnSpc>
                <a:spcPct val="150000"/>
              </a:lnSpc>
              <a:spcBef>
                <a:spcPts val="0"/>
              </a:spcBef>
              <a:spcAft>
                <a:spcPts val="0"/>
              </a:spcAft>
              <a:buNone/>
            </a:pPr>
            <a:r>
              <a:t/>
            </a:r>
            <a:endParaRPr/>
          </a:p>
          <a:p>
            <a:pPr indent="0" lvl="0" marL="457200" rtl="0" algn="l">
              <a:lnSpc>
                <a:spcPct val="150000"/>
              </a:lnSpc>
              <a:spcBef>
                <a:spcPts val="0"/>
              </a:spcBef>
              <a:spcAft>
                <a:spcPts val="1200"/>
              </a:spcAft>
              <a:buNone/>
            </a:pPr>
            <a:r>
              <a:rPr lang="en"/>
              <a:t>Thus, the authors propose </a:t>
            </a:r>
            <a:r>
              <a:rPr b="1" lang="en"/>
              <a:t>Language Agent Tree Search (LATS)</a:t>
            </a:r>
            <a:r>
              <a:rPr lang="en"/>
              <a:t>, which incorporates Monte Carlo Tree Search, environmental feedback, and LM-powered value functions/self-reflections for better exploration/planning.</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LATS</a:t>
            </a:r>
            <a:r>
              <a:rPr lang="en"/>
              <a:t> - Intro</a:t>
            </a:r>
            <a:endParaRPr/>
          </a:p>
        </p:txBody>
      </p:sp>
      <p:sp>
        <p:nvSpPr>
          <p:cNvPr id="263" name="Google Shape;263;p45"/>
          <p:cNvSpPr txBox="1"/>
          <p:nvPr>
            <p:ph idx="1" type="body"/>
          </p:nvPr>
        </p:nvSpPr>
        <p:spPr>
          <a:xfrm>
            <a:off x="109700" y="1152475"/>
            <a:ext cx="4495800" cy="3749700"/>
          </a:xfrm>
          <a:prstGeom prst="rect">
            <a:avLst/>
          </a:prstGeom>
        </p:spPr>
        <p:txBody>
          <a:bodyPr anchorCtr="0" anchor="t" bIns="91425" lIns="91425" spcFirstLastPara="1" rIns="91425" wrap="square" tIns="91425">
            <a:normAutofit fontScale="92500" lnSpcReduction="20000"/>
          </a:bodyPr>
          <a:lstStyle/>
          <a:p>
            <a:pPr indent="-340201" lvl="0" marL="457200" rtl="0" algn="l">
              <a:lnSpc>
                <a:spcPct val="150000"/>
              </a:lnSpc>
              <a:spcBef>
                <a:spcPts val="0"/>
              </a:spcBef>
              <a:spcAft>
                <a:spcPts val="0"/>
              </a:spcAft>
              <a:buSzPct val="100000"/>
              <a:buChar char="●"/>
            </a:pPr>
            <a:r>
              <a:rPr lang="en" sz="1900"/>
              <a:t>LATS integrates three core capabilities in one framework:</a:t>
            </a:r>
            <a:endParaRPr sz="1900"/>
          </a:p>
          <a:p>
            <a:pPr indent="-340201" lvl="1" marL="914400" rtl="0" algn="l">
              <a:lnSpc>
                <a:spcPct val="150000"/>
              </a:lnSpc>
              <a:spcBef>
                <a:spcPts val="0"/>
              </a:spcBef>
              <a:spcAft>
                <a:spcPts val="0"/>
              </a:spcAft>
              <a:buSzPct val="100000"/>
              <a:buChar char="○"/>
            </a:pPr>
            <a:r>
              <a:rPr b="1" lang="en" sz="1900"/>
              <a:t>Reasoning</a:t>
            </a:r>
            <a:r>
              <a:rPr lang="en" sz="1900"/>
              <a:t>: Generates internal chains-of-thought</a:t>
            </a:r>
            <a:endParaRPr sz="1900"/>
          </a:p>
          <a:p>
            <a:pPr indent="-340201" lvl="1" marL="914400" rtl="0" algn="l">
              <a:lnSpc>
                <a:spcPct val="150000"/>
              </a:lnSpc>
              <a:spcBef>
                <a:spcPts val="0"/>
              </a:spcBef>
              <a:spcAft>
                <a:spcPts val="0"/>
              </a:spcAft>
              <a:buSzPct val="100000"/>
              <a:buChar char="○"/>
            </a:pPr>
            <a:r>
              <a:rPr b="1" lang="en" sz="1900"/>
              <a:t>Planning</a:t>
            </a:r>
            <a:r>
              <a:rPr lang="en" sz="1900"/>
              <a:t>: Employs a Monte Carlo Tree Search (MCTS) strategy for exploring alternatives</a:t>
            </a:r>
            <a:endParaRPr b="1" sz="1900"/>
          </a:p>
          <a:p>
            <a:pPr indent="-340201" lvl="1" marL="914400" rtl="0" algn="l">
              <a:lnSpc>
                <a:spcPct val="150000"/>
              </a:lnSpc>
              <a:spcBef>
                <a:spcPts val="0"/>
              </a:spcBef>
              <a:spcAft>
                <a:spcPts val="0"/>
              </a:spcAft>
              <a:buSzPct val="100000"/>
              <a:buChar char="○"/>
            </a:pPr>
            <a:r>
              <a:rPr b="1" lang="en" sz="1900"/>
              <a:t>Acting</a:t>
            </a:r>
            <a:r>
              <a:rPr lang="en" sz="1900"/>
              <a:t>: </a:t>
            </a:r>
            <a:r>
              <a:rPr lang="en" sz="1900"/>
              <a:t>Interacts with external environments (e.g., API calls, web navigation)</a:t>
            </a:r>
            <a:endParaRPr sz="1900"/>
          </a:p>
        </p:txBody>
      </p:sp>
      <p:pic>
        <p:nvPicPr>
          <p:cNvPr id="264" name="Google Shape;264;p45"/>
          <p:cNvPicPr preferRelativeResize="0"/>
          <p:nvPr/>
        </p:nvPicPr>
        <p:blipFill>
          <a:blip r:embed="rId3">
            <a:alphaModFix/>
          </a:blip>
          <a:stretch>
            <a:fillRect/>
          </a:stretch>
        </p:blipFill>
        <p:spPr>
          <a:xfrm>
            <a:off x="4605500" y="1215750"/>
            <a:ext cx="4398676" cy="27119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LATS</a:t>
            </a:r>
            <a:r>
              <a:rPr lang="en"/>
              <a:t> - </a:t>
            </a:r>
            <a:r>
              <a:rPr lang="en"/>
              <a:t>Architecture/Workflow</a:t>
            </a:r>
            <a:endParaRPr/>
          </a:p>
        </p:txBody>
      </p:sp>
      <p:sp>
        <p:nvSpPr>
          <p:cNvPr id="270" name="Google Shape;270;p46"/>
          <p:cNvSpPr txBox="1"/>
          <p:nvPr>
            <p:ph idx="1" type="body"/>
          </p:nvPr>
        </p:nvSpPr>
        <p:spPr>
          <a:xfrm>
            <a:off x="156325" y="1152475"/>
            <a:ext cx="4691400" cy="39516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b="1" lang="en" sz="1500"/>
              <a:t>Input</a:t>
            </a:r>
            <a:r>
              <a:rPr lang="en" sz="1500"/>
              <a:t>: Natural language query for LM</a:t>
            </a:r>
            <a:endParaRPr sz="1500"/>
          </a:p>
          <a:p>
            <a:pPr indent="-323850" lvl="0" marL="457200" rtl="0" algn="l">
              <a:spcBef>
                <a:spcPts val="0"/>
              </a:spcBef>
              <a:spcAft>
                <a:spcPts val="0"/>
              </a:spcAft>
              <a:buSzPts val="1500"/>
              <a:buChar char="●"/>
            </a:pPr>
            <a:r>
              <a:rPr lang="en" sz="1500"/>
              <a:t>Process:</a:t>
            </a:r>
            <a:endParaRPr sz="1500"/>
          </a:p>
          <a:p>
            <a:pPr indent="-323850" lvl="0" marL="914400" rtl="0" algn="l">
              <a:spcBef>
                <a:spcPts val="0"/>
              </a:spcBef>
              <a:spcAft>
                <a:spcPts val="0"/>
              </a:spcAft>
              <a:buSzPts val="1500"/>
              <a:buAutoNum type="arabicPeriod"/>
            </a:pPr>
            <a:r>
              <a:rPr lang="en" sz="1500"/>
              <a:t>The LM </a:t>
            </a:r>
            <a:r>
              <a:rPr b="1" lang="en" sz="1500"/>
              <a:t>samples</a:t>
            </a:r>
            <a:r>
              <a:rPr lang="en" sz="1500"/>
              <a:t> multiple candidate reasoning/action trajectories</a:t>
            </a:r>
            <a:endParaRPr sz="1500"/>
          </a:p>
          <a:p>
            <a:pPr indent="-323850" lvl="0" marL="914400" rtl="0" algn="l">
              <a:spcBef>
                <a:spcPts val="0"/>
              </a:spcBef>
              <a:spcAft>
                <a:spcPts val="0"/>
              </a:spcAft>
              <a:buSzPts val="1500"/>
              <a:buAutoNum type="arabicPeriod"/>
            </a:pPr>
            <a:r>
              <a:rPr b="1" lang="en" sz="1500"/>
              <a:t>External feedback</a:t>
            </a:r>
            <a:r>
              <a:rPr lang="en" sz="1500"/>
              <a:t> is received from an environment (e.g., test suite results, API responses)</a:t>
            </a:r>
            <a:endParaRPr sz="1500"/>
          </a:p>
          <a:p>
            <a:pPr indent="-323850" lvl="0" marL="914400" rtl="0" algn="l">
              <a:spcBef>
                <a:spcPts val="0"/>
              </a:spcBef>
              <a:spcAft>
                <a:spcPts val="0"/>
              </a:spcAft>
              <a:buSzPts val="1500"/>
              <a:buAutoNum type="arabicPeriod"/>
            </a:pPr>
            <a:r>
              <a:rPr b="1" lang="en" sz="1500"/>
              <a:t>Self-reflection</a:t>
            </a:r>
            <a:r>
              <a:rPr lang="en" sz="1500"/>
              <a:t> is applied to failed trajectories to guide future searches</a:t>
            </a:r>
            <a:endParaRPr sz="1500"/>
          </a:p>
          <a:p>
            <a:pPr indent="-323850" lvl="0" marL="457200" rtl="0" algn="l">
              <a:spcBef>
                <a:spcPts val="0"/>
              </a:spcBef>
              <a:spcAft>
                <a:spcPts val="0"/>
              </a:spcAft>
              <a:buSzPts val="1500"/>
              <a:buChar char="●"/>
            </a:pPr>
            <a:r>
              <a:rPr lang="en" sz="1500"/>
              <a:t>Components:</a:t>
            </a:r>
            <a:endParaRPr sz="1500"/>
          </a:p>
          <a:p>
            <a:pPr indent="-323850" lvl="1" marL="914400" rtl="0" algn="l">
              <a:spcBef>
                <a:spcPts val="0"/>
              </a:spcBef>
              <a:spcAft>
                <a:spcPts val="0"/>
              </a:spcAft>
              <a:buSzPts val="1500"/>
              <a:buChar char="○"/>
            </a:pPr>
            <a:r>
              <a:rPr lang="en" sz="1500"/>
              <a:t>LM Agent</a:t>
            </a:r>
            <a:endParaRPr sz="1500"/>
          </a:p>
          <a:p>
            <a:pPr indent="-323850" lvl="1" marL="914400" rtl="0" algn="l">
              <a:spcBef>
                <a:spcPts val="0"/>
              </a:spcBef>
              <a:spcAft>
                <a:spcPts val="0"/>
              </a:spcAft>
              <a:buSzPts val="1500"/>
              <a:buChar char="○"/>
            </a:pPr>
            <a:r>
              <a:rPr lang="en" sz="1500"/>
              <a:t>Reflection Generator</a:t>
            </a:r>
            <a:endParaRPr sz="1500"/>
          </a:p>
          <a:p>
            <a:pPr indent="-323850" lvl="1" marL="914400" rtl="0" algn="l">
              <a:spcBef>
                <a:spcPts val="0"/>
              </a:spcBef>
              <a:spcAft>
                <a:spcPts val="0"/>
              </a:spcAft>
              <a:buSzPts val="1500"/>
              <a:buChar char="○"/>
            </a:pPr>
            <a:r>
              <a:rPr b="1" lang="en" sz="1500"/>
              <a:t>Value Function</a:t>
            </a:r>
            <a:r>
              <a:rPr lang="en" sz="1500"/>
              <a:t> for node evaluatio</a:t>
            </a:r>
            <a:r>
              <a:rPr lang="en" sz="1500"/>
              <a:t>n</a:t>
            </a:r>
            <a:endParaRPr sz="1500"/>
          </a:p>
        </p:txBody>
      </p:sp>
      <p:pic>
        <p:nvPicPr>
          <p:cNvPr id="271" name="Google Shape;271;p46"/>
          <p:cNvPicPr preferRelativeResize="0"/>
          <p:nvPr/>
        </p:nvPicPr>
        <p:blipFill>
          <a:blip r:embed="rId3">
            <a:alphaModFix/>
          </a:blip>
          <a:stretch>
            <a:fillRect/>
          </a:stretch>
        </p:blipFill>
        <p:spPr>
          <a:xfrm>
            <a:off x="4605500" y="1215750"/>
            <a:ext cx="4398676" cy="27119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7"/>
          <p:cNvSpPr txBox="1"/>
          <p:nvPr>
            <p:ph idx="1" type="body"/>
          </p:nvPr>
        </p:nvSpPr>
        <p:spPr>
          <a:xfrm>
            <a:off x="311700" y="1152475"/>
            <a:ext cx="8520600" cy="3858600"/>
          </a:xfrm>
          <a:prstGeom prst="rect">
            <a:avLst/>
          </a:prstGeom>
        </p:spPr>
        <p:txBody>
          <a:bodyPr anchorCtr="0" anchor="t" bIns="91425" lIns="91425" spcFirstLastPara="1" rIns="91425" wrap="square" tIns="91425">
            <a:normAutofit lnSpcReduction="10000"/>
          </a:bodyPr>
          <a:lstStyle/>
          <a:p>
            <a:pPr indent="-342900" lvl="0" marL="457200" rtl="0" algn="l">
              <a:lnSpc>
                <a:spcPct val="150000"/>
              </a:lnSpc>
              <a:spcBef>
                <a:spcPts val="0"/>
              </a:spcBef>
              <a:spcAft>
                <a:spcPts val="0"/>
              </a:spcAft>
              <a:buSzPts val="1800"/>
              <a:buChar char="●"/>
            </a:pPr>
            <a:r>
              <a:rPr lang="en"/>
              <a:t>Monte Carlo Tree Search (</a:t>
            </a:r>
            <a:r>
              <a:rPr b="1" lang="en"/>
              <a:t>MCTS</a:t>
            </a:r>
            <a:r>
              <a:rPr lang="en"/>
              <a:t>) - navigate combinatorial space of reasoning/action trajectories</a:t>
            </a:r>
            <a:endParaRPr/>
          </a:p>
          <a:p>
            <a:pPr indent="-317500" lvl="1" marL="914400" rtl="0" algn="l">
              <a:lnSpc>
                <a:spcPct val="150000"/>
              </a:lnSpc>
              <a:spcBef>
                <a:spcPts val="0"/>
              </a:spcBef>
              <a:spcAft>
                <a:spcPts val="0"/>
              </a:spcAft>
              <a:buSzPts val="1400"/>
              <a:buChar char="○"/>
            </a:pPr>
            <a:r>
              <a:rPr b="1" lang="en"/>
              <a:t>Selection</a:t>
            </a:r>
            <a:r>
              <a:rPr lang="en"/>
              <a:t>: Traverse the tree using a heuristic</a:t>
            </a:r>
            <a:endParaRPr/>
          </a:p>
          <a:p>
            <a:pPr indent="-317500" lvl="1" marL="914400" rtl="0" algn="l">
              <a:lnSpc>
                <a:spcPct val="150000"/>
              </a:lnSpc>
              <a:spcBef>
                <a:spcPts val="0"/>
              </a:spcBef>
              <a:spcAft>
                <a:spcPts val="0"/>
              </a:spcAft>
              <a:buSzPts val="1400"/>
              <a:buChar char="○"/>
            </a:pPr>
            <a:r>
              <a:rPr b="1" lang="en"/>
              <a:t>Expansion</a:t>
            </a:r>
            <a:r>
              <a:rPr lang="en"/>
              <a:t>: Sample multiple candidate actions</a:t>
            </a:r>
            <a:endParaRPr/>
          </a:p>
          <a:p>
            <a:pPr indent="-317500" lvl="1" marL="914400" rtl="0" algn="l">
              <a:lnSpc>
                <a:spcPct val="150000"/>
              </a:lnSpc>
              <a:spcBef>
                <a:spcPts val="0"/>
              </a:spcBef>
              <a:spcAft>
                <a:spcPts val="0"/>
              </a:spcAft>
              <a:buSzPts val="1400"/>
              <a:buChar char="○"/>
            </a:pPr>
            <a:r>
              <a:rPr b="1" lang="en"/>
              <a:t>Simulation</a:t>
            </a:r>
            <a:r>
              <a:rPr lang="en"/>
              <a:t>: Roll out trajectories until reaching a terminal state</a:t>
            </a:r>
            <a:endParaRPr/>
          </a:p>
          <a:p>
            <a:pPr indent="-317500" lvl="1" marL="914400" rtl="0" algn="l">
              <a:lnSpc>
                <a:spcPct val="150000"/>
              </a:lnSpc>
              <a:spcBef>
                <a:spcPts val="0"/>
              </a:spcBef>
              <a:spcAft>
                <a:spcPts val="0"/>
              </a:spcAft>
              <a:buSzPts val="1400"/>
              <a:buChar char="○"/>
            </a:pPr>
            <a:r>
              <a:rPr b="1" lang="en"/>
              <a:t>Backpropagation</a:t>
            </a:r>
            <a:r>
              <a:rPr lang="en"/>
              <a:t>: Update node values based on outcomes</a:t>
            </a:r>
            <a:endParaRPr/>
          </a:p>
          <a:p>
            <a:pPr indent="-342900" lvl="0" marL="457200" rtl="0" algn="l">
              <a:lnSpc>
                <a:spcPct val="150000"/>
              </a:lnSpc>
              <a:spcBef>
                <a:spcPts val="0"/>
              </a:spcBef>
              <a:spcAft>
                <a:spcPts val="0"/>
              </a:spcAft>
              <a:buSzPts val="1800"/>
              <a:buChar char="●"/>
            </a:pPr>
            <a:r>
              <a:rPr lang="en"/>
              <a:t>UCT: Upper Confidence bounds applied to Trees</a:t>
            </a:r>
            <a:endParaRPr/>
          </a:p>
          <a:p>
            <a:pPr indent="-317500" lvl="1" marL="914400" rtl="0" algn="l">
              <a:lnSpc>
                <a:spcPct val="150000"/>
              </a:lnSpc>
              <a:spcBef>
                <a:spcPts val="0"/>
              </a:spcBef>
              <a:spcAft>
                <a:spcPts val="0"/>
              </a:spcAft>
              <a:buSzPts val="1400"/>
              <a:buChar char="○"/>
            </a:pPr>
            <a:r>
              <a:t/>
            </a:r>
            <a:endParaRPr/>
          </a:p>
          <a:p>
            <a:pPr indent="-317500" lvl="1" marL="914400" rtl="0" algn="l">
              <a:lnSpc>
                <a:spcPct val="150000"/>
              </a:lnSpc>
              <a:spcBef>
                <a:spcPts val="0"/>
              </a:spcBef>
              <a:spcAft>
                <a:spcPts val="0"/>
              </a:spcAft>
              <a:buSzPts val="1400"/>
              <a:buChar char="○"/>
            </a:pPr>
            <a:r>
              <a:rPr lang="en"/>
              <a:t>V(s): Value of node s →</a:t>
            </a:r>
            <a:endParaRPr/>
          </a:p>
          <a:p>
            <a:pPr indent="-317500" lvl="1" marL="914400" rtl="0" algn="l">
              <a:lnSpc>
                <a:spcPct val="150000"/>
              </a:lnSpc>
              <a:spcBef>
                <a:spcPts val="0"/>
              </a:spcBef>
              <a:spcAft>
                <a:spcPts val="0"/>
              </a:spcAft>
              <a:buSzPts val="1400"/>
              <a:buChar char="○"/>
            </a:pPr>
            <a:r>
              <a:rPr lang="en"/>
              <a:t>w: Exploration weight</a:t>
            </a:r>
            <a:endParaRPr/>
          </a:p>
          <a:p>
            <a:pPr indent="-317500" lvl="1" marL="914400" rtl="0" algn="l">
              <a:lnSpc>
                <a:spcPct val="150000"/>
              </a:lnSpc>
              <a:spcBef>
                <a:spcPts val="0"/>
              </a:spcBef>
              <a:spcAft>
                <a:spcPts val="0"/>
              </a:spcAft>
              <a:buSzPts val="1400"/>
              <a:buChar char="○"/>
            </a:pPr>
            <a:r>
              <a:rPr lang="en"/>
              <a:t>N(p) and N(s): Visit counts</a:t>
            </a:r>
            <a:endParaRPr/>
          </a:p>
        </p:txBody>
      </p:sp>
      <p:pic>
        <p:nvPicPr>
          <p:cNvPr id="277" name="Google Shape;277;p47"/>
          <p:cNvPicPr preferRelativeResize="0"/>
          <p:nvPr/>
        </p:nvPicPr>
        <p:blipFill rotWithShape="1">
          <a:blip r:embed="rId3">
            <a:alphaModFix/>
          </a:blip>
          <a:srcRect b="7340" l="2011" r="3084" t="3572"/>
          <a:stretch/>
        </p:blipFill>
        <p:spPr>
          <a:xfrm>
            <a:off x="1289625" y="3465800"/>
            <a:ext cx="1957775" cy="449125"/>
          </a:xfrm>
          <a:prstGeom prst="rect">
            <a:avLst/>
          </a:prstGeom>
          <a:noFill/>
          <a:ln>
            <a:noFill/>
          </a:ln>
        </p:spPr>
      </p:pic>
      <p:sp>
        <p:nvSpPr>
          <p:cNvPr id="278" name="Google Shape;278;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LATS - Monte Carlo Tree Search Recap</a:t>
            </a:r>
            <a:endParaRPr/>
          </a:p>
        </p:txBody>
      </p:sp>
      <p:pic>
        <p:nvPicPr>
          <p:cNvPr id="279" name="Google Shape;279;p47"/>
          <p:cNvPicPr preferRelativeResize="0"/>
          <p:nvPr/>
        </p:nvPicPr>
        <p:blipFill rotWithShape="1">
          <a:blip r:embed="rId4">
            <a:alphaModFix/>
          </a:blip>
          <a:srcRect b="5243" l="1890" r="3573" t="12309"/>
          <a:stretch/>
        </p:blipFill>
        <p:spPr>
          <a:xfrm>
            <a:off x="3085750" y="3868325"/>
            <a:ext cx="1996600" cy="3290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LATS - Method Details</a:t>
            </a:r>
            <a:endParaRPr/>
          </a:p>
        </p:txBody>
      </p:sp>
      <p:pic>
        <p:nvPicPr>
          <p:cNvPr id="285" name="Google Shape;285;p48"/>
          <p:cNvPicPr preferRelativeResize="0"/>
          <p:nvPr/>
        </p:nvPicPr>
        <p:blipFill rotWithShape="1">
          <a:blip r:embed="rId3">
            <a:alphaModFix/>
          </a:blip>
          <a:srcRect b="23442" l="0" r="0" t="0"/>
          <a:stretch/>
        </p:blipFill>
        <p:spPr>
          <a:xfrm>
            <a:off x="346625" y="1017725"/>
            <a:ext cx="8520601" cy="2796800"/>
          </a:xfrm>
          <a:prstGeom prst="rect">
            <a:avLst/>
          </a:prstGeom>
          <a:noFill/>
          <a:ln>
            <a:noFill/>
          </a:ln>
        </p:spPr>
      </p:pic>
      <p:sp>
        <p:nvSpPr>
          <p:cNvPr id="286" name="Google Shape;286;p48"/>
          <p:cNvSpPr/>
          <p:nvPr/>
        </p:nvSpPr>
        <p:spPr>
          <a:xfrm>
            <a:off x="1584850" y="1017725"/>
            <a:ext cx="7247400" cy="2796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287" name="Google Shape;287;p48"/>
          <p:cNvSpPr txBox="1"/>
          <p:nvPr>
            <p:ph idx="1" type="body"/>
          </p:nvPr>
        </p:nvSpPr>
        <p:spPr>
          <a:xfrm>
            <a:off x="311700" y="3861150"/>
            <a:ext cx="8520600" cy="1282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Selection</a:t>
            </a:r>
            <a:endParaRPr/>
          </a:p>
          <a:p>
            <a:pPr indent="-317500" lvl="1" marL="914400" rtl="0" algn="l">
              <a:spcBef>
                <a:spcPts val="0"/>
              </a:spcBef>
              <a:spcAft>
                <a:spcPts val="0"/>
              </a:spcAft>
              <a:buSzPts val="1400"/>
              <a:buChar char="○"/>
            </a:pPr>
            <a:r>
              <a:rPr lang="en"/>
              <a:t>Identify segment of the current tree most suitable for subsequent expansion</a:t>
            </a:r>
            <a:endParaRPr/>
          </a:p>
          <a:p>
            <a:pPr indent="-317500" lvl="1" marL="914400" rtl="0" algn="l">
              <a:spcBef>
                <a:spcPts val="0"/>
              </a:spcBef>
              <a:spcAft>
                <a:spcPts val="0"/>
              </a:spcAft>
              <a:buSzPts val="1400"/>
              <a:buChar char="○"/>
            </a:pPr>
            <a:r>
              <a:rPr lang="en"/>
              <a:t>Starting from the root node (s_0), select children nodes until leaf is reached</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LATS - Method Details</a:t>
            </a:r>
            <a:endParaRPr/>
          </a:p>
        </p:txBody>
      </p:sp>
      <p:pic>
        <p:nvPicPr>
          <p:cNvPr id="293" name="Google Shape;293;p49"/>
          <p:cNvPicPr preferRelativeResize="0"/>
          <p:nvPr/>
        </p:nvPicPr>
        <p:blipFill rotWithShape="1">
          <a:blip r:embed="rId3">
            <a:alphaModFix/>
          </a:blip>
          <a:srcRect b="23442" l="0" r="0" t="0"/>
          <a:stretch/>
        </p:blipFill>
        <p:spPr>
          <a:xfrm>
            <a:off x="346625" y="1017725"/>
            <a:ext cx="8520601" cy="2796800"/>
          </a:xfrm>
          <a:prstGeom prst="rect">
            <a:avLst/>
          </a:prstGeom>
          <a:noFill/>
          <a:ln>
            <a:noFill/>
          </a:ln>
        </p:spPr>
      </p:pic>
      <p:sp>
        <p:nvSpPr>
          <p:cNvPr id="294" name="Google Shape;294;p49"/>
          <p:cNvSpPr/>
          <p:nvPr/>
        </p:nvSpPr>
        <p:spPr>
          <a:xfrm>
            <a:off x="3084250" y="1017725"/>
            <a:ext cx="5748000" cy="2796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295" name="Google Shape;295;p49"/>
          <p:cNvSpPr txBox="1"/>
          <p:nvPr>
            <p:ph idx="1" type="body"/>
          </p:nvPr>
        </p:nvSpPr>
        <p:spPr>
          <a:xfrm>
            <a:off x="311700" y="3861150"/>
            <a:ext cx="8520600" cy="12825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b="1" lang="en"/>
              <a:t>Expansion:</a:t>
            </a:r>
            <a:r>
              <a:rPr lang="en"/>
              <a:t> </a:t>
            </a:r>
            <a:endParaRPr/>
          </a:p>
          <a:p>
            <a:pPr indent="-317500" lvl="1" marL="914400" rtl="0" algn="l">
              <a:spcBef>
                <a:spcPts val="0"/>
              </a:spcBef>
              <a:spcAft>
                <a:spcPts val="0"/>
              </a:spcAft>
              <a:buSzPts val="1400"/>
              <a:buChar char="○"/>
            </a:pPr>
            <a:r>
              <a:rPr lang="en"/>
              <a:t>Expand tree by </a:t>
            </a:r>
            <a:r>
              <a:rPr b="1" lang="en"/>
              <a:t>sampling n actions</a:t>
            </a:r>
            <a:r>
              <a:rPr lang="en"/>
              <a:t> from </a:t>
            </a:r>
            <a:r>
              <a:rPr lang="en"/>
              <a:t>language</a:t>
            </a:r>
            <a:r>
              <a:rPr lang="en"/>
              <a:t> model (</a:t>
            </a:r>
            <a:r>
              <a:rPr lang="en"/>
              <a:t>p_θ)</a:t>
            </a:r>
            <a:endParaRPr/>
          </a:p>
          <a:p>
            <a:pPr indent="-317500" lvl="1" marL="914400" rtl="0" algn="l">
              <a:spcBef>
                <a:spcPts val="0"/>
              </a:spcBef>
              <a:spcAft>
                <a:spcPts val="0"/>
              </a:spcAft>
              <a:buSzPts val="1400"/>
              <a:buChar char="○"/>
            </a:pPr>
            <a:r>
              <a:rPr lang="en"/>
              <a:t>Environment receives action and returns feedback as observation</a:t>
            </a:r>
            <a:endParaRPr/>
          </a:p>
          <a:p>
            <a:pPr indent="-317500" lvl="1" marL="914400" rtl="0" algn="l">
              <a:spcBef>
                <a:spcPts val="0"/>
              </a:spcBef>
              <a:spcAft>
                <a:spcPts val="0"/>
              </a:spcAft>
              <a:buSzPts val="1400"/>
              <a:buChar char="○"/>
            </a:pPr>
            <a:r>
              <a:rPr lang="en"/>
              <a:t>This results in n new child nodes added to the tree</a:t>
            </a:r>
            <a:endParaRPr/>
          </a:p>
          <a:p>
            <a:pPr indent="-317500" lvl="1" marL="914400" rtl="0" algn="l">
              <a:spcBef>
                <a:spcPts val="0"/>
              </a:spcBef>
              <a:spcAft>
                <a:spcPts val="0"/>
              </a:spcAft>
              <a:buSzPts val="1400"/>
              <a:buChar char="○"/>
            </a:pPr>
            <a:r>
              <a:rPr lang="en"/>
              <a:t>This tree is stored in an external long-term memory structure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LATS - Method Details</a:t>
            </a:r>
            <a:endParaRPr/>
          </a:p>
        </p:txBody>
      </p:sp>
      <p:pic>
        <p:nvPicPr>
          <p:cNvPr id="301" name="Google Shape;301;p50"/>
          <p:cNvPicPr preferRelativeResize="0"/>
          <p:nvPr/>
        </p:nvPicPr>
        <p:blipFill rotWithShape="1">
          <a:blip r:embed="rId3">
            <a:alphaModFix/>
          </a:blip>
          <a:srcRect b="23442" l="0" r="0" t="0"/>
          <a:stretch/>
        </p:blipFill>
        <p:spPr>
          <a:xfrm>
            <a:off x="346625" y="1017725"/>
            <a:ext cx="8520601" cy="2796800"/>
          </a:xfrm>
          <a:prstGeom prst="rect">
            <a:avLst/>
          </a:prstGeom>
          <a:noFill/>
          <a:ln>
            <a:noFill/>
          </a:ln>
        </p:spPr>
      </p:pic>
      <p:sp>
        <p:nvSpPr>
          <p:cNvPr id="302" name="Google Shape;302;p50"/>
          <p:cNvSpPr/>
          <p:nvPr/>
        </p:nvSpPr>
        <p:spPr>
          <a:xfrm>
            <a:off x="4117525" y="1017725"/>
            <a:ext cx="4714800" cy="27966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Proxima Nova"/>
              <a:buChar char="●"/>
            </a:pPr>
            <a:r>
              <a:rPr b="1" lang="en">
                <a:latin typeface="Proxima Nova"/>
                <a:ea typeface="Proxima Nova"/>
                <a:cs typeface="Proxima Nova"/>
                <a:sym typeface="Proxima Nova"/>
              </a:rPr>
              <a:t>Self Scoring:</a:t>
            </a:r>
            <a:r>
              <a:rPr lang="en">
                <a:latin typeface="Proxima Nova"/>
                <a:ea typeface="Proxima Nova"/>
                <a:cs typeface="Proxima Nova"/>
                <a:sym typeface="Proxima Nova"/>
              </a:rPr>
              <a:t> Ask LLM to end reasoning trace with score of correctness</a:t>
            </a:r>
            <a:endParaRPr>
              <a:latin typeface="Proxima Nova"/>
              <a:ea typeface="Proxima Nova"/>
              <a:cs typeface="Proxima Nova"/>
              <a:sym typeface="Proxima Nova"/>
            </a:endParaRPr>
          </a:p>
          <a:p>
            <a:pPr indent="-317500" lvl="1" marL="914400" rtl="0" algn="l">
              <a:spcBef>
                <a:spcPts val="0"/>
              </a:spcBef>
              <a:spcAft>
                <a:spcPts val="0"/>
              </a:spcAft>
              <a:buSzPts val="1400"/>
              <a:buFont typeface="Proxima Nova"/>
              <a:buChar char="○"/>
            </a:pPr>
            <a:r>
              <a:rPr lang="en">
                <a:latin typeface="Proxima Nova"/>
                <a:ea typeface="Proxima Nova"/>
                <a:cs typeface="Proxima Nova"/>
                <a:sym typeface="Proxima Nova"/>
              </a:rPr>
              <a:t>Different than ToT since value is obtained </a:t>
            </a:r>
            <a:r>
              <a:rPr b="1" lang="en">
                <a:latin typeface="Proxima Nova"/>
                <a:ea typeface="Proxima Nova"/>
                <a:cs typeface="Proxima Nova"/>
                <a:sym typeface="Proxima Nova"/>
              </a:rPr>
              <a:t>after</a:t>
            </a:r>
            <a:r>
              <a:rPr lang="en">
                <a:latin typeface="Proxima Nova"/>
                <a:ea typeface="Proxima Nova"/>
                <a:cs typeface="Proxima Nova"/>
                <a:sym typeface="Proxima Nova"/>
              </a:rPr>
              <a:t> </a:t>
            </a:r>
            <a:r>
              <a:rPr lang="en">
                <a:latin typeface="Proxima Nova"/>
                <a:ea typeface="Proxima Nova"/>
                <a:cs typeface="Proxima Nova"/>
                <a:sym typeface="Proxima Nova"/>
              </a:rPr>
              <a:t>environmental</a:t>
            </a:r>
            <a:r>
              <a:rPr lang="en">
                <a:latin typeface="Proxima Nova"/>
                <a:ea typeface="Proxima Nova"/>
                <a:cs typeface="Proxima Nova"/>
                <a:sym typeface="Proxima Nova"/>
              </a:rPr>
              <a:t> feedback</a:t>
            </a:r>
            <a:endParaRPr>
              <a:latin typeface="Proxima Nova"/>
              <a:ea typeface="Proxima Nova"/>
              <a:cs typeface="Proxima Nova"/>
              <a:sym typeface="Proxima Nova"/>
            </a:endParaRPr>
          </a:p>
          <a:p>
            <a:pPr indent="-317500" lvl="0" marL="457200" rtl="0" algn="l">
              <a:spcBef>
                <a:spcPts val="0"/>
              </a:spcBef>
              <a:spcAft>
                <a:spcPts val="0"/>
              </a:spcAft>
              <a:buSzPts val="1400"/>
              <a:buFont typeface="Proxima Nova"/>
              <a:buChar char="●"/>
            </a:pPr>
            <a:r>
              <a:rPr b="1" lang="en">
                <a:latin typeface="Proxima Nova"/>
                <a:ea typeface="Proxima Nova"/>
                <a:cs typeface="Proxima Nova"/>
                <a:sym typeface="Proxima Nova"/>
              </a:rPr>
              <a:t>Self Consistency</a:t>
            </a:r>
            <a:r>
              <a:rPr lang="en">
                <a:latin typeface="Proxima Nova"/>
                <a:ea typeface="Proxima Nova"/>
                <a:cs typeface="Proxima Nova"/>
                <a:sym typeface="Proxima Nova"/>
              </a:rPr>
              <a:t>: Sample actions at given state multiple times and vote</a:t>
            </a:r>
            <a:endParaRPr>
              <a:latin typeface="Proxima Nova"/>
              <a:ea typeface="Proxima Nova"/>
              <a:cs typeface="Proxima Nova"/>
              <a:sym typeface="Proxima Nova"/>
            </a:endParaRPr>
          </a:p>
          <a:p>
            <a:pPr indent="-317500" lvl="1" marL="914400" rtl="0" algn="l">
              <a:spcBef>
                <a:spcPts val="0"/>
              </a:spcBef>
              <a:spcAft>
                <a:spcPts val="0"/>
              </a:spcAft>
              <a:buSzPts val="1400"/>
              <a:buFont typeface="Proxima Nova"/>
              <a:buChar char="○"/>
            </a:pPr>
            <a:r>
              <a:t/>
            </a:r>
            <a:endParaRPr>
              <a:latin typeface="Proxima Nova"/>
              <a:ea typeface="Proxima Nova"/>
              <a:cs typeface="Proxima Nova"/>
              <a:sym typeface="Proxima Nova"/>
            </a:endParaRPr>
          </a:p>
        </p:txBody>
      </p:sp>
      <p:sp>
        <p:nvSpPr>
          <p:cNvPr id="303" name="Google Shape;303;p50"/>
          <p:cNvSpPr txBox="1"/>
          <p:nvPr>
            <p:ph idx="1" type="body"/>
          </p:nvPr>
        </p:nvSpPr>
        <p:spPr>
          <a:xfrm>
            <a:off x="311700" y="3861150"/>
            <a:ext cx="8520600" cy="12825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b="1" lang="en"/>
              <a:t>Evaluation</a:t>
            </a:r>
            <a:r>
              <a:rPr lang="en"/>
              <a:t>: </a:t>
            </a:r>
            <a:endParaRPr/>
          </a:p>
          <a:p>
            <a:pPr indent="-317500" lvl="1" marL="914400" rtl="0" algn="l">
              <a:spcBef>
                <a:spcPts val="0"/>
              </a:spcBef>
              <a:spcAft>
                <a:spcPts val="0"/>
              </a:spcAft>
              <a:buSzPts val="1400"/>
              <a:buChar char="○"/>
            </a:pPr>
            <a:r>
              <a:rPr lang="en"/>
              <a:t>Assign scalar value to each child for selection/backprop</a:t>
            </a:r>
            <a:endParaRPr/>
          </a:p>
          <a:p>
            <a:pPr indent="-317500" lvl="1" marL="914400" rtl="0" algn="l">
              <a:spcBef>
                <a:spcPts val="0"/>
              </a:spcBef>
              <a:spcAft>
                <a:spcPts val="0"/>
              </a:spcAft>
              <a:buSzPts val="1400"/>
              <a:buChar char="○"/>
            </a:pPr>
            <a:r>
              <a:rPr lang="en"/>
              <a:t>LATS does not involve training: novel value function based on</a:t>
            </a:r>
            <a:endParaRPr/>
          </a:p>
          <a:p>
            <a:pPr indent="-317500" lvl="2" marL="1371600" rtl="0" algn="l">
              <a:spcBef>
                <a:spcPts val="0"/>
              </a:spcBef>
              <a:spcAft>
                <a:spcPts val="0"/>
              </a:spcAft>
              <a:buSzPts val="1400"/>
              <a:buChar char="■"/>
            </a:pPr>
            <a:r>
              <a:rPr lang="en"/>
              <a:t>self-generated LM score</a:t>
            </a:r>
            <a:endParaRPr/>
          </a:p>
          <a:p>
            <a:pPr indent="-317500" lvl="2" marL="1371600" rtl="0" algn="l">
              <a:spcBef>
                <a:spcPts val="0"/>
              </a:spcBef>
              <a:spcAft>
                <a:spcPts val="0"/>
              </a:spcAft>
              <a:buSzPts val="1400"/>
              <a:buChar char="■"/>
            </a:pPr>
            <a:r>
              <a:rPr lang="en"/>
              <a:t>self-consistency score</a:t>
            </a:r>
            <a:endParaRPr/>
          </a:p>
        </p:txBody>
      </p:sp>
      <p:pic>
        <p:nvPicPr>
          <p:cNvPr id="304" name="Google Shape;304;p50"/>
          <p:cNvPicPr preferRelativeResize="0"/>
          <p:nvPr/>
        </p:nvPicPr>
        <p:blipFill rotWithShape="1">
          <a:blip r:embed="rId4">
            <a:alphaModFix/>
          </a:blip>
          <a:srcRect b="0" l="0" r="3260" t="0"/>
          <a:stretch/>
        </p:blipFill>
        <p:spPr>
          <a:xfrm>
            <a:off x="4913200" y="2379200"/>
            <a:ext cx="2677301" cy="2767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LATS - Method Details</a:t>
            </a:r>
            <a:endParaRPr/>
          </a:p>
        </p:txBody>
      </p:sp>
      <p:pic>
        <p:nvPicPr>
          <p:cNvPr id="310" name="Google Shape;310;p51"/>
          <p:cNvPicPr preferRelativeResize="0"/>
          <p:nvPr/>
        </p:nvPicPr>
        <p:blipFill rotWithShape="1">
          <a:blip r:embed="rId3">
            <a:alphaModFix/>
          </a:blip>
          <a:srcRect b="23442" l="0" r="0" t="0"/>
          <a:stretch/>
        </p:blipFill>
        <p:spPr>
          <a:xfrm>
            <a:off x="346625" y="1017725"/>
            <a:ext cx="8520601" cy="2796800"/>
          </a:xfrm>
          <a:prstGeom prst="rect">
            <a:avLst/>
          </a:prstGeom>
          <a:noFill/>
          <a:ln>
            <a:noFill/>
          </a:ln>
        </p:spPr>
      </p:pic>
      <p:sp>
        <p:nvSpPr>
          <p:cNvPr id="311" name="Google Shape;311;p51"/>
          <p:cNvSpPr/>
          <p:nvPr/>
        </p:nvSpPr>
        <p:spPr>
          <a:xfrm>
            <a:off x="5717925" y="1017725"/>
            <a:ext cx="3114300" cy="2796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312" name="Google Shape;312;p51"/>
          <p:cNvSpPr txBox="1"/>
          <p:nvPr>
            <p:ph idx="1" type="body"/>
          </p:nvPr>
        </p:nvSpPr>
        <p:spPr>
          <a:xfrm>
            <a:off x="311700" y="3861150"/>
            <a:ext cx="8520600" cy="1282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Simulation</a:t>
            </a:r>
            <a:r>
              <a:rPr lang="en"/>
              <a:t>: </a:t>
            </a:r>
            <a:endParaRPr/>
          </a:p>
          <a:p>
            <a:pPr indent="-317500" lvl="1" marL="914400" rtl="0" algn="l">
              <a:spcBef>
                <a:spcPts val="0"/>
              </a:spcBef>
              <a:spcAft>
                <a:spcPts val="0"/>
              </a:spcAft>
              <a:buSzPts val="1400"/>
              <a:buChar char="○"/>
            </a:pPr>
            <a:r>
              <a:rPr lang="en"/>
              <a:t>Repeat expansion/evaluation and prioritize highest value nodes</a:t>
            </a:r>
            <a:endParaRPr/>
          </a:p>
          <a:p>
            <a:pPr indent="-317500" lvl="1" marL="914400" rtl="0" algn="l">
              <a:spcBef>
                <a:spcPts val="0"/>
              </a:spcBef>
              <a:spcAft>
                <a:spcPts val="0"/>
              </a:spcAft>
              <a:buSzPts val="1400"/>
              <a:buChar char="○"/>
            </a:pPr>
            <a:r>
              <a:rPr lang="en"/>
              <a:t>Terminal state gives objective feedback on correctness** </a:t>
            </a:r>
            <a:endParaRPr/>
          </a:p>
          <a:p>
            <a:pPr indent="-317500" lvl="1" marL="914400" rtl="0" algn="l">
              <a:spcBef>
                <a:spcPts val="0"/>
              </a:spcBef>
              <a:spcAft>
                <a:spcPts val="0"/>
              </a:spcAft>
              <a:buSzPts val="1400"/>
              <a:buChar char="○"/>
            </a:pPr>
            <a:r>
              <a:rPr lang="en"/>
              <a:t>Success is determined by environment (i.e. </a:t>
            </a:r>
            <a:r>
              <a:rPr lang="en"/>
              <a:t>buying from Amazon, </a:t>
            </a:r>
            <a:r>
              <a:rPr lang="en"/>
              <a:t>booking flight, etc.)</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LATS - Method Details</a:t>
            </a:r>
            <a:endParaRPr/>
          </a:p>
        </p:txBody>
      </p:sp>
      <p:pic>
        <p:nvPicPr>
          <p:cNvPr id="318" name="Google Shape;318;p52"/>
          <p:cNvPicPr preferRelativeResize="0"/>
          <p:nvPr/>
        </p:nvPicPr>
        <p:blipFill rotWithShape="1">
          <a:blip r:embed="rId3">
            <a:alphaModFix/>
          </a:blip>
          <a:srcRect b="23442" l="0" r="0" t="0"/>
          <a:stretch/>
        </p:blipFill>
        <p:spPr>
          <a:xfrm>
            <a:off x="346625" y="1017725"/>
            <a:ext cx="8520601" cy="2796800"/>
          </a:xfrm>
          <a:prstGeom prst="rect">
            <a:avLst/>
          </a:prstGeom>
          <a:noFill/>
          <a:ln>
            <a:noFill/>
          </a:ln>
        </p:spPr>
      </p:pic>
      <p:sp>
        <p:nvSpPr>
          <p:cNvPr id="319" name="Google Shape;319;p52"/>
          <p:cNvSpPr/>
          <p:nvPr/>
        </p:nvSpPr>
        <p:spPr>
          <a:xfrm>
            <a:off x="7652375" y="1017725"/>
            <a:ext cx="1179900" cy="2796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320" name="Google Shape;320;p52"/>
          <p:cNvSpPr txBox="1"/>
          <p:nvPr>
            <p:ph idx="1" type="body"/>
          </p:nvPr>
        </p:nvSpPr>
        <p:spPr>
          <a:xfrm>
            <a:off x="311700" y="3861150"/>
            <a:ext cx="8520600" cy="1282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Backpropagation</a:t>
            </a:r>
            <a:r>
              <a:rPr lang="en"/>
              <a:t>: </a:t>
            </a:r>
            <a:endParaRPr/>
          </a:p>
          <a:p>
            <a:pPr indent="-317500" lvl="1" marL="914400" rtl="0" algn="l">
              <a:spcBef>
                <a:spcPts val="0"/>
              </a:spcBef>
              <a:spcAft>
                <a:spcPts val="0"/>
              </a:spcAft>
              <a:buSzPts val="1400"/>
              <a:buChar char="○"/>
            </a:pPr>
            <a:r>
              <a:rPr lang="en"/>
              <a:t>Update values V(s) of tree based on trajectory outcome</a:t>
            </a:r>
            <a:endParaRPr/>
          </a:p>
          <a:p>
            <a:pPr indent="-317500" lvl="1" marL="914400" rtl="0" algn="l">
              <a:spcBef>
                <a:spcPts val="0"/>
              </a:spcBef>
              <a:spcAft>
                <a:spcPts val="0"/>
              </a:spcAft>
              <a:buSzPts val="1400"/>
              <a:buChar char="○"/>
            </a:pPr>
            <a:r>
              <a:rPr lang="en"/>
              <a:t>For each node, update value based on N(s_i) = N(si_1) + 1 and </a:t>
            </a:r>
            <a:endParaRPr/>
          </a:p>
          <a:p>
            <a:pPr indent="-317500" lvl="1" marL="914400" rtl="0" algn="l">
              <a:spcBef>
                <a:spcPts val="0"/>
              </a:spcBef>
              <a:spcAft>
                <a:spcPts val="0"/>
              </a:spcAft>
              <a:buSzPts val="1400"/>
              <a:buChar char="○"/>
            </a:pPr>
            <a:r>
              <a:rPr lang="en"/>
              <a:t>New values used in UCT for selection of next node</a:t>
            </a:r>
            <a:endParaRPr/>
          </a:p>
        </p:txBody>
      </p:sp>
      <p:pic>
        <p:nvPicPr>
          <p:cNvPr id="321" name="Google Shape;321;p52"/>
          <p:cNvPicPr preferRelativeResize="0"/>
          <p:nvPr/>
        </p:nvPicPr>
        <p:blipFill>
          <a:blip r:embed="rId4">
            <a:alphaModFix/>
          </a:blip>
          <a:stretch>
            <a:fillRect/>
          </a:stretch>
        </p:blipFill>
        <p:spPr>
          <a:xfrm>
            <a:off x="6087500" y="4461200"/>
            <a:ext cx="2130676" cy="3440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LATS - Method Details</a:t>
            </a:r>
            <a:endParaRPr/>
          </a:p>
        </p:txBody>
      </p:sp>
      <p:pic>
        <p:nvPicPr>
          <p:cNvPr id="327" name="Google Shape;327;p53"/>
          <p:cNvPicPr preferRelativeResize="0"/>
          <p:nvPr/>
        </p:nvPicPr>
        <p:blipFill rotWithShape="1">
          <a:blip r:embed="rId3">
            <a:alphaModFix/>
          </a:blip>
          <a:srcRect b="23442" l="0" r="0" t="0"/>
          <a:stretch/>
        </p:blipFill>
        <p:spPr>
          <a:xfrm>
            <a:off x="346625" y="1017725"/>
            <a:ext cx="8520601" cy="2796800"/>
          </a:xfrm>
          <a:prstGeom prst="rect">
            <a:avLst/>
          </a:prstGeom>
          <a:noFill/>
          <a:ln>
            <a:noFill/>
          </a:ln>
        </p:spPr>
      </p:pic>
      <p:sp>
        <p:nvSpPr>
          <p:cNvPr id="328" name="Google Shape;328;p53"/>
          <p:cNvSpPr txBox="1"/>
          <p:nvPr>
            <p:ph idx="1" type="body"/>
          </p:nvPr>
        </p:nvSpPr>
        <p:spPr>
          <a:xfrm>
            <a:off x="311700" y="3861150"/>
            <a:ext cx="8520600" cy="12825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b="1" lang="en"/>
              <a:t>Reflection</a:t>
            </a:r>
            <a:r>
              <a:rPr lang="en"/>
              <a:t>:</a:t>
            </a:r>
            <a:endParaRPr/>
          </a:p>
          <a:p>
            <a:pPr indent="-317500" lvl="1" marL="914400" rtl="0" algn="l">
              <a:spcBef>
                <a:spcPts val="0"/>
              </a:spcBef>
              <a:spcAft>
                <a:spcPts val="0"/>
              </a:spcAft>
              <a:buSzPts val="1400"/>
              <a:buChar char="○"/>
            </a:pPr>
            <a:r>
              <a:rPr lang="en"/>
              <a:t>When unsuccessful terminal node reached, prompt LLM with trajectory and final reward to self-reflect by summarizing errors in reasoning.</a:t>
            </a:r>
            <a:endParaRPr/>
          </a:p>
          <a:p>
            <a:pPr indent="-317500" lvl="1" marL="914400" rtl="0" algn="l">
              <a:spcBef>
                <a:spcPts val="0"/>
              </a:spcBef>
              <a:spcAft>
                <a:spcPts val="0"/>
              </a:spcAft>
              <a:buSzPts val="1400"/>
              <a:buChar char="○"/>
            </a:pPr>
            <a:r>
              <a:rPr lang="en"/>
              <a:t>Store failed trajectories and reflection in memory component</a:t>
            </a:r>
            <a:endParaRPr/>
          </a:p>
          <a:p>
            <a:pPr indent="-317500" lvl="1" marL="914400" rtl="0" algn="l">
              <a:spcBef>
                <a:spcPts val="0"/>
              </a:spcBef>
              <a:spcAft>
                <a:spcPts val="0"/>
              </a:spcAft>
              <a:buSzPts val="1400"/>
              <a:buChar char="○"/>
            </a:pPr>
            <a:r>
              <a:rPr lang="en"/>
              <a:t>Integrate in future ICL examples for agent to sidestep need for reinforcement learning</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LATS - Reflexion</a:t>
            </a:r>
            <a:endParaRPr/>
          </a:p>
        </p:txBody>
      </p:sp>
      <p:sp>
        <p:nvSpPr>
          <p:cNvPr id="334" name="Google Shape;334;p54"/>
          <p:cNvSpPr txBox="1"/>
          <p:nvPr>
            <p:ph idx="1" type="body"/>
          </p:nvPr>
        </p:nvSpPr>
        <p:spPr>
          <a:xfrm>
            <a:off x="311700" y="3861150"/>
            <a:ext cx="8520600" cy="12825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b="1" lang="en"/>
              <a:t>Reflection</a:t>
            </a:r>
            <a:r>
              <a:rPr lang="en"/>
              <a:t>:</a:t>
            </a:r>
            <a:endParaRPr/>
          </a:p>
          <a:p>
            <a:pPr indent="-317500" lvl="1" marL="914400" rtl="0" algn="l">
              <a:spcBef>
                <a:spcPts val="0"/>
              </a:spcBef>
              <a:spcAft>
                <a:spcPts val="0"/>
              </a:spcAft>
              <a:buSzPts val="1400"/>
              <a:buChar char="○"/>
            </a:pPr>
            <a:r>
              <a:rPr lang="en"/>
              <a:t>When unsuccessful terminal node reached, prompt LLM with trajectory and final reward to self-reflect by summarizing errors in reasoning.</a:t>
            </a:r>
            <a:endParaRPr/>
          </a:p>
          <a:p>
            <a:pPr indent="-317500" lvl="1" marL="914400" rtl="0" algn="l">
              <a:spcBef>
                <a:spcPts val="0"/>
              </a:spcBef>
              <a:spcAft>
                <a:spcPts val="0"/>
              </a:spcAft>
              <a:buSzPts val="1400"/>
              <a:buChar char="○"/>
            </a:pPr>
            <a:r>
              <a:rPr lang="en"/>
              <a:t>Store failed trajectories and reflection in memory component</a:t>
            </a:r>
            <a:endParaRPr/>
          </a:p>
          <a:p>
            <a:pPr indent="-317500" lvl="1" marL="914400" rtl="0" algn="l">
              <a:spcBef>
                <a:spcPts val="0"/>
              </a:spcBef>
              <a:spcAft>
                <a:spcPts val="0"/>
              </a:spcAft>
              <a:buSzPts val="1400"/>
              <a:buChar char="○"/>
            </a:pPr>
            <a:r>
              <a:rPr lang="en"/>
              <a:t>Integrate in future ICL examples for agent to sidestep need for reinforcement learning</a:t>
            </a:r>
            <a:endParaRPr/>
          </a:p>
        </p:txBody>
      </p:sp>
      <p:pic>
        <p:nvPicPr>
          <p:cNvPr id="335" name="Google Shape;335;p54"/>
          <p:cNvPicPr preferRelativeResize="0"/>
          <p:nvPr/>
        </p:nvPicPr>
        <p:blipFill>
          <a:blip r:embed="rId3">
            <a:alphaModFix/>
          </a:blip>
          <a:stretch>
            <a:fillRect/>
          </a:stretch>
        </p:blipFill>
        <p:spPr>
          <a:xfrm>
            <a:off x="749100" y="960375"/>
            <a:ext cx="7645798" cy="2900774"/>
          </a:xfrm>
          <a:prstGeom prst="rect">
            <a:avLst/>
          </a:prstGeom>
          <a:noFill/>
          <a:ln>
            <a:noFill/>
          </a:ln>
        </p:spPr>
      </p:pic>
      <p:sp>
        <p:nvSpPr>
          <p:cNvPr id="336" name="Google Shape;336;p54"/>
          <p:cNvSpPr txBox="1"/>
          <p:nvPr/>
        </p:nvSpPr>
        <p:spPr>
          <a:xfrm>
            <a:off x="7590200" y="3775675"/>
            <a:ext cx="738000" cy="276900"/>
          </a:xfrm>
          <a:prstGeom prst="rect">
            <a:avLst/>
          </a:prstGeom>
          <a:noFill/>
          <a:ln>
            <a:noFill/>
          </a:ln>
        </p:spPr>
        <p:txBody>
          <a:bodyPr anchorCtr="0" anchor="t" bIns="91425" lIns="91425" spcFirstLastPara="1" rIns="91425" wrap="square" tIns="91425">
            <a:normAutofit fontScale="92500"/>
          </a:bodyPr>
          <a:lstStyle/>
          <a:p>
            <a:pPr indent="0" lvl="0" marL="0" rtl="0" algn="ctr">
              <a:spcBef>
                <a:spcPts val="0"/>
              </a:spcBef>
              <a:spcAft>
                <a:spcPts val="0"/>
              </a:spcAft>
              <a:buNone/>
            </a:pPr>
            <a:r>
              <a:rPr lang="en" sz="600"/>
              <a:t>Shinn et al. 2023</a:t>
            </a:r>
            <a:endParaRPr sz="6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HotpotQA:</a:t>
            </a:r>
            <a:endParaRPr/>
          </a:p>
          <a:p>
            <a:pPr indent="-317500" lvl="1" marL="914400" rtl="0" algn="l">
              <a:spcBef>
                <a:spcPts val="0"/>
              </a:spcBef>
              <a:spcAft>
                <a:spcPts val="0"/>
              </a:spcAft>
              <a:buSzPts val="1400"/>
              <a:buChar char="○"/>
            </a:pPr>
            <a:r>
              <a:rPr lang="en"/>
              <a:t>Multi-hop question-answering benchmark requiring retrieval 2+ Wikipedia passages</a:t>
            </a:r>
            <a:endParaRPr/>
          </a:p>
          <a:p>
            <a:pPr indent="-342900" lvl="0" marL="457200" rtl="0" algn="l">
              <a:spcBef>
                <a:spcPts val="0"/>
              </a:spcBef>
              <a:spcAft>
                <a:spcPts val="0"/>
              </a:spcAft>
              <a:buSzPts val="1800"/>
              <a:buChar char="●"/>
            </a:pPr>
            <a:r>
              <a:rPr lang="en"/>
              <a:t>Programming:</a:t>
            </a:r>
            <a:endParaRPr/>
          </a:p>
          <a:p>
            <a:pPr indent="-317500" lvl="1" marL="914400" rtl="0" algn="l">
              <a:spcBef>
                <a:spcPts val="0"/>
              </a:spcBef>
              <a:spcAft>
                <a:spcPts val="0"/>
              </a:spcAft>
              <a:buSzPts val="1400"/>
              <a:buChar char="○"/>
            </a:pPr>
            <a:r>
              <a:rPr lang="en"/>
              <a:t>HumanEval, MBPP (Mostly Basic Python Problems)</a:t>
            </a:r>
            <a:endParaRPr/>
          </a:p>
          <a:p>
            <a:pPr indent="-317500" lvl="1" marL="914400" rtl="0" algn="l">
              <a:spcBef>
                <a:spcPts val="0"/>
              </a:spcBef>
              <a:spcAft>
                <a:spcPts val="0"/>
              </a:spcAft>
              <a:buSzPts val="1400"/>
              <a:buChar char="○"/>
            </a:pPr>
            <a:r>
              <a:rPr lang="en"/>
              <a:t>Correctness of synthesized programs in Python from natural language docstrings</a:t>
            </a:r>
            <a:endParaRPr/>
          </a:p>
          <a:p>
            <a:pPr indent="-342900" lvl="0" marL="457200" rtl="0" algn="l">
              <a:spcBef>
                <a:spcPts val="0"/>
              </a:spcBef>
              <a:spcAft>
                <a:spcPts val="0"/>
              </a:spcAft>
              <a:buSzPts val="1800"/>
              <a:buChar char="●"/>
            </a:pPr>
            <a:r>
              <a:rPr lang="en"/>
              <a:t>WebShop:</a:t>
            </a:r>
            <a:endParaRPr/>
          </a:p>
          <a:p>
            <a:pPr indent="-317500" lvl="1" marL="914400" rtl="0" algn="l">
              <a:spcBef>
                <a:spcPts val="0"/>
              </a:spcBef>
              <a:spcAft>
                <a:spcPts val="0"/>
              </a:spcAft>
              <a:buSzPts val="1400"/>
              <a:buChar char="○"/>
            </a:pPr>
            <a:r>
              <a:rPr lang="en"/>
              <a:t>Online shopping environment with 1.18M real-world products and 12k human instructions</a:t>
            </a:r>
            <a:endParaRPr/>
          </a:p>
          <a:p>
            <a:pPr indent="-317500" lvl="1" marL="914400" rtl="0" algn="l">
              <a:spcBef>
                <a:spcPts val="0"/>
              </a:spcBef>
              <a:spcAft>
                <a:spcPts val="0"/>
              </a:spcAft>
              <a:buSzPts val="1400"/>
              <a:buChar char="○"/>
            </a:pPr>
            <a:r>
              <a:rPr lang="en"/>
              <a:t>Navigate a website via commands to purchase an item matching user specification</a:t>
            </a:r>
            <a:endParaRPr/>
          </a:p>
          <a:p>
            <a:pPr indent="-342900" lvl="0" marL="457200" rtl="0" algn="l">
              <a:spcBef>
                <a:spcPts val="0"/>
              </a:spcBef>
              <a:spcAft>
                <a:spcPts val="0"/>
              </a:spcAft>
              <a:buSzPts val="1800"/>
              <a:buChar char="●"/>
            </a:pPr>
            <a:r>
              <a:rPr lang="en"/>
              <a:t>Game of 24:</a:t>
            </a:r>
            <a:endParaRPr/>
          </a:p>
          <a:p>
            <a:pPr indent="-317500" lvl="1" marL="914400" rtl="0" algn="l">
              <a:spcBef>
                <a:spcPts val="0"/>
              </a:spcBef>
              <a:spcAft>
                <a:spcPts val="0"/>
              </a:spcAft>
              <a:buSzPts val="1400"/>
              <a:buChar char="○"/>
            </a:pPr>
            <a:r>
              <a:rPr lang="en"/>
              <a:t>Construct 24 out of a set of numbers and basic operations</a:t>
            </a:r>
            <a:endParaRPr/>
          </a:p>
        </p:txBody>
      </p:sp>
      <p:sp>
        <p:nvSpPr>
          <p:cNvPr id="342" name="Google Shape;342;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LATS - Experimental Setup</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LATS - Results (HotpotQA)</a:t>
            </a:r>
            <a:endParaRPr/>
          </a:p>
        </p:txBody>
      </p:sp>
      <p:sp>
        <p:nvSpPr>
          <p:cNvPr id="348" name="Google Shape;348;p56"/>
          <p:cNvSpPr txBox="1"/>
          <p:nvPr>
            <p:ph idx="1" type="body"/>
          </p:nvPr>
        </p:nvSpPr>
        <p:spPr>
          <a:xfrm>
            <a:off x="311700" y="3884450"/>
            <a:ext cx="8520600" cy="684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LATS outperforms all baselines on reasoning/action HotpotQA</a:t>
            </a:r>
            <a:endParaRPr/>
          </a:p>
        </p:txBody>
      </p:sp>
      <p:pic>
        <p:nvPicPr>
          <p:cNvPr id="349" name="Google Shape;349;p56"/>
          <p:cNvPicPr preferRelativeResize="0"/>
          <p:nvPr/>
        </p:nvPicPr>
        <p:blipFill rotWithShape="1">
          <a:blip r:embed="rId3">
            <a:alphaModFix/>
          </a:blip>
          <a:srcRect b="40259" l="7023" r="8259" t="0"/>
          <a:stretch/>
        </p:blipFill>
        <p:spPr>
          <a:xfrm>
            <a:off x="4777225" y="1017725"/>
            <a:ext cx="3969599" cy="2659912"/>
          </a:xfrm>
          <a:prstGeom prst="rect">
            <a:avLst/>
          </a:prstGeom>
          <a:noFill/>
          <a:ln>
            <a:noFill/>
          </a:ln>
        </p:spPr>
      </p:pic>
      <p:pic>
        <p:nvPicPr>
          <p:cNvPr id="350" name="Google Shape;350;p56"/>
          <p:cNvPicPr preferRelativeResize="0"/>
          <p:nvPr/>
        </p:nvPicPr>
        <p:blipFill rotWithShape="1">
          <a:blip r:embed="rId4">
            <a:alphaModFix/>
          </a:blip>
          <a:srcRect b="26210" l="8810" r="7995" t="0"/>
          <a:stretch/>
        </p:blipFill>
        <p:spPr>
          <a:xfrm>
            <a:off x="311700" y="1202263"/>
            <a:ext cx="4109751" cy="22908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LATS - Results (Programming)</a:t>
            </a:r>
            <a:endParaRPr/>
          </a:p>
        </p:txBody>
      </p:sp>
      <p:pic>
        <p:nvPicPr>
          <p:cNvPr id="356" name="Google Shape;356;p57"/>
          <p:cNvPicPr preferRelativeResize="0"/>
          <p:nvPr/>
        </p:nvPicPr>
        <p:blipFill>
          <a:blip r:embed="rId3">
            <a:alphaModFix/>
          </a:blip>
          <a:stretch>
            <a:fillRect/>
          </a:stretch>
        </p:blipFill>
        <p:spPr>
          <a:xfrm>
            <a:off x="203000" y="1345825"/>
            <a:ext cx="3787154" cy="2962924"/>
          </a:xfrm>
          <a:prstGeom prst="rect">
            <a:avLst/>
          </a:prstGeom>
          <a:noFill/>
          <a:ln>
            <a:noFill/>
          </a:ln>
        </p:spPr>
      </p:pic>
      <p:pic>
        <p:nvPicPr>
          <p:cNvPr id="357" name="Google Shape;357;p57"/>
          <p:cNvPicPr preferRelativeResize="0"/>
          <p:nvPr/>
        </p:nvPicPr>
        <p:blipFill>
          <a:blip r:embed="rId4">
            <a:alphaModFix/>
          </a:blip>
          <a:stretch>
            <a:fillRect/>
          </a:stretch>
        </p:blipFill>
        <p:spPr>
          <a:xfrm>
            <a:off x="4159118" y="1345825"/>
            <a:ext cx="4781881" cy="29629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LATS - Results (WebShop)</a:t>
            </a:r>
            <a:endParaRPr/>
          </a:p>
        </p:txBody>
      </p:sp>
      <p:pic>
        <p:nvPicPr>
          <p:cNvPr id="363" name="Google Shape;363;p58"/>
          <p:cNvPicPr preferRelativeResize="0"/>
          <p:nvPr/>
        </p:nvPicPr>
        <p:blipFill>
          <a:blip r:embed="rId3">
            <a:alphaModFix/>
          </a:blip>
          <a:stretch>
            <a:fillRect/>
          </a:stretch>
        </p:blipFill>
        <p:spPr>
          <a:xfrm>
            <a:off x="2072813" y="1092425"/>
            <a:ext cx="4998376" cy="38612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LATS - Results (Game of 24)</a:t>
            </a:r>
            <a:endParaRPr/>
          </a:p>
        </p:txBody>
      </p:sp>
      <p:pic>
        <p:nvPicPr>
          <p:cNvPr id="369" name="Google Shape;369;p59"/>
          <p:cNvPicPr preferRelativeResize="0"/>
          <p:nvPr/>
        </p:nvPicPr>
        <p:blipFill>
          <a:blip r:embed="rId3">
            <a:alphaModFix/>
          </a:blip>
          <a:stretch>
            <a:fillRect/>
          </a:stretch>
        </p:blipFill>
        <p:spPr>
          <a:xfrm>
            <a:off x="1059450" y="1177875"/>
            <a:ext cx="7025100" cy="33824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LATS - Strengths/Weaknesses</a:t>
            </a:r>
            <a:endParaRPr/>
          </a:p>
        </p:txBody>
      </p:sp>
      <p:sp>
        <p:nvSpPr>
          <p:cNvPr id="375" name="Google Shape;375;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Contributions</a:t>
            </a:r>
            <a:endParaRPr/>
          </a:p>
          <a:p>
            <a:pPr indent="-317500" lvl="1" marL="914400" rtl="0" algn="l">
              <a:spcBef>
                <a:spcPts val="0"/>
              </a:spcBef>
              <a:spcAft>
                <a:spcPts val="0"/>
              </a:spcAft>
              <a:buSzPts val="1400"/>
              <a:buChar char="○"/>
            </a:pPr>
            <a:r>
              <a:rPr b="1" lang="en"/>
              <a:t>Generality</a:t>
            </a:r>
            <a:r>
              <a:rPr lang="en"/>
              <a:t>: Supports both reasoning-only and interactive decision-making tasks</a:t>
            </a:r>
            <a:endParaRPr/>
          </a:p>
          <a:p>
            <a:pPr indent="-317500" lvl="1" marL="914400" rtl="0" algn="l">
              <a:spcBef>
                <a:spcPts val="0"/>
              </a:spcBef>
              <a:spcAft>
                <a:spcPts val="0"/>
              </a:spcAft>
              <a:buSzPts val="1400"/>
              <a:buChar char="○"/>
            </a:pPr>
            <a:r>
              <a:rPr b="1" lang="en"/>
              <a:t>Deliberation</a:t>
            </a:r>
            <a:r>
              <a:rPr lang="en"/>
              <a:t>: Uses MCTS to systematically balance exploration and exploitation</a:t>
            </a:r>
            <a:endParaRPr/>
          </a:p>
          <a:p>
            <a:pPr indent="-317500" lvl="1" marL="914400" rtl="0" algn="l">
              <a:spcBef>
                <a:spcPts val="0"/>
              </a:spcBef>
              <a:spcAft>
                <a:spcPts val="0"/>
              </a:spcAft>
              <a:buSzPts val="1400"/>
              <a:buChar char="○"/>
            </a:pPr>
            <a:r>
              <a:rPr b="1" lang="en"/>
              <a:t>Adaptability</a:t>
            </a:r>
            <a:r>
              <a:rPr lang="en"/>
              <a:t>: Incorporates external feedback and self-reflection to refine search</a:t>
            </a:r>
            <a:endParaRPr/>
          </a:p>
          <a:p>
            <a:pPr indent="-317500" lvl="1" marL="914400" rtl="0" algn="l">
              <a:spcBef>
                <a:spcPts val="0"/>
              </a:spcBef>
              <a:spcAft>
                <a:spcPts val="0"/>
              </a:spcAft>
              <a:buSzPts val="1400"/>
              <a:buChar char="○"/>
            </a:pPr>
            <a:r>
              <a:rPr b="1" lang="en"/>
              <a:t>Efficiency</a:t>
            </a:r>
            <a:r>
              <a:rPr lang="en"/>
              <a:t>: Outperforms alternatives with on average less nodes/state expansion</a:t>
            </a:r>
            <a:endParaRPr/>
          </a:p>
          <a:p>
            <a:pPr indent="-342900" lvl="0" marL="457200" rtl="0" algn="l">
              <a:spcBef>
                <a:spcPts val="0"/>
              </a:spcBef>
              <a:spcAft>
                <a:spcPts val="0"/>
              </a:spcAft>
              <a:buSzPts val="1800"/>
              <a:buChar char="●"/>
            </a:pPr>
            <a:r>
              <a:rPr lang="en"/>
              <a:t>Limitations</a:t>
            </a:r>
            <a:endParaRPr/>
          </a:p>
          <a:p>
            <a:pPr indent="-317500" lvl="1" marL="914400" rtl="0" algn="l">
              <a:spcBef>
                <a:spcPts val="0"/>
              </a:spcBef>
              <a:spcAft>
                <a:spcPts val="0"/>
              </a:spcAft>
              <a:buSzPts val="1400"/>
              <a:buChar char="○"/>
            </a:pPr>
            <a:r>
              <a:rPr lang="en"/>
              <a:t>Higher computational cost than simpler methods like ReAct/Reflexion</a:t>
            </a:r>
            <a:endParaRPr/>
          </a:p>
          <a:p>
            <a:pPr indent="-317500" lvl="1" marL="914400" rtl="0" algn="l">
              <a:spcBef>
                <a:spcPts val="0"/>
              </a:spcBef>
              <a:spcAft>
                <a:spcPts val="0"/>
              </a:spcAft>
              <a:buSzPts val="1400"/>
              <a:buChar char="○"/>
            </a:pPr>
            <a:r>
              <a:rPr lang="en"/>
              <a:t>Assumes reversible states in the environment — not universally applicable</a:t>
            </a:r>
            <a:endParaRPr/>
          </a:p>
          <a:p>
            <a:pPr indent="-342900" lvl="0" marL="457200" rtl="0" algn="l">
              <a:spcBef>
                <a:spcPts val="0"/>
              </a:spcBef>
              <a:spcAft>
                <a:spcPts val="0"/>
              </a:spcAft>
              <a:buSzPts val="1800"/>
              <a:buChar char="●"/>
            </a:pPr>
            <a:r>
              <a:rPr lang="en"/>
              <a:t>Future Work</a:t>
            </a:r>
            <a:endParaRPr/>
          </a:p>
          <a:p>
            <a:pPr indent="-317500" lvl="1" marL="914400" rtl="0" algn="l">
              <a:spcBef>
                <a:spcPts val="0"/>
              </a:spcBef>
              <a:spcAft>
                <a:spcPts val="0"/>
              </a:spcAft>
              <a:buSzPts val="1400"/>
              <a:buChar char="○"/>
            </a:pPr>
            <a:r>
              <a:rPr lang="en"/>
              <a:t>Multi-agent LATS</a:t>
            </a:r>
            <a:endParaRPr/>
          </a:p>
          <a:p>
            <a:pPr indent="-317500" lvl="1" marL="914400" rtl="0" algn="l">
              <a:spcBef>
                <a:spcPts val="0"/>
              </a:spcBef>
              <a:spcAft>
                <a:spcPts val="0"/>
              </a:spcAft>
              <a:buSzPts val="1400"/>
              <a:buChar char="○"/>
            </a:pPr>
            <a:r>
              <a:rPr lang="en"/>
              <a:t>Reduce inference token consumption/computation cost</a:t>
            </a:r>
            <a:endParaRPr/>
          </a:p>
          <a:p>
            <a:pPr indent="-317500" lvl="1" marL="914400" rtl="0" algn="l">
              <a:spcBef>
                <a:spcPts val="0"/>
              </a:spcBef>
              <a:spcAft>
                <a:spcPts val="0"/>
              </a:spcAft>
              <a:buSzPts val="1400"/>
              <a:buChar char="○"/>
            </a:pPr>
            <a:r>
              <a:rPr lang="en"/>
              <a:t>Richer external feedback (multi-modal, etc.)</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9" name="Shape 379"/>
        <p:cNvGrpSpPr/>
        <p:nvPr/>
      </p:nvGrpSpPr>
      <p:grpSpPr>
        <a:xfrm>
          <a:off x="0" y="0"/>
          <a:ext cx="0" cy="0"/>
          <a:chOff x="0" y="0"/>
          <a:chExt cx="0" cy="0"/>
        </a:xfrm>
      </p:grpSpPr>
      <p:sp>
        <p:nvSpPr>
          <p:cNvPr id="380" name="Google Shape;380;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LATS - Extra (ReAct)</a:t>
            </a:r>
            <a:endParaRPr/>
          </a:p>
        </p:txBody>
      </p:sp>
      <p:pic>
        <p:nvPicPr>
          <p:cNvPr id="381" name="Google Shape;381;p61"/>
          <p:cNvPicPr preferRelativeResize="0"/>
          <p:nvPr/>
        </p:nvPicPr>
        <p:blipFill>
          <a:blip r:embed="rId3">
            <a:alphaModFix/>
          </a:blip>
          <a:stretch>
            <a:fillRect/>
          </a:stretch>
        </p:blipFill>
        <p:spPr>
          <a:xfrm>
            <a:off x="2043225" y="1017725"/>
            <a:ext cx="5057551" cy="3810601"/>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2"/>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200"/>
              <a:t>TravelPlanner: A Benchmark for Real-World Planning with Language Agents</a:t>
            </a:r>
            <a:endParaRPr sz="3200"/>
          </a:p>
        </p:txBody>
      </p:sp>
      <p:sp>
        <p:nvSpPr>
          <p:cNvPr id="387" name="Google Shape;387;p62"/>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fontScale="62500" lnSpcReduction="20000"/>
          </a:bodyPr>
          <a:lstStyle/>
          <a:p>
            <a:pPr indent="0" lvl="0" marL="0" rtl="0" algn="ctr">
              <a:spcBef>
                <a:spcPts val="0"/>
              </a:spcBef>
              <a:spcAft>
                <a:spcPts val="0"/>
              </a:spcAft>
              <a:buNone/>
            </a:pPr>
            <a:r>
              <a:rPr lang="en"/>
              <a:t>Jian Xie, Kai Zhang, Jiangjie Chen, Tinghui Zhu, Renze Lou, Yuandong Tian, Yanghua Xiao, Yu Su</a:t>
            </a:r>
            <a:endParaRPr/>
          </a:p>
          <a:p>
            <a:pPr indent="0" lvl="0" marL="0" rtl="0" algn="ctr">
              <a:spcBef>
                <a:spcPts val="0"/>
              </a:spcBef>
              <a:spcAft>
                <a:spcPts val="0"/>
              </a:spcAft>
              <a:buNone/>
            </a:pPr>
            <a:r>
              <a:t/>
            </a:r>
            <a:endParaRPr/>
          </a:p>
          <a:p>
            <a:pPr indent="0" lvl="0" marL="0" rtl="0" algn="ctr">
              <a:spcBef>
                <a:spcPts val="0"/>
              </a:spcBef>
              <a:spcAft>
                <a:spcPts val="0"/>
              </a:spcAft>
              <a:buNone/>
            </a:pPr>
            <a:r>
              <a:rPr i="1" lang="en"/>
              <a:t>ICML 2024</a:t>
            </a:r>
            <a:endParaRPr i="1"/>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TravelPlanner: Motivation</a:t>
            </a:r>
            <a:endParaRPr/>
          </a:p>
        </p:txBody>
      </p:sp>
      <p:sp>
        <p:nvSpPr>
          <p:cNvPr id="393" name="Google Shape;393;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Planning is a hallmark of human intelligence</a:t>
            </a:r>
            <a:endParaRPr/>
          </a:p>
          <a:p>
            <a:pPr indent="-342900" lvl="0" marL="457200" rtl="0" algn="l">
              <a:spcBef>
                <a:spcPts val="0"/>
              </a:spcBef>
              <a:spcAft>
                <a:spcPts val="0"/>
              </a:spcAft>
              <a:buSzPts val="1800"/>
              <a:buChar char="●"/>
            </a:pPr>
            <a:r>
              <a:rPr lang="en"/>
              <a:t>Capabilities of LLMs </a:t>
            </a:r>
            <a:endParaRPr/>
          </a:p>
          <a:p>
            <a:pPr indent="-342900" lvl="0" marL="457200" rtl="0" algn="l">
              <a:spcBef>
                <a:spcPts val="0"/>
              </a:spcBef>
              <a:spcAft>
                <a:spcPts val="0"/>
              </a:spcAft>
              <a:buSzPts val="1800"/>
              <a:buChar char="●"/>
            </a:pPr>
            <a:r>
              <a:rPr lang="en"/>
              <a:t>Existing tasks focus on pared down problems </a:t>
            </a:r>
            <a:endParaRPr/>
          </a:p>
          <a:p>
            <a:pPr indent="-317500" lvl="1" marL="914400" rtl="0" algn="l">
              <a:spcBef>
                <a:spcPts val="0"/>
              </a:spcBef>
              <a:spcAft>
                <a:spcPts val="0"/>
              </a:spcAft>
              <a:buSzPts val="1400"/>
              <a:buChar char="○"/>
            </a:pPr>
            <a:r>
              <a:rPr lang="en"/>
              <a:t>e.g. web tool use, math reasoning </a:t>
            </a:r>
            <a:endParaRPr/>
          </a:p>
          <a:p>
            <a:pPr indent="-317500" lvl="1" marL="914400" rtl="0" algn="l">
              <a:spcBef>
                <a:spcPts val="0"/>
              </a:spcBef>
              <a:spcAft>
                <a:spcPts val="0"/>
              </a:spcAft>
              <a:buSzPts val="1400"/>
              <a:buChar char="○"/>
            </a:pPr>
            <a:r>
              <a:rPr lang="en"/>
              <a:t>single objectives </a:t>
            </a:r>
            <a:endParaRPr/>
          </a:p>
          <a:p>
            <a:pPr indent="-317500" lvl="1" marL="914400" rtl="0" algn="l">
              <a:spcBef>
                <a:spcPts val="0"/>
              </a:spcBef>
              <a:spcAft>
                <a:spcPts val="0"/>
              </a:spcAft>
              <a:buSzPts val="1400"/>
              <a:buChar char="○"/>
            </a:pPr>
            <a:r>
              <a:rPr lang="en"/>
              <a:t>pre-defined sets of actions </a:t>
            </a:r>
            <a:endParaRPr/>
          </a:p>
          <a:p>
            <a:pPr indent="-342900" lvl="0" marL="457200" rtl="0" algn="l">
              <a:spcBef>
                <a:spcPts val="0"/>
              </a:spcBef>
              <a:spcAft>
                <a:spcPts val="0"/>
              </a:spcAft>
              <a:buSzPts val="1800"/>
              <a:buChar char="●"/>
            </a:pPr>
            <a:r>
              <a:rPr lang="en"/>
              <a:t>What does human planning look like?</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TravelPlanner: Motivation</a:t>
            </a:r>
            <a:endParaRPr/>
          </a:p>
        </p:txBody>
      </p:sp>
      <p:sp>
        <p:nvSpPr>
          <p:cNvPr id="399" name="Google Shape;399;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long horizon task</a:t>
            </a:r>
            <a:endParaRPr/>
          </a:p>
          <a:p>
            <a:pPr indent="-317500" lvl="1" marL="914400" rtl="0" algn="l">
              <a:spcBef>
                <a:spcPts val="0"/>
              </a:spcBef>
              <a:spcAft>
                <a:spcPts val="0"/>
              </a:spcAft>
              <a:buSzPts val="1400"/>
              <a:buChar char="○"/>
            </a:pPr>
            <a:r>
              <a:rPr lang="en"/>
              <a:t>a multiple day itinerary </a:t>
            </a:r>
            <a:endParaRPr/>
          </a:p>
          <a:p>
            <a:pPr indent="-342900" lvl="0" marL="457200" rtl="0" algn="l">
              <a:spcBef>
                <a:spcPts val="0"/>
              </a:spcBef>
              <a:spcAft>
                <a:spcPts val="0"/>
              </a:spcAft>
              <a:buSzPts val="1800"/>
              <a:buChar char="●"/>
            </a:pPr>
            <a:r>
              <a:rPr lang="en"/>
              <a:t>constraints </a:t>
            </a:r>
            <a:endParaRPr/>
          </a:p>
          <a:p>
            <a:pPr indent="-317500" lvl="1" marL="914400" rtl="0" algn="l">
              <a:spcBef>
                <a:spcPts val="0"/>
              </a:spcBef>
              <a:spcAft>
                <a:spcPts val="0"/>
              </a:spcAft>
              <a:buSzPts val="1400"/>
              <a:buChar char="○"/>
            </a:pPr>
            <a:r>
              <a:rPr lang="en"/>
              <a:t>commonsense: </a:t>
            </a:r>
            <a:endParaRPr/>
          </a:p>
          <a:p>
            <a:pPr indent="-317500" lvl="2" marL="1371600" rtl="0" algn="l">
              <a:spcBef>
                <a:spcPts val="0"/>
              </a:spcBef>
              <a:spcAft>
                <a:spcPts val="0"/>
              </a:spcAft>
              <a:buSzPts val="1400"/>
              <a:buChar char="■"/>
            </a:pPr>
            <a:r>
              <a:rPr lang="en"/>
              <a:t>e.g. humans cannot teleport </a:t>
            </a:r>
            <a:endParaRPr/>
          </a:p>
          <a:p>
            <a:pPr indent="-317500" lvl="1" marL="914400" rtl="0" algn="l">
              <a:spcBef>
                <a:spcPts val="0"/>
              </a:spcBef>
              <a:spcAft>
                <a:spcPts val="0"/>
              </a:spcAft>
              <a:buSzPts val="1400"/>
              <a:buChar char="○"/>
            </a:pPr>
            <a:r>
              <a:rPr lang="en"/>
              <a:t>user/hard:</a:t>
            </a:r>
            <a:endParaRPr/>
          </a:p>
          <a:p>
            <a:pPr indent="-317500" lvl="2" marL="1371600" rtl="0" algn="l">
              <a:spcBef>
                <a:spcPts val="0"/>
              </a:spcBef>
              <a:spcAft>
                <a:spcPts val="0"/>
              </a:spcAft>
              <a:buSzPts val="1400"/>
              <a:buChar char="■"/>
            </a:pPr>
            <a:r>
              <a:rPr lang="en"/>
              <a:t>e.g. budget, dietary restrictions </a:t>
            </a:r>
            <a:endParaRPr/>
          </a:p>
          <a:p>
            <a:pPr indent="-317500" lvl="1" marL="914400" rtl="0" algn="l">
              <a:spcBef>
                <a:spcPts val="0"/>
              </a:spcBef>
              <a:spcAft>
                <a:spcPts val="0"/>
              </a:spcAft>
              <a:buSzPts val="1400"/>
              <a:buChar char="○"/>
            </a:pPr>
            <a:r>
              <a:rPr lang="en"/>
              <a:t>environment:</a:t>
            </a:r>
            <a:endParaRPr/>
          </a:p>
          <a:p>
            <a:pPr indent="-317500" lvl="2" marL="1371600" rtl="0" algn="l">
              <a:spcBef>
                <a:spcPts val="0"/>
              </a:spcBef>
              <a:spcAft>
                <a:spcPts val="0"/>
              </a:spcAft>
              <a:buSzPts val="1400"/>
              <a:buChar char="■"/>
            </a:pPr>
            <a:r>
              <a:rPr lang="en"/>
              <a:t>e.g. no available flights</a:t>
            </a:r>
            <a:endParaRPr/>
          </a:p>
          <a:p>
            <a:pPr indent="-342900" lvl="0" marL="457200" rtl="0" algn="l">
              <a:spcBef>
                <a:spcPts val="0"/>
              </a:spcBef>
              <a:spcAft>
                <a:spcPts val="0"/>
              </a:spcAft>
              <a:buSzPts val="1800"/>
              <a:buChar char="●"/>
            </a:pPr>
            <a:r>
              <a:rPr lang="en"/>
              <a:t>agency</a:t>
            </a:r>
            <a:endParaRPr/>
          </a:p>
          <a:p>
            <a:pPr indent="-317500" lvl="1" marL="914400" rtl="0" algn="l">
              <a:spcBef>
                <a:spcPts val="0"/>
              </a:spcBef>
              <a:spcAft>
                <a:spcPts val="0"/>
              </a:spcAft>
              <a:buSzPts val="1400"/>
              <a:buChar char="○"/>
            </a:pPr>
            <a:r>
              <a:rPr lang="en"/>
              <a:t>acquire information from environment </a:t>
            </a:r>
            <a:endParaRPr/>
          </a:p>
          <a:p>
            <a:pPr indent="-317500" lvl="1" marL="914400" rtl="0" algn="l">
              <a:spcBef>
                <a:spcPts val="0"/>
              </a:spcBef>
              <a:spcAft>
                <a:spcPts val="0"/>
              </a:spcAft>
              <a:buSzPts val="1400"/>
              <a:buChar char="○"/>
            </a:pPr>
            <a:r>
              <a:rPr lang="en"/>
              <a:t>reason over acquired </a:t>
            </a:r>
            <a:r>
              <a:rPr lang="en"/>
              <a:t>information</a:t>
            </a:r>
            <a:r>
              <a:rPr lang="en"/>
              <a:t>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TravelPlanner: Introduction</a:t>
            </a:r>
            <a:endParaRPr/>
          </a:p>
        </p:txBody>
      </p:sp>
      <p:pic>
        <p:nvPicPr>
          <p:cNvPr id="405" name="Google Shape;405;p65"/>
          <p:cNvPicPr preferRelativeResize="0"/>
          <p:nvPr/>
        </p:nvPicPr>
        <p:blipFill rotWithShape="1">
          <a:blip r:embed="rId3">
            <a:alphaModFix/>
          </a:blip>
          <a:srcRect b="68224" l="0" r="69156" t="0"/>
          <a:stretch/>
        </p:blipFill>
        <p:spPr>
          <a:xfrm>
            <a:off x="477050" y="932200"/>
            <a:ext cx="2526026" cy="1338151"/>
          </a:xfrm>
          <a:prstGeom prst="rect">
            <a:avLst/>
          </a:prstGeom>
          <a:noFill/>
          <a:ln>
            <a:noFill/>
          </a:ln>
        </p:spPr>
      </p:pic>
      <p:sp>
        <p:nvSpPr>
          <p:cNvPr id="406" name="Google Shape;406;p65"/>
          <p:cNvSpPr txBox="1"/>
          <p:nvPr>
            <p:ph idx="1" type="body"/>
          </p:nvPr>
        </p:nvSpPr>
        <p:spPr>
          <a:xfrm>
            <a:off x="3252125" y="1152475"/>
            <a:ext cx="55803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1,225 diverse user queries and reference plans </a:t>
            </a:r>
            <a:endParaRPr/>
          </a:p>
          <a:p>
            <a:pPr indent="-342900" lvl="0" marL="457200" rtl="0" algn="l">
              <a:spcBef>
                <a:spcPts val="0"/>
              </a:spcBef>
              <a:spcAft>
                <a:spcPts val="0"/>
              </a:spcAft>
              <a:buSzPts val="1800"/>
              <a:buChar char="●"/>
            </a:pPr>
            <a:r>
              <a:rPr lang="en"/>
              <a:t> complexity: travel duration </a:t>
            </a:r>
            <a:endParaRPr/>
          </a:p>
          <a:p>
            <a:pPr indent="-317500" lvl="1" marL="914400" rtl="0" algn="l">
              <a:spcBef>
                <a:spcPts val="0"/>
              </a:spcBef>
              <a:spcAft>
                <a:spcPts val="0"/>
              </a:spcAft>
              <a:buSzPts val="1400"/>
              <a:buChar char="○"/>
            </a:pPr>
            <a:r>
              <a:rPr lang="en"/>
              <a:t>3 days: 1 city</a:t>
            </a:r>
            <a:endParaRPr/>
          </a:p>
          <a:p>
            <a:pPr indent="-317500" lvl="1" marL="914400" rtl="0" algn="l">
              <a:spcBef>
                <a:spcPts val="0"/>
              </a:spcBef>
              <a:spcAft>
                <a:spcPts val="0"/>
              </a:spcAft>
              <a:buSzPts val="1400"/>
              <a:buChar char="○"/>
            </a:pPr>
            <a:r>
              <a:rPr lang="en"/>
              <a:t>5 days: 1 state, 2 cities</a:t>
            </a:r>
            <a:endParaRPr/>
          </a:p>
          <a:p>
            <a:pPr indent="-317500" lvl="1" marL="914400" rtl="0" algn="l">
              <a:spcBef>
                <a:spcPts val="0"/>
              </a:spcBef>
              <a:spcAft>
                <a:spcPts val="0"/>
              </a:spcAft>
              <a:buSzPts val="1400"/>
              <a:buChar char="○"/>
            </a:pPr>
            <a:r>
              <a:rPr lang="en"/>
              <a:t>7 days: 1 state, 3 cities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TravelPlanner: Introduction</a:t>
            </a:r>
            <a:endParaRPr/>
          </a:p>
        </p:txBody>
      </p:sp>
      <p:pic>
        <p:nvPicPr>
          <p:cNvPr id="412" name="Google Shape;412;p66"/>
          <p:cNvPicPr preferRelativeResize="0"/>
          <p:nvPr/>
        </p:nvPicPr>
        <p:blipFill rotWithShape="1">
          <a:blip r:embed="rId3">
            <a:alphaModFix/>
          </a:blip>
          <a:srcRect b="38912" l="0" r="38484" t="0"/>
          <a:stretch/>
        </p:blipFill>
        <p:spPr>
          <a:xfrm>
            <a:off x="477050" y="932200"/>
            <a:ext cx="5038224" cy="2572599"/>
          </a:xfrm>
          <a:prstGeom prst="rect">
            <a:avLst/>
          </a:prstGeom>
          <a:noFill/>
          <a:ln>
            <a:noFill/>
          </a:ln>
        </p:spPr>
      </p:pic>
      <p:sp>
        <p:nvSpPr>
          <p:cNvPr id="413" name="Google Shape;413;p66"/>
          <p:cNvSpPr/>
          <p:nvPr/>
        </p:nvSpPr>
        <p:spPr>
          <a:xfrm>
            <a:off x="2310075" y="3158275"/>
            <a:ext cx="454800" cy="617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414" name="Google Shape;414;p66"/>
          <p:cNvSpPr/>
          <p:nvPr/>
        </p:nvSpPr>
        <p:spPr>
          <a:xfrm>
            <a:off x="3187975" y="3353975"/>
            <a:ext cx="2327400" cy="617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415" name="Google Shape;415;p66"/>
          <p:cNvSpPr/>
          <p:nvPr/>
        </p:nvSpPr>
        <p:spPr>
          <a:xfrm>
            <a:off x="729125" y="2671025"/>
            <a:ext cx="1261200" cy="292500"/>
          </a:xfrm>
          <a:prstGeom prst="rect">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416" name="Google Shape;416;p66"/>
          <p:cNvSpPr/>
          <p:nvPr/>
        </p:nvSpPr>
        <p:spPr>
          <a:xfrm>
            <a:off x="3101350" y="932200"/>
            <a:ext cx="2511300" cy="2421900"/>
          </a:xfrm>
          <a:prstGeom prst="rect">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417" name="Google Shape;417;p66"/>
          <p:cNvSpPr txBox="1"/>
          <p:nvPr>
            <p:ph idx="1" type="body"/>
          </p:nvPr>
        </p:nvSpPr>
        <p:spPr>
          <a:xfrm>
            <a:off x="5785975" y="1152475"/>
            <a:ext cx="3046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constraint complexity: </a:t>
            </a:r>
            <a:endParaRPr/>
          </a:p>
          <a:p>
            <a:pPr indent="-342900" lvl="0" marL="457200" rtl="0" algn="l">
              <a:spcBef>
                <a:spcPts val="1200"/>
              </a:spcBef>
              <a:spcAft>
                <a:spcPts val="0"/>
              </a:spcAft>
              <a:buSzPts val="1800"/>
              <a:buChar char="●"/>
            </a:pPr>
            <a:r>
              <a:rPr lang="en"/>
              <a:t>easy: </a:t>
            </a:r>
            <a:endParaRPr/>
          </a:p>
          <a:p>
            <a:pPr indent="-317500" lvl="1" marL="914400" rtl="0" algn="l">
              <a:spcBef>
                <a:spcPts val="0"/>
              </a:spcBef>
              <a:spcAft>
                <a:spcPts val="0"/>
              </a:spcAft>
              <a:buSzPts val="1400"/>
              <a:buChar char="○"/>
            </a:pPr>
            <a:r>
              <a:rPr lang="en"/>
              <a:t>1 traveller</a:t>
            </a:r>
            <a:endParaRPr/>
          </a:p>
          <a:p>
            <a:pPr indent="-317500" lvl="1" marL="914400" rtl="0" algn="l">
              <a:spcBef>
                <a:spcPts val="0"/>
              </a:spcBef>
              <a:spcAft>
                <a:spcPts val="0"/>
              </a:spcAft>
              <a:buSzPts val="1400"/>
              <a:buChar char="○"/>
            </a:pPr>
            <a:r>
              <a:rPr lang="en"/>
              <a:t>budget</a:t>
            </a:r>
            <a:endParaRPr/>
          </a:p>
          <a:p>
            <a:pPr indent="-342900" lvl="0" marL="457200" rtl="0" algn="l">
              <a:spcBef>
                <a:spcPts val="0"/>
              </a:spcBef>
              <a:spcAft>
                <a:spcPts val="0"/>
              </a:spcAft>
              <a:buSzPts val="1800"/>
              <a:buChar char="●"/>
            </a:pPr>
            <a:r>
              <a:rPr lang="en"/>
              <a:t>medium: </a:t>
            </a:r>
            <a:endParaRPr/>
          </a:p>
          <a:p>
            <a:pPr indent="-317500" lvl="1" marL="914400" rtl="0" algn="l">
              <a:spcBef>
                <a:spcPts val="0"/>
              </a:spcBef>
              <a:spcAft>
                <a:spcPts val="0"/>
              </a:spcAft>
              <a:buSzPts val="1400"/>
              <a:buChar char="○"/>
            </a:pPr>
            <a:r>
              <a:rPr lang="en"/>
              <a:t>2-8 travellers </a:t>
            </a:r>
            <a:endParaRPr/>
          </a:p>
          <a:p>
            <a:pPr indent="-317500" lvl="1" marL="914400" rtl="0" algn="l">
              <a:spcBef>
                <a:spcPts val="0"/>
              </a:spcBef>
              <a:spcAft>
                <a:spcPts val="0"/>
              </a:spcAft>
              <a:buSzPts val="1400"/>
              <a:buChar char="○"/>
            </a:pPr>
            <a:r>
              <a:rPr lang="en"/>
              <a:t>+1 hard constraint </a:t>
            </a:r>
            <a:endParaRPr/>
          </a:p>
          <a:p>
            <a:pPr indent="-342900" lvl="0" marL="457200" rtl="0" algn="l">
              <a:spcBef>
                <a:spcPts val="0"/>
              </a:spcBef>
              <a:spcAft>
                <a:spcPts val="0"/>
              </a:spcAft>
              <a:buSzPts val="1800"/>
              <a:buChar char="●"/>
            </a:pPr>
            <a:r>
              <a:rPr lang="en"/>
              <a:t>hard: </a:t>
            </a:r>
            <a:endParaRPr/>
          </a:p>
          <a:p>
            <a:pPr indent="-317500" lvl="1" marL="914400" rtl="0" algn="l">
              <a:spcBef>
                <a:spcPts val="0"/>
              </a:spcBef>
              <a:spcAft>
                <a:spcPts val="0"/>
              </a:spcAft>
              <a:buSzPts val="1400"/>
              <a:buChar char="○"/>
            </a:pPr>
            <a:r>
              <a:rPr lang="en"/>
              <a:t>+2 hard constraints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TravelPlanner: Introduction</a:t>
            </a:r>
            <a:endParaRPr/>
          </a:p>
        </p:txBody>
      </p:sp>
      <p:pic>
        <p:nvPicPr>
          <p:cNvPr id="423" name="Google Shape;423;p67"/>
          <p:cNvPicPr preferRelativeResize="0"/>
          <p:nvPr/>
        </p:nvPicPr>
        <p:blipFill rotWithShape="1">
          <a:blip r:embed="rId3">
            <a:alphaModFix/>
          </a:blip>
          <a:srcRect b="38912" l="0" r="38484" t="0"/>
          <a:stretch/>
        </p:blipFill>
        <p:spPr>
          <a:xfrm>
            <a:off x="477050" y="932200"/>
            <a:ext cx="5038224" cy="2572599"/>
          </a:xfrm>
          <a:prstGeom prst="rect">
            <a:avLst/>
          </a:prstGeom>
          <a:noFill/>
          <a:ln>
            <a:noFill/>
          </a:ln>
        </p:spPr>
      </p:pic>
      <p:sp>
        <p:nvSpPr>
          <p:cNvPr id="424" name="Google Shape;424;p67"/>
          <p:cNvSpPr/>
          <p:nvPr/>
        </p:nvSpPr>
        <p:spPr>
          <a:xfrm>
            <a:off x="3187975" y="3353975"/>
            <a:ext cx="2327400" cy="617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425" name="Google Shape;425;p67"/>
          <p:cNvSpPr/>
          <p:nvPr/>
        </p:nvSpPr>
        <p:spPr>
          <a:xfrm>
            <a:off x="718300" y="2963375"/>
            <a:ext cx="1342800" cy="487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426" name="Google Shape;426;p67"/>
          <p:cNvSpPr/>
          <p:nvPr/>
        </p:nvSpPr>
        <p:spPr>
          <a:xfrm>
            <a:off x="3101350" y="932200"/>
            <a:ext cx="2511300" cy="2421900"/>
          </a:xfrm>
          <a:prstGeom prst="rect">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pic>
        <p:nvPicPr>
          <p:cNvPr id="427" name="Google Shape;427;p67"/>
          <p:cNvPicPr preferRelativeResize="0"/>
          <p:nvPr/>
        </p:nvPicPr>
        <p:blipFill rotWithShape="1">
          <a:blip r:embed="rId3">
            <a:alphaModFix/>
          </a:blip>
          <a:srcRect b="0" l="0" r="67956" t="61087"/>
          <a:stretch/>
        </p:blipFill>
        <p:spPr>
          <a:xfrm>
            <a:off x="477050" y="3504800"/>
            <a:ext cx="2624301" cy="1638700"/>
          </a:xfrm>
          <a:prstGeom prst="rect">
            <a:avLst/>
          </a:prstGeom>
          <a:noFill/>
          <a:ln>
            <a:noFill/>
          </a:ln>
        </p:spPr>
      </p:pic>
      <p:sp>
        <p:nvSpPr>
          <p:cNvPr id="428" name="Google Shape;428;p67"/>
          <p:cNvSpPr/>
          <p:nvPr/>
        </p:nvSpPr>
        <p:spPr>
          <a:xfrm>
            <a:off x="621650" y="3559750"/>
            <a:ext cx="2327400" cy="15837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429" name="Google Shape;429;p67"/>
          <p:cNvSpPr txBox="1"/>
          <p:nvPr>
            <p:ph idx="1" type="body"/>
          </p:nvPr>
        </p:nvSpPr>
        <p:spPr>
          <a:xfrm>
            <a:off x="5937575" y="1152475"/>
            <a:ext cx="28950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4 millions data entries for 6 tools</a:t>
            </a:r>
            <a:endParaRPr/>
          </a:p>
          <a:p>
            <a:pPr indent="-342900" lvl="0" marL="457200" rtl="0" algn="l">
              <a:spcBef>
                <a:spcPts val="0"/>
              </a:spcBef>
              <a:spcAft>
                <a:spcPts val="0"/>
              </a:spcAft>
              <a:buSzPts val="1800"/>
              <a:buChar char="●"/>
            </a:pPr>
            <a:r>
              <a:rPr lang="en"/>
              <a:t>static environment for fair evaluation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TravelPlanner: Introduction</a:t>
            </a:r>
            <a:endParaRPr/>
          </a:p>
        </p:txBody>
      </p:sp>
      <p:pic>
        <p:nvPicPr>
          <p:cNvPr id="435" name="Google Shape;435;p68"/>
          <p:cNvPicPr preferRelativeResize="0"/>
          <p:nvPr/>
        </p:nvPicPr>
        <p:blipFill>
          <a:blip r:embed="rId3">
            <a:alphaModFix/>
          </a:blip>
          <a:stretch>
            <a:fillRect/>
          </a:stretch>
        </p:blipFill>
        <p:spPr>
          <a:xfrm>
            <a:off x="477050" y="932200"/>
            <a:ext cx="8189902" cy="4211301"/>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TravelPlanner: Evaluation Metrics</a:t>
            </a:r>
            <a:endParaRPr/>
          </a:p>
        </p:txBody>
      </p:sp>
      <p:sp>
        <p:nvSpPr>
          <p:cNvPr id="441" name="Google Shape;441;p6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delivery rate: </a:t>
            </a:r>
            <a:endParaRPr/>
          </a:p>
          <a:p>
            <a:pPr indent="-317500" lvl="1" marL="914400" rtl="0" algn="l">
              <a:spcBef>
                <a:spcPts val="0"/>
              </a:spcBef>
              <a:spcAft>
                <a:spcPts val="0"/>
              </a:spcAft>
              <a:buSzPts val="1400"/>
              <a:buChar char="○"/>
            </a:pPr>
            <a:r>
              <a:rPr lang="en"/>
              <a:t>plan delivered within 30 steps </a:t>
            </a:r>
            <a:endParaRPr/>
          </a:p>
          <a:p>
            <a:pPr indent="-342900" lvl="0" marL="457200" rtl="0" algn="l">
              <a:spcBef>
                <a:spcPts val="0"/>
              </a:spcBef>
              <a:spcAft>
                <a:spcPts val="0"/>
              </a:spcAft>
              <a:buSzPts val="1800"/>
              <a:buChar char="●"/>
            </a:pPr>
            <a:r>
              <a:rPr lang="en"/>
              <a:t>final pass rate:</a:t>
            </a:r>
            <a:endParaRPr/>
          </a:p>
          <a:p>
            <a:pPr indent="-317500" lvl="1" marL="914400" rtl="0" algn="l">
              <a:spcBef>
                <a:spcPts val="0"/>
              </a:spcBef>
              <a:spcAft>
                <a:spcPts val="0"/>
              </a:spcAft>
              <a:buSzPts val="1400"/>
              <a:buChar char="○"/>
            </a:pPr>
            <a:r>
              <a:rPr lang="en"/>
              <a:t>feasible plans that meet all constraints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TravelPlanner: Evaluation Metrics</a:t>
            </a:r>
            <a:endParaRPr/>
          </a:p>
        </p:txBody>
      </p:sp>
      <p:sp>
        <p:nvSpPr>
          <p:cNvPr id="447" name="Google Shape;447;p7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commonsense constraint pass rate:</a:t>
            </a:r>
            <a:endParaRPr/>
          </a:p>
          <a:p>
            <a:pPr indent="-317500" lvl="1" marL="914400" rtl="0" algn="l">
              <a:spcBef>
                <a:spcPts val="0"/>
              </a:spcBef>
              <a:spcAft>
                <a:spcPts val="0"/>
              </a:spcAft>
              <a:buSzPts val="1400"/>
              <a:buChar char="○"/>
            </a:pPr>
            <a:r>
              <a:rPr lang="en"/>
              <a:t>follow constraints without explicit instruction </a:t>
            </a:r>
            <a:endParaRPr/>
          </a:p>
          <a:p>
            <a:pPr indent="-342900" lvl="0" marL="457200" rtl="0" algn="l">
              <a:spcBef>
                <a:spcPts val="0"/>
              </a:spcBef>
              <a:spcAft>
                <a:spcPts val="0"/>
              </a:spcAft>
              <a:buSzPts val="1800"/>
              <a:buChar char="●"/>
            </a:pPr>
            <a:r>
              <a:rPr lang="en"/>
              <a:t>hard constraint pass rate:</a:t>
            </a:r>
            <a:endParaRPr/>
          </a:p>
          <a:p>
            <a:pPr indent="-317500" lvl="1" marL="914400" rtl="0" algn="l">
              <a:spcBef>
                <a:spcPts val="0"/>
              </a:spcBef>
              <a:spcAft>
                <a:spcPts val="0"/>
              </a:spcAft>
              <a:buSzPts val="1400"/>
              <a:buChar char="○"/>
            </a:pPr>
            <a:r>
              <a:rPr lang="en"/>
              <a:t>follow hard constraints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i="1"/>
          </a:p>
          <a:p>
            <a:pPr indent="457200" lvl="0" marL="0" rtl="0" algn="l">
              <a:spcBef>
                <a:spcPts val="1200"/>
              </a:spcBef>
              <a:spcAft>
                <a:spcPts val="1200"/>
              </a:spcAft>
              <a:buNone/>
            </a:pPr>
            <a:r>
              <a:rPr i="1" lang="en"/>
              <a:t>P</a:t>
            </a:r>
            <a:r>
              <a:rPr lang="en"/>
              <a:t>: all plans 			</a:t>
            </a:r>
            <a:r>
              <a:rPr i="1" lang="en"/>
              <a:t>C</a:t>
            </a:r>
            <a:r>
              <a:rPr baseline="-25000" i="1" lang="en"/>
              <a:t>P</a:t>
            </a:r>
            <a:r>
              <a:rPr lang="en"/>
              <a:t>: all constraints on </a:t>
            </a:r>
            <a:r>
              <a:rPr i="1" lang="en"/>
              <a:t>p</a:t>
            </a:r>
            <a:endParaRPr/>
          </a:p>
        </p:txBody>
      </p:sp>
      <p:pic>
        <p:nvPicPr>
          <p:cNvPr id="448" name="Google Shape;448;p70"/>
          <p:cNvPicPr preferRelativeResize="0"/>
          <p:nvPr/>
        </p:nvPicPr>
        <p:blipFill>
          <a:blip r:embed="rId3">
            <a:alphaModFix/>
          </a:blip>
          <a:stretch>
            <a:fillRect/>
          </a:stretch>
        </p:blipFill>
        <p:spPr>
          <a:xfrm>
            <a:off x="-5" y="2657838"/>
            <a:ext cx="4611376" cy="862875"/>
          </a:xfrm>
          <a:prstGeom prst="rect">
            <a:avLst/>
          </a:prstGeom>
          <a:noFill/>
          <a:ln>
            <a:noFill/>
          </a:ln>
        </p:spPr>
      </p:pic>
      <p:pic>
        <p:nvPicPr>
          <p:cNvPr id="449" name="Google Shape;449;p70"/>
          <p:cNvPicPr preferRelativeResize="0"/>
          <p:nvPr/>
        </p:nvPicPr>
        <p:blipFill>
          <a:blip r:embed="rId4">
            <a:alphaModFix/>
          </a:blip>
          <a:stretch>
            <a:fillRect/>
          </a:stretch>
        </p:blipFill>
        <p:spPr>
          <a:xfrm>
            <a:off x="4823675" y="2657850"/>
            <a:ext cx="4320321" cy="8628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TravelPlanner: Results</a:t>
            </a:r>
            <a:endParaRPr/>
          </a:p>
        </p:txBody>
      </p:sp>
      <p:pic>
        <p:nvPicPr>
          <p:cNvPr id="455" name="Google Shape;455;p71"/>
          <p:cNvPicPr preferRelativeResize="0"/>
          <p:nvPr/>
        </p:nvPicPr>
        <p:blipFill rotWithShape="1">
          <a:blip r:embed="rId3">
            <a:alphaModFix/>
          </a:blip>
          <a:srcRect b="40619" l="0" r="0" t="-5"/>
          <a:stretch/>
        </p:blipFill>
        <p:spPr>
          <a:xfrm>
            <a:off x="0" y="1017725"/>
            <a:ext cx="9143799" cy="24206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TravelPlanner: Results</a:t>
            </a:r>
            <a:endParaRPr/>
          </a:p>
        </p:txBody>
      </p:sp>
      <p:pic>
        <p:nvPicPr>
          <p:cNvPr id="461" name="Google Shape;461;p72"/>
          <p:cNvPicPr preferRelativeResize="0"/>
          <p:nvPr/>
        </p:nvPicPr>
        <p:blipFill>
          <a:blip r:embed="rId3">
            <a:alphaModFix/>
          </a:blip>
          <a:stretch>
            <a:fillRect/>
          </a:stretch>
        </p:blipFill>
        <p:spPr>
          <a:xfrm>
            <a:off x="0" y="1017732"/>
            <a:ext cx="9144002" cy="4075937"/>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TravelPlanner: Analysis</a:t>
            </a:r>
            <a:endParaRPr/>
          </a:p>
        </p:txBody>
      </p:sp>
      <p:sp>
        <p:nvSpPr>
          <p:cNvPr id="467" name="Google Shape;467;p7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Incorrect tool use</a:t>
            </a:r>
            <a:endParaRPr/>
          </a:p>
          <a:p>
            <a:pPr indent="-317500" lvl="1" marL="914400" rtl="0" algn="l">
              <a:spcBef>
                <a:spcPts val="0"/>
              </a:spcBef>
              <a:spcAft>
                <a:spcPts val="0"/>
              </a:spcAft>
              <a:buSzPts val="1400"/>
              <a:buChar char="○"/>
            </a:pPr>
            <a:r>
              <a:rPr lang="en"/>
              <a:t>e.g. malformed arguments </a:t>
            </a:r>
            <a:endParaRPr/>
          </a:p>
          <a:p>
            <a:pPr indent="-342900" lvl="0" marL="457200" rtl="0" algn="l">
              <a:spcBef>
                <a:spcPts val="0"/>
              </a:spcBef>
              <a:spcAft>
                <a:spcPts val="0"/>
              </a:spcAft>
              <a:buSzPts val="1800"/>
              <a:buChar char="●"/>
            </a:pPr>
            <a:r>
              <a:rPr lang="en"/>
              <a:t>Dead loops</a:t>
            </a:r>
            <a:endParaRPr/>
          </a:p>
          <a:p>
            <a:pPr indent="-317500" lvl="1" marL="914400" rtl="0" algn="l">
              <a:spcBef>
                <a:spcPts val="0"/>
              </a:spcBef>
              <a:spcAft>
                <a:spcPts val="0"/>
              </a:spcAft>
              <a:buSzPts val="1400"/>
              <a:buChar char="○"/>
            </a:pPr>
            <a:r>
              <a:rPr lang="en"/>
              <a:t>e.g. invalid actions, repetitive loops </a:t>
            </a:r>
            <a:endParaRPr/>
          </a:p>
        </p:txBody>
      </p:sp>
      <p:pic>
        <p:nvPicPr>
          <p:cNvPr id="468" name="Google Shape;468;p73"/>
          <p:cNvPicPr preferRelativeResize="0"/>
          <p:nvPr/>
        </p:nvPicPr>
        <p:blipFill>
          <a:blip r:embed="rId3">
            <a:alphaModFix/>
          </a:blip>
          <a:stretch>
            <a:fillRect/>
          </a:stretch>
        </p:blipFill>
        <p:spPr>
          <a:xfrm>
            <a:off x="927963" y="2775875"/>
            <a:ext cx="7288074" cy="236762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TravelPlanner: Analysis</a:t>
            </a:r>
            <a:endParaRPr/>
          </a:p>
        </p:txBody>
      </p:sp>
      <p:pic>
        <p:nvPicPr>
          <p:cNvPr id="474" name="Google Shape;474;p74"/>
          <p:cNvPicPr preferRelativeResize="0"/>
          <p:nvPr/>
        </p:nvPicPr>
        <p:blipFill>
          <a:blip r:embed="rId3">
            <a:alphaModFix/>
          </a:blip>
          <a:stretch>
            <a:fillRect/>
          </a:stretch>
        </p:blipFill>
        <p:spPr>
          <a:xfrm>
            <a:off x="2397763" y="1159300"/>
            <a:ext cx="4348472" cy="382097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TravelPlanner: Analysis</a:t>
            </a:r>
            <a:endParaRPr/>
          </a:p>
        </p:txBody>
      </p:sp>
      <p:pic>
        <p:nvPicPr>
          <p:cNvPr id="480" name="Google Shape;480;p75"/>
          <p:cNvPicPr preferRelativeResize="0"/>
          <p:nvPr/>
        </p:nvPicPr>
        <p:blipFill>
          <a:blip r:embed="rId3">
            <a:alphaModFix/>
          </a:blip>
          <a:stretch>
            <a:fillRect/>
          </a:stretch>
        </p:blipFill>
        <p:spPr>
          <a:xfrm>
            <a:off x="1531875" y="1749853"/>
            <a:ext cx="5861326" cy="227027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TravelPlanner: Analysis</a:t>
            </a:r>
            <a:endParaRPr/>
          </a:p>
        </p:txBody>
      </p:sp>
      <p:pic>
        <p:nvPicPr>
          <p:cNvPr id="486" name="Google Shape;486;p76"/>
          <p:cNvPicPr preferRelativeResize="0"/>
          <p:nvPr/>
        </p:nvPicPr>
        <p:blipFill>
          <a:blip r:embed="rId3">
            <a:alphaModFix/>
          </a:blip>
          <a:stretch>
            <a:fillRect/>
          </a:stretch>
        </p:blipFill>
        <p:spPr>
          <a:xfrm>
            <a:off x="152400" y="1170125"/>
            <a:ext cx="8839198" cy="3533324"/>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TravelPlanner: Conclusions</a:t>
            </a:r>
            <a:endParaRPr/>
          </a:p>
        </p:txBody>
      </p:sp>
      <p:sp>
        <p:nvSpPr>
          <p:cNvPr id="492" name="Google Shape;492;p7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LLMs still lack many of the skills necessary to plan in real world scenarios </a:t>
            </a:r>
            <a:endParaRPr/>
          </a:p>
          <a:p>
            <a:pPr indent="-342900" lvl="0" marL="457200" rtl="0" algn="l">
              <a:spcBef>
                <a:spcPts val="0"/>
              </a:spcBef>
              <a:spcAft>
                <a:spcPts val="0"/>
              </a:spcAft>
              <a:buSzPts val="1800"/>
              <a:buChar char="●"/>
            </a:pPr>
            <a:r>
              <a:rPr lang="en"/>
              <a:t>In particular, they struggle with</a:t>
            </a:r>
            <a:endParaRPr/>
          </a:p>
          <a:p>
            <a:pPr indent="-317500" lvl="1" marL="914400" rtl="0" algn="l">
              <a:spcBef>
                <a:spcPts val="0"/>
              </a:spcBef>
              <a:spcAft>
                <a:spcPts val="0"/>
              </a:spcAft>
              <a:buSzPts val="1400"/>
              <a:buChar char="○"/>
            </a:pPr>
            <a:r>
              <a:rPr lang="en"/>
              <a:t>multiple </a:t>
            </a:r>
            <a:r>
              <a:rPr lang="en"/>
              <a:t>constraints</a:t>
            </a:r>
            <a:r>
              <a:rPr lang="en"/>
              <a:t> </a:t>
            </a:r>
            <a:endParaRPr/>
          </a:p>
          <a:p>
            <a:pPr indent="-317500" lvl="1" marL="914400" rtl="0" algn="l">
              <a:spcBef>
                <a:spcPts val="0"/>
              </a:spcBef>
              <a:spcAft>
                <a:spcPts val="0"/>
              </a:spcAft>
              <a:buSzPts val="1400"/>
              <a:buChar char="○"/>
            </a:pPr>
            <a:r>
              <a:rPr lang="en"/>
              <a:t>multiple components of a task</a:t>
            </a:r>
            <a:endParaRPr/>
          </a:p>
          <a:p>
            <a:pPr indent="-317500" lvl="1" marL="914400" rtl="0" algn="l">
              <a:spcBef>
                <a:spcPts val="0"/>
              </a:spcBef>
              <a:spcAft>
                <a:spcPts val="0"/>
              </a:spcAft>
              <a:buSzPts val="1400"/>
              <a:buChar char="○"/>
            </a:pPr>
            <a:r>
              <a:rPr lang="en"/>
              <a:t>large amounts of information </a:t>
            </a:r>
            <a:endParaRPr/>
          </a:p>
          <a:p>
            <a:pPr indent="-317500" lvl="1" marL="914400" rtl="0" algn="l">
              <a:spcBef>
                <a:spcPts val="0"/>
              </a:spcBef>
              <a:spcAft>
                <a:spcPts val="0"/>
              </a:spcAft>
              <a:buSzPts val="1400"/>
              <a:buChar char="○"/>
            </a:pPr>
            <a:r>
              <a:rPr lang="en"/>
              <a:t>aligning their actions with their reasoning </a:t>
            </a:r>
            <a:endParaRPr/>
          </a:p>
          <a:p>
            <a:pPr indent="-317500" lvl="1" marL="914400" rtl="0" algn="l">
              <a:spcBef>
                <a:spcPts val="0"/>
              </a:spcBef>
              <a:spcAft>
                <a:spcPts val="0"/>
              </a:spcAft>
              <a:buSzPts val="1400"/>
              <a:buChar char="○"/>
            </a:pPr>
            <a:r>
              <a:rPr lang="en"/>
              <a:t>proper formatting for tool use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