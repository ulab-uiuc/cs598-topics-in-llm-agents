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Montserrat SemiBold"/>
      <p:regular r:id="rId61"/>
      <p:bold r:id="rId62"/>
      <p:italic r:id="rId63"/>
      <p:boldItalic r:id="rId64"/>
    </p:embeddedFont>
    <p:embeddedFont>
      <p:font typeface="Montserrat"/>
      <p:regular r:id="rId65"/>
      <p:bold r:id="rId66"/>
      <p:italic r:id="rId67"/>
      <p:boldItalic r:id="rId68"/>
    </p:embeddedFont>
    <p:embeddedFont>
      <p:font typeface="Corbel"/>
      <p:regular r:id="rId69"/>
      <p:bold r:id="rId70"/>
      <p:italic r:id="rId71"/>
      <p:boldItalic r:id="rId72"/>
    </p:embeddedFont>
    <p:embeddedFont>
      <p:font typeface="Source Sans 3"/>
      <p:regular r:id="rId73"/>
      <p:bold r:id="rId74"/>
      <p:italic r:id="rId75"/>
      <p:boldItalic r:id="rId76"/>
    </p:embeddedFont>
    <p:embeddedFont>
      <p:font typeface="Arial Black"/>
      <p:regular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SourceSans3-regular.fntdata"/><Relationship Id="rId72" Type="http://schemas.openxmlformats.org/officeDocument/2006/relationships/font" Target="fonts/Corbel-boldItalic.fntdata"/><Relationship Id="rId31" Type="http://schemas.openxmlformats.org/officeDocument/2006/relationships/slide" Target="slides/slide25.xml"/><Relationship Id="rId75" Type="http://schemas.openxmlformats.org/officeDocument/2006/relationships/font" Target="fonts/SourceSans3-italic.fntdata"/><Relationship Id="rId30" Type="http://schemas.openxmlformats.org/officeDocument/2006/relationships/slide" Target="slides/slide24.xml"/><Relationship Id="rId74" Type="http://schemas.openxmlformats.org/officeDocument/2006/relationships/font" Target="fonts/SourceSans3-bold.fntdata"/><Relationship Id="rId33" Type="http://schemas.openxmlformats.org/officeDocument/2006/relationships/slide" Target="slides/slide27.xml"/><Relationship Id="rId77" Type="http://schemas.openxmlformats.org/officeDocument/2006/relationships/font" Target="fonts/ArialBlack-regular.fntdata"/><Relationship Id="rId32" Type="http://schemas.openxmlformats.org/officeDocument/2006/relationships/slide" Target="slides/slide26.xml"/><Relationship Id="rId76" Type="http://schemas.openxmlformats.org/officeDocument/2006/relationships/font" Target="fonts/SourceSans3-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Corbel-italic.fntdata"/><Relationship Id="rId70" Type="http://schemas.openxmlformats.org/officeDocument/2006/relationships/font" Target="fonts/Corbel-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SemiBold-bold.fntdata"/><Relationship Id="rId61" Type="http://schemas.openxmlformats.org/officeDocument/2006/relationships/font" Target="fonts/MontserratSemiBold-regular.fntdata"/><Relationship Id="rId20" Type="http://schemas.openxmlformats.org/officeDocument/2006/relationships/slide" Target="slides/slide14.xml"/><Relationship Id="rId64" Type="http://schemas.openxmlformats.org/officeDocument/2006/relationships/font" Target="fonts/MontserratSemiBold-boldItalic.fntdata"/><Relationship Id="rId63" Type="http://schemas.openxmlformats.org/officeDocument/2006/relationships/font" Target="fonts/MontserratSemiBold-italic.fntdata"/><Relationship Id="rId22" Type="http://schemas.openxmlformats.org/officeDocument/2006/relationships/slide" Target="slides/slide16.xml"/><Relationship Id="rId66" Type="http://schemas.openxmlformats.org/officeDocument/2006/relationships/font" Target="fonts/Montserrat-bold.fntdata"/><Relationship Id="rId21" Type="http://schemas.openxmlformats.org/officeDocument/2006/relationships/slide" Target="slides/slide15.xml"/><Relationship Id="rId65" Type="http://schemas.openxmlformats.org/officeDocument/2006/relationships/font" Target="fonts/Montserrat-regular.fntdata"/><Relationship Id="rId24" Type="http://schemas.openxmlformats.org/officeDocument/2006/relationships/slide" Target="slides/slide18.xml"/><Relationship Id="rId68" Type="http://schemas.openxmlformats.org/officeDocument/2006/relationships/font" Target="fonts/Montserrat-boldItalic.fntdata"/><Relationship Id="rId23" Type="http://schemas.openxmlformats.org/officeDocument/2006/relationships/slide" Target="slides/slide17.xml"/><Relationship Id="rId67" Type="http://schemas.openxmlformats.org/officeDocument/2006/relationships/font" Target="fonts/Montserrat-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Corbel-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f1c4a971c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2f1c4a971c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2f1c4a971c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7ac48a3f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37ac48a3f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37ac48a3f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14c418e7f_2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314c418e7f_2_184: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14c418e7f_2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314c418e7f_2_194: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4c418e7f_2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314c418e7f_2_202: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14c418e7f_2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314c418e7f_2_211: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14c418e7f_2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314c418e7f_2_220: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314c418e7f_2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314c418e7f_2_229: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314c418e7f_2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314c418e7f_2_237: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314c418e7f_2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314c418e7f_2_245: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14c418e7f_2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314c418e7f_2_253: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14c418e7f_2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314c418e7f_2_261: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314c418e7f_2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314c418e7f_2_271: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314c418e7f_2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314c418e7f_2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f1c4a971c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2f1c4a971c_0_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2f1c4a971c_0_1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30dbd3de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30dbd3de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f1c4a971c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2f1c4a971c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314c418e7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314c418e7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314c418e7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314c418e7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314c418e7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314c418e7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314c418e7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314c418e7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14c418e7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314c418e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314c418e7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314c418e7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14c418e7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314c418e7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314c418e7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314c418e7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314c418e7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314c418e7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314c418e7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314c418e7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314c418e7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314c418e7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314c418e7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314c418e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314c418e7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314c418e7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314c418e7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314c418e7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314c418e7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314c418e7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314c418e7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314c418e7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314c418e7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314c418e7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314c418e7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314c418e7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314c418e7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314c418e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314c418e7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314c418e7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314c418e7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314c418e7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314c418e7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314c418e7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314c418e7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314c418e7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314c418e7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314c418e7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314c418e7f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314c418e7f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314c418e7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314c418e7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314c418e7f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314c418e7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314c418e7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314c418e7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37a786da40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37a786da40_0_3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37a786da40_0_3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37a786da40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37a786da40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37a786da40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37a786da40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37a786da40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37a786da40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37a786da40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37a786da40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37a786da40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37a786da40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37a786da40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37a786da40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37a786da40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37a786da40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37a786da40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37a786da40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SemiBold"/>
              <a:buNone/>
              <a:defRPr>
                <a:latin typeface="Montserrat SemiBold"/>
                <a:ea typeface="Montserrat SemiBold"/>
                <a:cs typeface="Montserrat SemiBold"/>
                <a:sym typeface="Montserrat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SemiBold"/>
              <a:buNone/>
              <a:defRPr>
                <a:latin typeface="Montserrat SemiBold"/>
                <a:ea typeface="Montserrat SemiBold"/>
                <a:cs typeface="Montserrat SemiBold"/>
                <a:sym typeface="Montserrat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showMasterSp="0">
  <p:cSld name="5_Title Slide">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493776" y="2976372"/>
            <a:ext cx="4978800" cy="1237800"/>
          </a:xfrm>
          <a:prstGeom prst="rect">
            <a:avLst/>
          </a:prstGeom>
          <a:noFill/>
          <a:ln>
            <a:noFill/>
          </a:ln>
        </p:spPr>
        <p:txBody>
          <a:bodyPr anchorCtr="0" anchor="t" bIns="34275" lIns="0" spcFirstLastPara="1" rIns="68575" wrap="square" tIns="34275">
            <a:noAutofit/>
          </a:bodyPr>
          <a:lstStyle>
            <a:lvl1pPr indent="-228600" lvl="0" marL="457200" algn="l">
              <a:lnSpc>
                <a:spcPct val="130000"/>
              </a:lnSpc>
              <a:spcBef>
                <a:spcPts val="500"/>
              </a:spcBef>
              <a:spcAft>
                <a:spcPts val="0"/>
              </a:spcAft>
              <a:buSzPts val="2500"/>
              <a:buNone/>
              <a:defRPr b="0" i="0" sz="2100">
                <a:solidFill>
                  <a:schemeClr val="lt1"/>
                </a:solidFill>
                <a:latin typeface="Arial"/>
                <a:ea typeface="Arial"/>
                <a:cs typeface="Arial"/>
                <a:sym typeface="Arial"/>
              </a:defRPr>
            </a:lvl1pPr>
            <a:lvl2pPr indent="-330200" lvl="1" marL="914400" algn="l">
              <a:lnSpc>
                <a:spcPct val="130000"/>
              </a:lnSpc>
              <a:spcBef>
                <a:spcPts val="1200"/>
              </a:spcBef>
              <a:spcAft>
                <a:spcPts val="0"/>
              </a:spcAft>
              <a:buSzPts val="1600"/>
              <a:buChar char="○"/>
              <a:defRPr/>
            </a:lvl2pPr>
            <a:lvl3pPr indent="-330200" lvl="2" marL="1371600" algn="l">
              <a:lnSpc>
                <a:spcPct val="130000"/>
              </a:lnSpc>
              <a:spcBef>
                <a:spcPts val="1200"/>
              </a:spcBef>
              <a:spcAft>
                <a:spcPts val="0"/>
              </a:spcAft>
              <a:buSzPts val="1600"/>
              <a:buChar char="■"/>
              <a:defRPr/>
            </a:lvl3pPr>
            <a:lvl4pPr indent="-330200" lvl="3" marL="1828800" algn="l">
              <a:lnSpc>
                <a:spcPct val="130000"/>
              </a:lnSpc>
              <a:spcBef>
                <a:spcPts val="1200"/>
              </a:spcBef>
              <a:spcAft>
                <a:spcPts val="0"/>
              </a:spcAft>
              <a:buSzPts val="1600"/>
              <a:buChar char="●"/>
              <a:defRPr/>
            </a:lvl4pPr>
            <a:lvl5pPr indent="-330200" lvl="4" marL="2286000" algn="l">
              <a:lnSpc>
                <a:spcPct val="130000"/>
              </a:lnSpc>
              <a:spcBef>
                <a:spcPts val="1200"/>
              </a:spcBef>
              <a:spcAft>
                <a:spcPts val="0"/>
              </a:spcAft>
              <a:buSzPts val="16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2" name="Google Shape;52;p13"/>
          <p:cNvSpPr txBox="1"/>
          <p:nvPr>
            <p:ph type="ctrTitle"/>
          </p:nvPr>
        </p:nvSpPr>
        <p:spPr>
          <a:xfrm>
            <a:off x="493776" y="1117854"/>
            <a:ext cx="4978800" cy="1789800"/>
          </a:xfrm>
          <a:prstGeom prst="rect">
            <a:avLst/>
          </a:prstGeom>
          <a:noFill/>
          <a:ln>
            <a:noFill/>
          </a:ln>
        </p:spPr>
        <p:txBody>
          <a:bodyPr anchorCtr="0" anchor="b" bIns="34275" lIns="0" spcFirstLastPara="1" rIns="68575" wrap="square" tIns="34275">
            <a:noAutofit/>
          </a:bodyPr>
          <a:lstStyle>
            <a:lvl1pPr lvl="0" algn="l">
              <a:lnSpc>
                <a:spcPct val="96666"/>
              </a:lnSpc>
              <a:spcBef>
                <a:spcPts val="0"/>
              </a:spcBef>
              <a:spcAft>
                <a:spcPts val="0"/>
              </a:spcAft>
              <a:buClr>
                <a:schemeClr val="lt1"/>
              </a:buClr>
              <a:buSzPts val="4500"/>
              <a:buFont typeface="Arial"/>
              <a:buNone/>
              <a:defRPr b="1" i="0" sz="4500" cap="none">
                <a:solidFill>
                  <a:schemeClr val="lt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1)">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0" r="43715" t="0"/>
          <a:stretch/>
        </p:blipFill>
        <p:spPr>
          <a:xfrm>
            <a:off x="7753723" y="-1217293"/>
            <a:ext cx="2642400" cy="2639400"/>
          </a:xfrm>
          <a:prstGeom prst="ellipse">
            <a:avLst/>
          </a:prstGeom>
          <a:noFill/>
          <a:ln>
            <a:noFill/>
          </a:ln>
        </p:spPr>
      </p:pic>
      <p:sp>
        <p:nvSpPr>
          <p:cNvPr id="55" name="Google Shape;55;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descr="University of Illinois logo in orange and blue." id="56" name="Google Shape;56;p14"/>
          <p:cNvPicPr preferRelativeResize="0"/>
          <p:nvPr/>
        </p:nvPicPr>
        <p:blipFill rotWithShape="1">
          <a:blip r:embed="rId3">
            <a:alphaModFix/>
          </a:blip>
          <a:srcRect b="0" l="0" r="0" t="0"/>
          <a:stretch/>
        </p:blipFill>
        <p:spPr>
          <a:xfrm>
            <a:off x="8579889" y="4498733"/>
            <a:ext cx="316419" cy="457050"/>
          </a:xfrm>
          <a:prstGeom prst="rect">
            <a:avLst/>
          </a:prstGeom>
          <a:noFill/>
          <a:ln>
            <a:noFill/>
          </a:ln>
        </p:spPr>
      </p:pic>
      <p:sp>
        <p:nvSpPr>
          <p:cNvPr id="57" name="Google Shape;57;p14"/>
          <p:cNvSpPr txBox="1"/>
          <p:nvPr>
            <p:ph idx="1" type="body"/>
          </p:nvPr>
        </p:nvSpPr>
        <p:spPr>
          <a:xfrm>
            <a:off x="628650" y="1159771"/>
            <a:ext cx="7886700" cy="31260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8" name="Google Shape;58;p14"/>
          <p:cNvSpPr txBox="1"/>
          <p:nvPr>
            <p:ph type="title"/>
          </p:nvPr>
        </p:nvSpPr>
        <p:spPr>
          <a:xfrm>
            <a:off x="628650" y="551167"/>
            <a:ext cx="7886700" cy="4494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2284B"/>
              </a:buClr>
              <a:buSzPts val="3300"/>
              <a:buFont typeface="Arial Black"/>
              <a:buNone/>
              <a:defRPr>
                <a:solidFill>
                  <a:srgbClr val="12284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4"/>
          <p:cNvSpPr txBox="1"/>
          <p:nvPr>
            <p:ph idx="2" type="body"/>
          </p:nvPr>
        </p:nvSpPr>
        <p:spPr>
          <a:xfrm>
            <a:off x="628651" y="193423"/>
            <a:ext cx="1354200" cy="198600"/>
          </a:xfrm>
          <a:prstGeom prst="rect">
            <a:avLst/>
          </a:prstGeom>
          <a:solidFill>
            <a:srgbClr val="FF5F03"/>
          </a:solid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12284B"/>
              </a:buClr>
              <a:buSzPts val="1100"/>
              <a:buNone/>
              <a:defRPr b="1" i="1" sz="1100">
                <a:solidFill>
                  <a:srgbClr val="12284B"/>
                </a:solidFill>
                <a:latin typeface="Arial"/>
                <a:ea typeface="Arial"/>
                <a:cs typeface="Arial"/>
                <a:sym typeface="Arial"/>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0" name="Google Shape;60;p14"/>
          <p:cNvSpPr/>
          <p:nvPr/>
        </p:nvSpPr>
        <p:spPr>
          <a:xfrm flipH="1" rot="5400000">
            <a:off x="1067538" y="3824030"/>
            <a:ext cx="456900" cy="1806600"/>
          </a:xfrm>
          <a:prstGeom prst="rect">
            <a:avLst/>
          </a:prstGeom>
          <a:solidFill>
            <a:schemeClr val="dk1"/>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chemeClr val="dk1"/>
              </a:solidFill>
              <a:latin typeface="Georgia"/>
              <a:ea typeface="Georgia"/>
              <a:cs typeface="Georgia"/>
              <a:sym typeface="Georgia"/>
            </a:endParaRPr>
          </a:p>
        </p:txBody>
      </p:sp>
      <p:sp>
        <p:nvSpPr>
          <p:cNvPr id="61" name="Google Shape;61;p14"/>
          <p:cNvSpPr/>
          <p:nvPr/>
        </p:nvSpPr>
        <p:spPr>
          <a:xfrm flipH="1" rot="5400000">
            <a:off x="-55888" y="4507131"/>
            <a:ext cx="456900" cy="440400"/>
          </a:xfrm>
          <a:prstGeom prst="rect">
            <a:avLst/>
          </a:prstGeom>
          <a:solidFill>
            <a:srgbClr val="FF5F03"/>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rgbClr val="FF5F03"/>
              </a:solidFill>
              <a:latin typeface="Georgia"/>
              <a:ea typeface="Georgia"/>
              <a:cs typeface="Georgia"/>
              <a:sym typeface="Georgia"/>
            </a:endParaRPr>
          </a:p>
        </p:txBody>
      </p:sp>
      <p:sp>
        <p:nvSpPr>
          <p:cNvPr id="62" name="Google Shape;62;p14"/>
          <p:cNvSpPr txBox="1"/>
          <p:nvPr>
            <p:ph idx="3" type="body"/>
          </p:nvPr>
        </p:nvSpPr>
        <p:spPr>
          <a:xfrm>
            <a:off x="628099" y="4628027"/>
            <a:ext cx="1354200" cy="198600"/>
          </a:xfrm>
          <a:prstGeom prst="rect">
            <a:avLst/>
          </a:prstGeom>
          <a:noFill/>
          <a:ln>
            <a:noFill/>
          </a:ln>
        </p:spPr>
        <p:txBody>
          <a:bodyPr anchorCtr="0" anchor="t" bIns="34275" lIns="68575" spcFirstLastPara="1" rIns="68575" wrap="square" tIns="34275">
            <a:normAutofit/>
          </a:bodyPr>
          <a:lstStyle>
            <a:lvl1pPr indent="-228600" lvl="0" marL="457200" algn="ctr">
              <a:lnSpc>
                <a:spcPct val="90000"/>
              </a:lnSpc>
              <a:spcBef>
                <a:spcPts val="800"/>
              </a:spcBef>
              <a:spcAft>
                <a:spcPts val="0"/>
              </a:spcAft>
              <a:buClr>
                <a:schemeClr val="lt1"/>
              </a:buClr>
              <a:buSzPts val="1100"/>
              <a:buNone/>
              <a:defRPr b="1" i="0" sz="1100">
                <a:solidFill>
                  <a:schemeClr val="lt1"/>
                </a:solidFill>
                <a:latin typeface="Arial Black"/>
                <a:ea typeface="Arial Black"/>
                <a:cs typeface="Arial Black"/>
                <a:sym typeface="Arial Black"/>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63" name="Shape 63"/>
        <p:cNvGrpSpPr/>
        <p:nvPr/>
      </p:nvGrpSpPr>
      <p:grpSpPr>
        <a:xfrm>
          <a:off x="0" y="0"/>
          <a:ext cx="0" cy="0"/>
          <a:chOff x="0" y="0"/>
          <a:chExt cx="0" cy="0"/>
        </a:xfrm>
      </p:grpSpPr>
      <p:sp>
        <p:nvSpPr>
          <p:cNvPr id="64" name="Google Shape;64;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descr="University of Illinois logo in orange and blue." id="65" name="Google Shape;65;p15"/>
          <p:cNvPicPr preferRelativeResize="0"/>
          <p:nvPr/>
        </p:nvPicPr>
        <p:blipFill rotWithShape="1">
          <a:blip r:embed="rId2">
            <a:alphaModFix/>
          </a:blip>
          <a:srcRect b="0" l="0" r="0" t="0"/>
          <a:stretch/>
        </p:blipFill>
        <p:spPr>
          <a:xfrm>
            <a:off x="8579889" y="4498733"/>
            <a:ext cx="316419" cy="457050"/>
          </a:xfrm>
          <a:prstGeom prst="rect">
            <a:avLst/>
          </a:prstGeom>
          <a:noFill/>
          <a:ln>
            <a:noFill/>
          </a:ln>
        </p:spPr>
      </p:pic>
      <p:sp>
        <p:nvSpPr>
          <p:cNvPr id="66" name="Google Shape;66;p15"/>
          <p:cNvSpPr txBox="1"/>
          <p:nvPr>
            <p:ph idx="1" type="body"/>
          </p:nvPr>
        </p:nvSpPr>
        <p:spPr>
          <a:xfrm>
            <a:off x="628650" y="1159771"/>
            <a:ext cx="7886700" cy="31260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67" name="Google Shape;67;p15"/>
          <p:cNvSpPr txBox="1"/>
          <p:nvPr>
            <p:ph type="title"/>
          </p:nvPr>
        </p:nvSpPr>
        <p:spPr>
          <a:xfrm>
            <a:off x="628650" y="551167"/>
            <a:ext cx="7886700" cy="4494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2284B"/>
              </a:buClr>
              <a:buSzPts val="3300"/>
              <a:buFont typeface="Arial Black"/>
              <a:buNone/>
              <a:defRPr>
                <a:solidFill>
                  <a:srgbClr val="12284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5"/>
          <p:cNvSpPr txBox="1"/>
          <p:nvPr>
            <p:ph idx="2" type="body"/>
          </p:nvPr>
        </p:nvSpPr>
        <p:spPr>
          <a:xfrm>
            <a:off x="628651" y="193423"/>
            <a:ext cx="1354200" cy="198600"/>
          </a:xfrm>
          <a:prstGeom prst="rect">
            <a:avLst/>
          </a:prstGeom>
          <a:solidFill>
            <a:srgbClr val="FF5F03"/>
          </a:solid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12284B"/>
              </a:buClr>
              <a:buSzPts val="1100"/>
              <a:buNone/>
              <a:defRPr b="1" i="1" sz="1100">
                <a:solidFill>
                  <a:srgbClr val="12284B"/>
                </a:solidFill>
                <a:latin typeface="Arial"/>
                <a:ea typeface="Arial"/>
                <a:cs typeface="Arial"/>
                <a:sym typeface="Arial"/>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pic>
        <p:nvPicPr>
          <p:cNvPr descr="A red snake on a black background&#10;&#10;Description automatically generated" id="69" name="Google Shape;69;p15"/>
          <p:cNvPicPr preferRelativeResize="0"/>
          <p:nvPr/>
        </p:nvPicPr>
        <p:blipFill rotWithShape="1">
          <a:blip r:embed="rId3">
            <a:alphaModFix/>
          </a:blip>
          <a:srcRect b="0" l="0" r="0" t="0"/>
          <a:stretch/>
        </p:blipFill>
        <p:spPr>
          <a:xfrm rot="-1381444">
            <a:off x="7018972" y="-1014512"/>
            <a:ext cx="2537062" cy="3385540"/>
          </a:xfrm>
          <a:prstGeom prst="rect">
            <a:avLst/>
          </a:prstGeom>
          <a:noFill/>
          <a:ln>
            <a:noFill/>
          </a:ln>
        </p:spPr>
      </p:pic>
      <p:sp>
        <p:nvSpPr>
          <p:cNvPr id="70" name="Google Shape;70;p15"/>
          <p:cNvSpPr/>
          <p:nvPr/>
        </p:nvSpPr>
        <p:spPr>
          <a:xfrm flipH="1" rot="5400000">
            <a:off x="1067538" y="3824030"/>
            <a:ext cx="456900" cy="1806600"/>
          </a:xfrm>
          <a:prstGeom prst="rect">
            <a:avLst/>
          </a:prstGeom>
          <a:solidFill>
            <a:schemeClr val="dk1"/>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chemeClr val="dk1"/>
              </a:solidFill>
              <a:latin typeface="Georgia"/>
              <a:ea typeface="Georgia"/>
              <a:cs typeface="Georgia"/>
              <a:sym typeface="Georgia"/>
            </a:endParaRPr>
          </a:p>
        </p:txBody>
      </p:sp>
      <p:sp>
        <p:nvSpPr>
          <p:cNvPr id="71" name="Google Shape;71;p15"/>
          <p:cNvSpPr/>
          <p:nvPr/>
        </p:nvSpPr>
        <p:spPr>
          <a:xfrm flipH="1" rot="5400000">
            <a:off x="-55888" y="4507131"/>
            <a:ext cx="456900" cy="440400"/>
          </a:xfrm>
          <a:prstGeom prst="rect">
            <a:avLst/>
          </a:prstGeom>
          <a:solidFill>
            <a:srgbClr val="FF5F03"/>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rgbClr val="FF5F03"/>
              </a:solidFill>
              <a:latin typeface="Georgia"/>
              <a:ea typeface="Georgia"/>
              <a:cs typeface="Georgia"/>
              <a:sym typeface="Georgia"/>
            </a:endParaRPr>
          </a:p>
        </p:txBody>
      </p:sp>
      <p:sp>
        <p:nvSpPr>
          <p:cNvPr id="72" name="Google Shape;72;p15"/>
          <p:cNvSpPr txBox="1"/>
          <p:nvPr>
            <p:ph idx="3" type="body"/>
          </p:nvPr>
        </p:nvSpPr>
        <p:spPr>
          <a:xfrm>
            <a:off x="628099" y="4628027"/>
            <a:ext cx="1354200" cy="198600"/>
          </a:xfrm>
          <a:prstGeom prst="rect">
            <a:avLst/>
          </a:prstGeom>
          <a:noFill/>
          <a:ln>
            <a:noFill/>
          </a:ln>
        </p:spPr>
        <p:txBody>
          <a:bodyPr anchorCtr="0" anchor="t" bIns="34275" lIns="68575" spcFirstLastPara="1" rIns="68575" wrap="square" tIns="34275">
            <a:normAutofit/>
          </a:bodyPr>
          <a:lstStyle>
            <a:lvl1pPr indent="-228600" lvl="0" marL="457200" algn="ctr">
              <a:lnSpc>
                <a:spcPct val="90000"/>
              </a:lnSpc>
              <a:spcBef>
                <a:spcPts val="800"/>
              </a:spcBef>
              <a:spcAft>
                <a:spcPts val="0"/>
              </a:spcAft>
              <a:buClr>
                <a:schemeClr val="lt1"/>
              </a:buClr>
              <a:buSzPts val="1100"/>
              <a:buNone/>
              <a:defRPr b="1" i="0" sz="1100">
                <a:solidFill>
                  <a:schemeClr val="lt1"/>
                </a:solidFill>
                <a:latin typeface="Arial Black"/>
                <a:ea typeface="Arial Black"/>
                <a:cs typeface="Arial Black"/>
                <a:sym typeface="Arial Black"/>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Title and Content (3)">
    <p:spTree>
      <p:nvGrpSpPr>
        <p:cNvPr id="73" name="Shape 73"/>
        <p:cNvGrpSpPr/>
        <p:nvPr/>
      </p:nvGrpSpPr>
      <p:grpSpPr>
        <a:xfrm>
          <a:off x="0" y="0"/>
          <a:ext cx="0" cy="0"/>
          <a:chOff x="0" y="0"/>
          <a:chExt cx="0" cy="0"/>
        </a:xfrm>
      </p:grpSpPr>
      <p:pic>
        <p:nvPicPr>
          <p:cNvPr id="74" name="Google Shape;74;p16"/>
          <p:cNvPicPr preferRelativeResize="0"/>
          <p:nvPr/>
        </p:nvPicPr>
        <p:blipFill rotWithShape="1">
          <a:blip r:embed="rId2">
            <a:alphaModFix/>
          </a:blip>
          <a:srcRect b="0" l="0" r="43715" t="0"/>
          <a:stretch/>
        </p:blipFill>
        <p:spPr>
          <a:xfrm>
            <a:off x="1235645" y="4285750"/>
            <a:ext cx="2642400" cy="2639400"/>
          </a:xfrm>
          <a:prstGeom prst="ellipse">
            <a:avLst/>
          </a:prstGeom>
          <a:noFill/>
          <a:ln>
            <a:noFill/>
          </a:ln>
        </p:spPr>
      </p:pic>
      <p:sp>
        <p:nvSpPr>
          <p:cNvPr id="75" name="Google Shape;75;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descr="University of Illinois logo in orange and blue." id="76" name="Google Shape;76;p16"/>
          <p:cNvPicPr preferRelativeResize="0"/>
          <p:nvPr/>
        </p:nvPicPr>
        <p:blipFill rotWithShape="1">
          <a:blip r:embed="rId3">
            <a:alphaModFix/>
          </a:blip>
          <a:srcRect b="0" l="0" r="0" t="0"/>
          <a:stretch/>
        </p:blipFill>
        <p:spPr>
          <a:xfrm>
            <a:off x="8579889" y="4498733"/>
            <a:ext cx="316419" cy="457050"/>
          </a:xfrm>
          <a:prstGeom prst="rect">
            <a:avLst/>
          </a:prstGeom>
          <a:noFill/>
          <a:ln>
            <a:noFill/>
          </a:ln>
        </p:spPr>
      </p:pic>
      <p:sp>
        <p:nvSpPr>
          <p:cNvPr id="77" name="Google Shape;77;p16"/>
          <p:cNvSpPr txBox="1"/>
          <p:nvPr>
            <p:ph idx="1" type="body"/>
          </p:nvPr>
        </p:nvSpPr>
        <p:spPr>
          <a:xfrm>
            <a:off x="628650" y="1159771"/>
            <a:ext cx="7886700" cy="31260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78" name="Google Shape;78;p16"/>
          <p:cNvSpPr txBox="1"/>
          <p:nvPr>
            <p:ph type="title"/>
          </p:nvPr>
        </p:nvSpPr>
        <p:spPr>
          <a:xfrm>
            <a:off x="628650" y="551167"/>
            <a:ext cx="7886700" cy="4494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12284B"/>
              </a:buClr>
              <a:buSzPts val="3300"/>
              <a:buFont typeface="Arial Black"/>
              <a:buNone/>
              <a:defRPr>
                <a:solidFill>
                  <a:srgbClr val="12284B"/>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 name="Google Shape;79;p16"/>
          <p:cNvSpPr txBox="1"/>
          <p:nvPr>
            <p:ph idx="2" type="body"/>
          </p:nvPr>
        </p:nvSpPr>
        <p:spPr>
          <a:xfrm>
            <a:off x="628651" y="193423"/>
            <a:ext cx="1354200" cy="198600"/>
          </a:xfrm>
          <a:prstGeom prst="rect">
            <a:avLst/>
          </a:prstGeom>
          <a:solidFill>
            <a:srgbClr val="FF5F03"/>
          </a:solid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12284B"/>
              </a:buClr>
              <a:buSzPts val="1100"/>
              <a:buNone/>
              <a:defRPr b="1" i="1" sz="1100">
                <a:solidFill>
                  <a:srgbClr val="12284B"/>
                </a:solidFill>
                <a:latin typeface="Arial"/>
                <a:ea typeface="Arial"/>
                <a:cs typeface="Arial"/>
                <a:sym typeface="Arial"/>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80" name="Google Shape;80;p16"/>
          <p:cNvSpPr/>
          <p:nvPr/>
        </p:nvSpPr>
        <p:spPr>
          <a:xfrm flipH="1" rot="5400000">
            <a:off x="1067538" y="3824030"/>
            <a:ext cx="456900" cy="1806600"/>
          </a:xfrm>
          <a:prstGeom prst="rect">
            <a:avLst/>
          </a:prstGeom>
          <a:solidFill>
            <a:schemeClr val="dk1"/>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chemeClr val="dk1"/>
              </a:solidFill>
              <a:latin typeface="Georgia"/>
              <a:ea typeface="Georgia"/>
              <a:cs typeface="Georgia"/>
              <a:sym typeface="Georgia"/>
            </a:endParaRPr>
          </a:p>
        </p:txBody>
      </p:sp>
      <p:sp>
        <p:nvSpPr>
          <p:cNvPr id="81" name="Google Shape;81;p16"/>
          <p:cNvSpPr/>
          <p:nvPr/>
        </p:nvSpPr>
        <p:spPr>
          <a:xfrm flipH="1" rot="5400000">
            <a:off x="-55888" y="4507131"/>
            <a:ext cx="456900" cy="440400"/>
          </a:xfrm>
          <a:prstGeom prst="rect">
            <a:avLst/>
          </a:prstGeom>
          <a:solidFill>
            <a:srgbClr val="FF5F03"/>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400"/>
              <a:buFont typeface="Georgia"/>
              <a:buNone/>
            </a:pPr>
            <a:r>
              <a:t/>
            </a:r>
            <a:endParaRPr b="0" i="0" sz="1400" u="none" cap="none" strike="noStrike">
              <a:solidFill>
                <a:srgbClr val="FF5F03"/>
              </a:solidFill>
              <a:latin typeface="Georgia"/>
              <a:ea typeface="Georgia"/>
              <a:cs typeface="Georgia"/>
              <a:sym typeface="Georgia"/>
            </a:endParaRPr>
          </a:p>
        </p:txBody>
      </p:sp>
      <p:sp>
        <p:nvSpPr>
          <p:cNvPr id="82" name="Google Shape;82;p16"/>
          <p:cNvSpPr txBox="1"/>
          <p:nvPr>
            <p:ph idx="3" type="body"/>
          </p:nvPr>
        </p:nvSpPr>
        <p:spPr>
          <a:xfrm>
            <a:off x="628099" y="4628027"/>
            <a:ext cx="1354200" cy="198600"/>
          </a:xfrm>
          <a:prstGeom prst="rect">
            <a:avLst/>
          </a:prstGeom>
          <a:noFill/>
          <a:ln>
            <a:noFill/>
          </a:ln>
        </p:spPr>
        <p:txBody>
          <a:bodyPr anchorCtr="0" anchor="t" bIns="34275" lIns="68575" spcFirstLastPara="1" rIns="68575" wrap="square" tIns="34275">
            <a:normAutofit/>
          </a:bodyPr>
          <a:lstStyle>
            <a:lvl1pPr indent="-228600" lvl="0" marL="457200" algn="ctr">
              <a:lnSpc>
                <a:spcPct val="90000"/>
              </a:lnSpc>
              <a:spcBef>
                <a:spcPts val="800"/>
              </a:spcBef>
              <a:spcAft>
                <a:spcPts val="0"/>
              </a:spcAft>
              <a:buClr>
                <a:schemeClr val="lt1"/>
              </a:buClr>
              <a:buSzPts val="1100"/>
              <a:buNone/>
              <a:defRPr b="1" i="0" sz="1100">
                <a:solidFill>
                  <a:schemeClr val="lt1"/>
                </a:solidFill>
                <a:latin typeface="Arial Black"/>
                <a:ea typeface="Arial Black"/>
                <a:cs typeface="Arial Black"/>
                <a:sym typeface="Arial Black"/>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8"/>
          <p:cNvSpPr txBox="1"/>
          <p:nvPr>
            <p:ph type="ctrTitle"/>
          </p:nvPr>
        </p:nvSpPr>
        <p:spPr>
          <a:xfrm>
            <a:off x="682772" y="760951"/>
            <a:ext cx="7772400" cy="110250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600"/>
              <a:buFont typeface="Corbel"/>
              <a:buNone/>
              <a:defRPr b="0" sz="3600" cap="none">
                <a:solidFill>
                  <a:srgbClr val="FF5F05"/>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8"/>
          <p:cNvSpPr txBox="1"/>
          <p:nvPr>
            <p:ph idx="1" type="subTitle"/>
          </p:nvPr>
        </p:nvSpPr>
        <p:spPr>
          <a:xfrm>
            <a:off x="1371600" y="3695700"/>
            <a:ext cx="6400800" cy="531600"/>
          </a:xfrm>
          <a:prstGeom prst="rect">
            <a:avLst/>
          </a:prstGeom>
          <a:noFill/>
          <a:ln>
            <a:noFill/>
          </a:ln>
        </p:spPr>
        <p:txBody>
          <a:bodyPr anchorCtr="0" anchor="t" bIns="45725" lIns="91425" spcFirstLastPara="1" rIns="91425" wrap="square" tIns="45725">
            <a:normAutofit/>
          </a:bodyPr>
          <a:lstStyle>
            <a:lvl1pPr lvl="0" algn="ctr">
              <a:spcBef>
                <a:spcPts val="400"/>
              </a:spcBef>
              <a:spcAft>
                <a:spcPts val="0"/>
              </a:spcAft>
              <a:buSzPts val="2100"/>
              <a:buNone/>
              <a:defRPr>
                <a:solidFill>
                  <a:srgbClr val="888888"/>
                </a:solidFill>
              </a:defRPr>
            </a:lvl1pPr>
            <a:lvl2pPr lvl="1" algn="ctr">
              <a:spcBef>
                <a:spcPts val="400"/>
              </a:spcBef>
              <a:spcAft>
                <a:spcPts val="0"/>
              </a:spcAft>
              <a:buSzPts val="2000"/>
              <a:buNone/>
              <a:defRPr>
                <a:solidFill>
                  <a:srgbClr val="888888"/>
                </a:solidFill>
              </a:defRPr>
            </a:lvl2pPr>
            <a:lvl3pPr lvl="2" algn="ctr">
              <a:spcBef>
                <a:spcPts val="400"/>
              </a:spcBef>
              <a:spcAft>
                <a:spcPts val="0"/>
              </a:spcAft>
              <a:buSzPts val="1800"/>
              <a:buNone/>
              <a:defRPr>
                <a:solidFill>
                  <a:srgbClr val="888888"/>
                </a:solidFill>
              </a:defRPr>
            </a:lvl3pPr>
            <a:lvl4pPr lvl="3" algn="ctr">
              <a:spcBef>
                <a:spcPts val="300"/>
              </a:spcBef>
              <a:spcAft>
                <a:spcPts val="0"/>
              </a:spcAft>
              <a:buSzPts val="1500"/>
              <a:buNone/>
              <a:defRPr>
                <a:solidFill>
                  <a:srgbClr val="888888"/>
                </a:solidFill>
              </a:defRPr>
            </a:lvl4pPr>
            <a:lvl5pPr lvl="4" algn="ctr">
              <a:spcBef>
                <a:spcPts val="300"/>
              </a:spcBef>
              <a:spcAft>
                <a:spcPts val="0"/>
              </a:spcAft>
              <a:buClr>
                <a:srgbClr val="888888"/>
              </a:buClr>
              <a:buSzPts val="14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93" name="Google Shape;93;p18"/>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8"/>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8"/>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1" sz="800" u="none" cap="none" strike="noStrike">
                <a:solidFill>
                  <a:srgbClr val="888888"/>
                </a:solidFill>
                <a:latin typeface="Calibri"/>
                <a:ea typeface="Calibri"/>
                <a:cs typeface="Calibri"/>
                <a:sym typeface="Calibri"/>
              </a:defRPr>
            </a:lvl1pPr>
            <a:lvl2pPr indent="0" lvl="1" marL="0" algn="r">
              <a:spcBef>
                <a:spcPts val="0"/>
              </a:spcBef>
              <a:buNone/>
              <a:defRPr b="0" i="1" sz="800" u="none" cap="none" strike="noStrike">
                <a:solidFill>
                  <a:srgbClr val="888888"/>
                </a:solidFill>
                <a:latin typeface="Calibri"/>
                <a:ea typeface="Calibri"/>
                <a:cs typeface="Calibri"/>
                <a:sym typeface="Calibri"/>
              </a:defRPr>
            </a:lvl2pPr>
            <a:lvl3pPr indent="0" lvl="2" marL="0" algn="r">
              <a:spcBef>
                <a:spcPts val="0"/>
              </a:spcBef>
              <a:buNone/>
              <a:defRPr b="0" i="1" sz="800" u="none" cap="none" strike="noStrike">
                <a:solidFill>
                  <a:srgbClr val="888888"/>
                </a:solidFill>
                <a:latin typeface="Calibri"/>
                <a:ea typeface="Calibri"/>
                <a:cs typeface="Calibri"/>
                <a:sym typeface="Calibri"/>
              </a:defRPr>
            </a:lvl3pPr>
            <a:lvl4pPr indent="0" lvl="3" marL="0" algn="r">
              <a:spcBef>
                <a:spcPts val="0"/>
              </a:spcBef>
              <a:buNone/>
              <a:defRPr b="0" i="1" sz="800" u="none" cap="none" strike="noStrike">
                <a:solidFill>
                  <a:srgbClr val="888888"/>
                </a:solidFill>
                <a:latin typeface="Calibri"/>
                <a:ea typeface="Calibri"/>
                <a:cs typeface="Calibri"/>
                <a:sym typeface="Calibri"/>
              </a:defRPr>
            </a:lvl4pPr>
            <a:lvl5pPr indent="0" lvl="4" marL="0" algn="r">
              <a:spcBef>
                <a:spcPts val="0"/>
              </a:spcBef>
              <a:buNone/>
              <a:defRPr b="0" i="1" sz="800" u="none" cap="none" strike="noStrike">
                <a:solidFill>
                  <a:srgbClr val="888888"/>
                </a:solidFill>
                <a:latin typeface="Calibri"/>
                <a:ea typeface="Calibri"/>
                <a:cs typeface="Calibri"/>
                <a:sym typeface="Calibri"/>
              </a:defRPr>
            </a:lvl5pPr>
            <a:lvl6pPr indent="0" lvl="5" marL="0" algn="r">
              <a:spcBef>
                <a:spcPts val="0"/>
              </a:spcBef>
              <a:buNone/>
              <a:defRPr b="0" i="1" sz="800" u="none" cap="none" strike="noStrike">
                <a:solidFill>
                  <a:srgbClr val="888888"/>
                </a:solidFill>
                <a:latin typeface="Calibri"/>
                <a:ea typeface="Calibri"/>
                <a:cs typeface="Calibri"/>
                <a:sym typeface="Calibri"/>
              </a:defRPr>
            </a:lvl6pPr>
            <a:lvl7pPr indent="0" lvl="6" marL="0" algn="r">
              <a:spcBef>
                <a:spcPts val="0"/>
              </a:spcBef>
              <a:buNone/>
              <a:defRPr b="0" i="1" sz="800" u="none" cap="none" strike="noStrike">
                <a:solidFill>
                  <a:srgbClr val="888888"/>
                </a:solidFill>
                <a:latin typeface="Calibri"/>
                <a:ea typeface="Calibri"/>
                <a:cs typeface="Calibri"/>
                <a:sym typeface="Calibri"/>
              </a:defRPr>
            </a:lvl7pPr>
            <a:lvl8pPr indent="0" lvl="7" marL="0" algn="r">
              <a:spcBef>
                <a:spcPts val="0"/>
              </a:spcBef>
              <a:buNone/>
              <a:defRPr b="0" i="1" sz="800" u="none" cap="none" strike="noStrike">
                <a:solidFill>
                  <a:srgbClr val="888888"/>
                </a:solidFill>
                <a:latin typeface="Calibri"/>
                <a:ea typeface="Calibri"/>
                <a:cs typeface="Calibri"/>
                <a:sym typeface="Calibri"/>
              </a:defRPr>
            </a:lvl8pPr>
            <a:lvl9pPr indent="0" lvl="8" marL="0" algn="r">
              <a:spcBef>
                <a:spcPts val="0"/>
              </a:spcBef>
              <a:buNone/>
              <a:defRPr b="0" i="1"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96" name="Shape 96"/>
        <p:cNvGrpSpPr/>
        <p:nvPr/>
      </p:nvGrpSpPr>
      <p:grpSpPr>
        <a:xfrm>
          <a:off x="0" y="0"/>
          <a:ext cx="0" cy="0"/>
          <a:chOff x="0" y="0"/>
          <a:chExt cx="0" cy="0"/>
        </a:xfrm>
      </p:grpSpPr>
      <p:sp>
        <p:nvSpPr>
          <p:cNvPr id="97" name="Google Shape;97;p19"/>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300"/>
              <a:buFont typeface="Corbel"/>
              <a:buNone/>
              <a:defRPr sz="3300">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9"/>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19"/>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19"/>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17500" lvl="0" marL="457200" algn="l">
              <a:spcBef>
                <a:spcPts val="300"/>
              </a:spcBef>
              <a:spcAft>
                <a:spcPts val="0"/>
              </a:spcAft>
              <a:buSzPts val="1400"/>
              <a:buChar char="▪"/>
              <a:defRPr/>
            </a:lvl1pPr>
            <a:lvl2pPr indent="-317500" lvl="1" marL="914400" algn="l">
              <a:spcBef>
                <a:spcPts val="300"/>
              </a:spcBef>
              <a:spcAft>
                <a:spcPts val="0"/>
              </a:spcAft>
              <a:buSzPts val="1400"/>
              <a:buChar char="▪"/>
              <a:defRPr/>
            </a:lvl2pPr>
            <a:lvl3pPr indent="-317500" lvl="2" marL="1371600" algn="l">
              <a:spcBef>
                <a:spcPts val="300"/>
              </a:spcBef>
              <a:spcAft>
                <a:spcPts val="0"/>
              </a:spcAft>
              <a:buSzPts val="1400"/>
              <a:buChar char="▪"/>
              <a:defRPr/>
            </a:lvl3pPr>
            <a:lvl4pPr indent="-317500" lvl="3" marL="1828800" algn="l">
              <a:spcBef>
                <a:spcPts val="300"/>
              </a:spcBef>
              <a:spcAft>
                <a:spcPts val="0"/>
              </a:spcAft>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31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20"/>
          <p:cNvSpPr txBox="1"/>
          <p:nvPr>
            <p:ph type="title"/>
          </p:nvPr>
        </p:nvSpPr>
        <p:spPr>
          <a:xfrm>
            <a:off x="722313" y="3305181"/>
            <a:ext cx="7772400" cy="1021500"/>
          </a:xfrm>
          <a:prstGeom prst="rect">
            <a:avLst/>
          </a:prstGeom>
          <a:noFill/>
          <a:ln>
            <a:noFill/>
          </a:ln>
        </p:spPr>
        <p:txBody>
          <a:bodyPr anchorCtr="0" anchor="t" bIns="45725" lIns="91425" spcFirstLastPara="1" rIns="91425" wrap="square" tIns="45725">
            <a:noAutofit/>
          </a:bodyPr>
          <a:lstStyle>
            <a:lvl1pPr lvl="0" algn="l">
              <a:spcBef>
                <a:spcPts val="0"/>
              </a:spcBef>
              <a:spcAft>
                <a:spcPts val="0"/>
              </a:spcAft>
              <a:buClr>
                <a:srgbClr val="FF5F05"/>
              </a:buClr>
              <a:buSzPts val="3300"/>
              <a:buFont typeface="Corbel"/>
              <a:buNone/>
              <a:defRPr b="0" sz="3300" cap="none">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0"/>
          <p:cNvSpPr txBox="1"/>
          <p:nvPr>
            <p:ph idx="1" type="body"/>
          </p:nvPr>
        </p:nvSpPr>
        <p:spPr>
          <a:xfrm>
            <a:off x="722313" y="2180035"/>
            <a:ext cx="7772400" cy="1125300"/>
          </a:xfrm>
          <a:prstGeom prst="rect">
            <a:avLst/>
          </a:prstGeom>
          <a:noFill/>
          <a:ln>
            <a:noFill/>
          </a:ln>
        </p:spPr>
        <p:txBody>
          <a:bodyPr anchorCtr="0" anchor="b" bIns="45725" lIns="91425" spcFirstLastPara="1" rIns="91425" wrap="square" tIns="45725">
            <a:normAutofit/>
          </a:bodyPr>
          <a:lstStyle>
            <a:lvl1pPr indent="-228600" lvl="0" marL="457200" algn="l">
              <a:spcBef>
                <a:spcPts val="500"/>
              </a:spcBef>
              <a:spcAft>
                <a:spcPts val="0"/>
              </a:spcAft>
              <a:buSzPts val="2400"/>
              <a:buNone/>
              <a:defRPr sz="2400">
                <a:solidFill>
                  <a:srgbClr val="888888"/>
                </a:solidFill>
                <a:latin typeface="Corbel"/>
                <a:ea typeface="Corbel"/>
                <a:cs typeface="Corbel"/>
                <a:sym typeface="Corbel"/>
              </a:defRPr>
            </a:lvl1pPr>
            <a:lvl2pPr indent="-228600" lvl="1" marL="914400" algn="l">
              <a:spcBef>
                <a:spcPts val="300"/>
              </a:spcBef>
              <a:spcAft>
                <a:spcPts val="0"/>
              </a:spcAft>
              <a:buSzPts val="1400"/>
              <a:buNone/>
              <a:defRPr sz="1400">
                <a:solidFill>
                  <a:srgbClr val="888888"/>
                </a:solidFill>
              </a:defRPr>
            </a:lvl2pPr>
            <a:lvl3pPr indent="-228600" lvl="2" marL="1371600" algn="l">
              <a:spcBef>
                <a:spcPts val="200"/>
              </a:spcBef>
              <a:spcAft>
                <a:spcPts val="0"/>
              </a:spcAft>
              <a:buSzPts val="1200"/>
              <a:buNone/>
              <a:defRPr sz="1200">
                <a:solidFill>
                  <a:srgbClr val="888888"/>
                </a:solidFill>
              </a:defRPr>
            </a:lvl3pPr>
            <a:lvl4pPr indent="-228600" lvl="3" marL="1828800" algn="l">
              <a:spcBef>
                <a:spcPts val="200"/>
              </a:spcBef>
              <a:spcAft>
                <a:spcPts val="0"/>
              </a:spcAft>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105" name="Google Shape;105;p20"/>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0"/>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0"/>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21"/>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1"/>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1"/>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12" name="Shape 112"/>
        <p:cNvGrpSpPr/>
        <p:nvPr/>
      </p:nvGrpSpPr>
      <p:grpSpPr>
        <a:xfrm>
          <a:off x="0" y="0"/>
          <a:ext cx="0" cy="0"/>
          <a:chOff x="0" y="0"/>
          <a:chExt cx="0" cy="0"/>
        </a:xfrm>
      </p:grpSpPr>
      <p:sp>
        <p:nvSpPr>
          <p:cNvPr id="113" name="Google Shape;113;p22"/>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2"/>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2"/>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2"/>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23"/>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3"/>
          <p:cNvSpPr txBox="1"/>
          <p:nvPr>
            <p:ph idx="1" type="body"/>
          </p:nvPr>
        </p:nvSpPr>
        <p:spPr>
          <a:xfrm>
            <a:off x="457200" y="1200155"/>
            <a:ext cx="4038600" cy="3810000"/>
          </a:xfrm>
          <a:prstGeom prst="rect">
            <a:avLst/>
          </a:prstGeom>
          <a:noFill/>
          <a:ln>
            <a:noFill/>
          </a:ln>
        </p:spPr>
        <p:txBody>
          <a:bodyPr anchorCtr="0" anchor="t" bIns="45725" lIns="91425" spcFirstLastPara="1" rIns="91425" wrap="square" tIns="45725">
            <a:normAutofit/>
          </a:bodyPr>
          <a:lstStyle>
            <a:lvl1pPr indent="-228600" lvl="0" marL="457200" algn="l">
              <a:spcBef>
                <a:spcPts val="400"/>
              </a:spcBef>
              <a:spcAft>
                <a:spcPts val="0"/>
              </a:spcAft>
              <a:buSzPts val="2100"/>
              <a:buNone/>
              <a:defRPr sz="2100"/>
            </a:lvl1pPr>
            <a:lvl2pPr indent="-342900" lvl="1" marL="914400" algn="l">
              <a:spcBef>
                <a:spcPts val="400"/>
              </a:spcBef>
              <a:spcAft>
                <a:spcPts val="0"/>
              </a:spcAft>
              <a:buSzPts val="1800"/>
              <a:buChar char="▪"/>
              <a:defRPr sz="1800"/>
            </a:lvl2pPr>
            <a:lvl3pPr indent="-323850" lvl="2" marL="1371600" algn="l">
              <a:spcBef>
                <a:spcPts val="300"/>
              </a:spcBef>
              <a:spcAft>
                <a:spcPts val="0"/>
              </a:spcAft>
              <a:buSzPts val="1500"/>
              <a:buChar char="▪"/>
              <a:defRPr sz="1500"/>
            </a:lvl3pPr>
            <a:lvl4pPr indent="-317500" lvl="3" marL="1828800" algn="l">
              <a:spcBef>
                <a:spcPts val="300"/>
              </a:spcBef>
              <a:spcAft>
                <a:spcPts val="0"/>
              </a:spcAft>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20" name="Google Shape;120;p23"/>
          <p:cNvSpPr txBox="1"/>
          <p:nvPr>
            <p:ph idx="2" type="body"/>
          </p:nvPr>
        </p:nvSpPr>
        <p:spPr>
          <a:xfrm>
            <a:off x="4648200" y="1200155"/>
            <a:ext cx="4038600" cy="3810000"/>
          </a:xfrm>
          <a:prstGeom prst="rect">
            <a:avLst/>
          </a:prstGeom>
          <a:noFill/>
          <a:ln>
            <a:noFill/>
          </a:ln>
        </p:spPr>
        <p:txBody>
          <a:bodyPr anchorCtr="0" anchor="t" bIns="45725" lIns="91425" spcFirstLastPara="1" rIns="91425" wrap="square" tIns="45725">
            <a:normAutofit/>
          </a:bodyPr>
          <a:lstStyle>
            <a:lvl1pPr indent="-228600" lvl="0" marL="457200" algn="l">
              <a:spcBef>
                <a:spcPts val="400"/>
              </a:spcBef>
              <a:spcAft>
                <a:spcPts val="0"/>
              </a:spcAft>
              <a:buSzPts val="2100"/>
              <a:buNone/>
              <a:defRPr sz="2100"/>
            </a:lvl1pPr>
            <a:lvl2pPr indent="-342900" lvl="1" marL="914400" algn="l">
              <a:spcBef>
                <a:spcPts val="400"/>
              </a:spcBef>
              <a:spcAft>
                <a:spcPts val="0"/>
              </a:spcAft>
              <a:buSzPts val="1800"/>
              <a:buChar char="▪"/>
              <a:defRPr sz="1800"/>
            </a:lvl2pPr>
            <a:lvl3pPr indent="-323850" lvl="2" marL="1371600" algn="l">
              <a:spcBef>
                <a:spcPts val="300"/>
              </a:spcBef>
              <a:spcAft>
                <a:spcPts val="0"/>
              </a:spcAft>
              <a:buSzPts val="1500"/>
              <a:buChar char="▪"/>
              <a:defRPr sz="1500"/>
            </a:lvl3pPr>
            <a:lvl4pPr indent="-317500" lvl="3" marL="1828800" algn="l">
              <a:spcBef>
                <a:spcPts val="300"/>
              </a:spcBef>
              <a:spcAft>
                <a:spcPts val="0"/>
              </a:spcAft>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cxnSp>
        <p:nvCxnSpPr>
          <p:cNvPr id="121" name="Google Shape;121;p23"/>
          <p:cNvCxnSpPr/>
          <p:nvPr/>
        </p:nvCxnSpPr>
        <p:spPr>
          <a:xfrm>
            <a:off x="0" y="1051321"/>
            <a:ext cx="9144000" cy="0"/>
          </a:xfrm>
          <a:prstGeom prst="straightConnector1">
            <a:avLst/>
          </a:prstGeom>
          <a:noFill/>
          <a:ln cap="sq" cmpd="sng" w="76200">
            <a:solidFill>
              <a:srgbClr val="0070C0"/>
            </a:solidFill>
            <a:prstDash val="solid"/>
            <a:round/>
            <a:headEnd len="sm" w="sm" type="none"/>
            <a:tailEnd len="sm" w="sm" type="none"/>
          </a:ln>
        </p:spPr>
      </p:cxnSp>
      <p:sp>
        <p:nvSpPr>
          <p:cNvPr id="122" name="Google Shape;122;p23"/>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3"/>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3"/>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25" name="Shape 125"/>
        <p:cNvGrpSpPr/>
        <p:nvPr/>
      </p:nvGrpSpPr>
      <p:grpSpPr>
        <a:xfrm>
          <a:off x="0" y="0"/>
          <a:ext cx="0" cy="0"/>
          <a:chOff x="0" y="0"/>
          <a:chExt cx="0" cy="0"/>
        </a:xfrm>
      </p:grpSpPr>
      <p:sp>
        <p:nvSpPr>
          <p:cNvPr id="126" name="Google Shape;126;p24"/>
          <p:cNvSpPr txBox="1"/>
          <p:nvPr>
            <p:ph type="title"/>
          </p:nvPr>
        </p:nvSpPr>
        <p:spPr>
          <a:xfrm>
            <a:off x="628650" y="498513"/>
            <a:ext cx="7511100" cy="449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FF5F03"/>
              </a:buClr>
              <a:buSzPts val="3300"/>
              <a:buFont typeface="Corbel"/>
              <a:buNone/>
              <a:defRPr>
                <a:solidFill>
                  <a:srgbClr val="FF5F03"/>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4"/>
          <p:cNvSpPr txBox="1"/>
          <p:nvPr>
            <p:ph idx="1" type="body"/>
          </p:nvPr>
        </p:nvSpPr>
        <p:spPr>
          <a:xfrm>
            <a:off x="628650" y="1305735"/>
            <a:ext cx="7886700" cy="3025500"/>
          </a:xfrm>
          <a:prstGeom prst="rect">
            <a:avLst/>
          </a:prstGeom>
          <a:noFill/>
          <a:ln>
            <a:noFill/>
          </a:ln>
        </p:spPr>
        <p:txBody>
          <a:bodyPr anchorCtr="0" anchor="t" bIns="45725" lIns="91425" spcFirstLastPara="1" rIns="91425" wrap="square" tIns="45725">
            <a:normAutofit/>
          </a:bodyPr>
          <a:lstStyle>
            <a:lvl1pPr indent="-381000" lvl="0" marL="457200" algn="l">
              <a:spcBef>
                <a:spcPts val="500"/>
              </a:spcBef>
              <a:spcAft>
                <a:spcPts val="0"/>
              </a:spcAft>
              <a:buSzPts val="2400"/>
              <a:buChar char="▪"/>
              <a:defRPr b="0" i="0" sz="2400">
                <a:latin typeface="Calibri"/>
                <a:ea typeface="Calibri"/>
                <a:cs typeface="Calibri"/>
                <a:sym typeface="Calibri"/>
              </a:defRPr>
            </a:lvl1pPr>
            <a:lvl2pPr indent="-361950" lvl="1" marL="914400" algn="l">
              <a:spcBef>
                <a:spcPts val="400"/>
              </a:spcBef>
              <a:spcAft>
                <a:spcPts val="0"/>
              </a:spcAft>
              <a:buSzPts val="2100"/>
              <a:buChar char="▪"/>
              <a:defRPr b="0" i="0" sz="2100">
                <a:latin typeface="Calibri"/>
                <a:ea typeface="Calibri"/>
                <a:cs typeface="Calibri"/>
                <a:sym typeface="Calibri"/>
              </a:defRPr>
            </a:lvl2pPr>
            <a:lvl3pPr indent="-342900" lvl="2" marL="1371600" algn="l">
              <a:spcBef>
                <a:spcPts val="400"/>
              </a:spcBef>
              <a:spcAft>
                <a:spcPts val="0"/>
              </a:spcAft>
              <a:buSzPts val="1800"/>
              <a:buChar char="▪"/>
              <a:defRPr b="0" i="0" sz="1800">
                <a:latin typeface="Calibri"/>
                <a:ea typeface="Calibri"/>
                <a:cs typeface="Calibri"/>
                <a:sym typeface="Calibri"/>
              </a:defRPr>
            </a:lvl3pPr>
            <a:lvl4pPr indent="-323850" lvl="3" marL="1828800" algn="l">
              <a:spcBef>
                <a:spcPts val="300"/>
              </a:spcBef>
              <a:spcAft>
                <a:spcPts val="0"/>
              </a:spcAft>
              <a:buSzPts val="1500"/>
              <a:buChar char="▪"/>
              <a:defRPr b="0" i="0" sz="1500">
                <a:latin typeface="Calibri"/>
                <a:ea typeface="Calibri"/>
                <a:cs typeface="Calibri"/>
                <a:sym typeface="Calibri"/>
              </a:defRPr>
            </a:lvl4pPr>
            <a:lvl5pPr indent="-323850" lvl="4" marL="2286000" algn="l">
              <a:spcBef>
                <a:spcPts val="300"/>
              </a:spcBef>
              <a:spcAft>
                <a:spcPts val="0"/>
              </a:spcAft>
              <a:buClr>
                <a:schemeClr val="dk1"/>
              </a:buClr>
              <a:buSzPts val="1500"/>
              <a:buChar char="»"/>
              <a:defRPr b="0" i="0" sz="1500">
                <a:latin typeface="Calibri"/>
                <a:ea typeface="Calibri"/>
                <a:cs typeface="Calibri"/>
                <a:sym typeface="Calibri"/>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pic>
        <p:nvPicPr>
          <p:cNvPr descr="The Block I in orange with a blue background." id="128" name="Google Shape;128;p24"/>
          <p:cNvPicPr preferRelativeResize="0"/>
          <p:nvPr/>
        </p:nvPicPr>
        <p:blipFill rotWithShape="1">
          <a:blip r:embed="rId2">
            <a:alphaModFix/>
          </a:blip>
          <a:srcRect b="0" l="0" r="0" t="0"/>
          <a:stretch/>
        </p:blipFill>
        <p:spPr>
          <a:xfrm>
            <a:off x="8139782" y="-1173"/>
            <a:ext cx="513670" cy="641473"/>
          </a:xfrm>
          <a:prstGeom prst="rect">
            <a:avLst/>
          </a:prstGeom>
          <a:noFill/>
          <a:ln>
            <a:noFill/>
          </a:ln>
        </p:spPr>
      </p:pic>
      <p:cxnSp>
        <p:nvCxnSpPr>
          <p:cNvPr id="129" name="Google Shape;129;p24"/>
          <p:cNvCxnSpPr/>
          <p:nvPr/>
        </p:nvCxnSpPr>
        <p:spPr>
          <a:xfrm>
            <a:off x="489667" y="1147046"/>
            <a:ext cx="8164500" cy="0"/>
          </a:xfrm>
          <a:prstGeom prst="straightConnector1">
            <a:avLst/>
          </a:prstGeom>
          <a:noFill/>
          <a:ln cap="flat" cmpd="sng" w="19050">
            <a:solidFill>
              <a:schemeClr val="lt2"/>
            </a:solidFill>
            <a:prstDash val="solid"/>
            <a:round/>
            <a:headEnd len="sm" w="sm" type="none"/>
            <a:tailEnd len="sm" w="sm" type="none"/>
          </a:ln>
        </p:spPr>
      </p:cxnSp>
      <p:sp>
        <p:nvSpPr>
          <p:cNvPr id="130" name="Google Shape;130;p24"/>
          <p:cNvSpPr txBox="1"/>
          <p:nvPr/>
        </p:nvSpPr>
        <p:spPr>
          <a:xfrm>
            <a:off x="629841" y="4899782"/>
            <a:ext cx="2057400" cy="273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900">
                <a:solidFill>
                  <a:srgbClr val="12284B"/>
                </a:solidFill>
                <a:latin typeface="Georgia"/>
                <a:ea typeface="Georgia"/>
                <a:cs typeface="Georgia"/>
                <a:sym typeface="Georgia"/>
              </a:rPr>
              <a:t>CS598: Deep Learning with Graphs</a:t>
            </a:r>
            <a:endParaRPr sz="1100"/>
          </a:p>
        </p:txBody>
      </p:sp>
      <p:sp>
        <p:nvSpPr>
          <p:cNvPr id="131" name="Google Shape;131;p24"/>
          <p:cNvSpPr txBox="1"/>
          <p:nvPr/>
        </p:nvSpPr>
        <p:spPr>
          <a:xfrm>
            <a:off x="3543300" y="4908944"/>
            <a:ext cx="2057400" cy="273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900">
                <a:solidFill>
                  <a:srgbClr val="12284B"/>
                </a:solidFill>
                <a:latin typeface="Georgia"/>
                <a:ea typeface="Georgia"/>
                <a:cs typeface="Georgia"/>
                <a:sym typeface="Georgia"/>
              </a:rPr>
              <a:t>Fall 2024</a:t>
            </a:r>
            <a:endParaRPr sz="1100"/>
          </a:p>
        </p:txBody>
      </p:sp>
      <p:sp>
        <p:nvSpPr>
          <p:cNvPr id="132" name="Google Shape;132;p24"/>
          <p:cNvSpPr txBox="1"/>
          <p:nvPr/>
        </p:nvSpPr>
        <p:spPr>
          <a:xfrm>
            <a:off x="6458312" y="4903974"/>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en" sz="900">
                <a:solidFill>
                  <a:srgbClr val="12284B"/>
                </a:solidFill>
                <a:latin typeface="Georgia"/>
                <a:ea typeface="Georgia"/>
                <a:cs typeface="Georgia"/>
                <a:sym typeface="Georgia"/>
              </a:rPr>
              <a:t>‹#›</a:t>
            </a:fld>
            <a:endParaRPr sz="900">
              <a:solidFill>
                <a:srgbClr val="12284B"/>
              </a:solidFill>
              <a:latin typeface="Georgia"/>
              <a:ea typeface="Georgia"/>
              <a:cs typeface="Georgia"/>
              <a:sym typeface="Georgia"/>
            </a:endParaRPr>
          </a:p>
        </p:txBody>
      </p:sp>
    </p:spTree>
  </p:cSld>
  <p:clrMapOvr>
    <a:masterClrMapping/>
  </p:clrMapOvr>
  <p:extLst>
    <p:ext uri="{DCECCB84-F9BA-43D5-87BE-67443E8EF086}">
      <p15:sldGuideLst>
        <p15:guide id="1" orient="horz" pos="299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spTree>
      <p:nvGrpSpPr>
        <p:cNvPr id="133" name="Shape 133"/>
        <p:cNvGrpSpPr/>
        <p:nvPr/>
      </p:nvGrpSpPr>
      <p:grpSpPr>
        <a:xfrm>
          <a:off x="0" y="0"/>
          <a:ext cx="0" cy="0"/>
          <a:chOff x="0" y="0"/>
          <a:chExt cx="0" cy="0"/>
        </a:xfrm>
      </p:grpSpPr>
      <p:sp>
        <p:nvSpPr>
          <p:cNvPr id="134" name="Google Shape;134;p25"/>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300"/>
              <a:buFont typeface="Corbel"/>
              <a:buNone/>
              <a:defRPr sz="3300">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5" name="Google Shape;135;p25"/>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61950" lvl="0" marL="457200" algn="l">
              <a:spcBef>
                <a:spcPts val="400"/>
              </a:spcBef>
              <a:spcAft>
                <a:spcPts val="0"/>
              </a:spcAft>
              <a:buSzPts val="2100"/>
              <a:buChar char="▪"/>
              <a:defRPr sz="2100">
                <a:latin typeface="Calibri"/>
                <a:ea typeface="Calibri"/>
                <a:cs typeface="Calibri"/>
                <a:sym typeface="Calibri"/>
              </a:defRPr>
            </a:lvl1pPr>
            <a:lvl2pPr indent="-342900" lvl="1" marL="914400" algn="l">
              <a:spcBef>
                <a:spcPts val="400"/>
              </a:spcBef>
              <a:spcAft>
                <a:spcPts val="0"/>
              </a:spcAft>
              <a:buSzPts val="1800"/>
              <a:buChar char="▪"/>
              <a:defRPr sz="1800">
                <a:latin typeface="Calibri"/>
                <a:ea typeface="Calibri"/>
                <a:cs typeface="Calibri"/>
                <a:sym typeface="Calibri"/>
              </a:defRPr>
            </a:lvl2pPr>
            <a:lvl3pPr indent="-317500" lvl="2" marL="1371600" algn="l">
              <a:spcBef>
                <a:spcPts val="300"/>
              </a:spcBef>
              <a:spcAft>
                <a:spcPts val="0"/>
              </a:spcAft>
              <a:buSzPts val="1400"/>
              <a:buChar char="▪"/>
              <a:defRPr sz="1400">
                <a:latin typeface="Calibri"/>
                <a:ea typeface="Calibri"/>
                <a:cs typeface="Calibri"/>
                <a:sym typeface="Calibri"/>
              </a:defRPr>
            </a:lvl3pPr>
            <a:lvl4pPr indent="-342900" lvl="3" marL="1828800" algn="l">
              <a:spcBef>
                <a:spcPts val="400"/>
              </a:spcBef>
              <a:spcAft>
                <a:spcPts val="0"/>
              </a:spcAft>
              <a:buSzPts val="1800"/>
              <a:buChar char="▪"/>
              <a:defRPr sz="1800">
                <a:latin typeface="Calibri"/>
                <a:ea typeface="Calibri"/>
                <a:cs typeface="Calibri"/>
                <a:sym typeface="Calibri"/>
              </a:defRPr>
            </a:lvl4pPr>
            <a:lvl5pPr indent="-279400" lvl="4" marL="2286000" algn="l">
              <a:spcBef>
                <a:spcPts val="200"/>
              </a:spcBef>
              <a:spcAft>
                <a:spcPts val="0"/>
              </a:spcAft>
              <a:buClr>
                <a:schemeClr val="dk1"/>
              </a:buClr>
              <a:buSzPts val="800"/>
              <a:buChar char="»"/>
              <a:defRPr sz="800">
                <a:latin typeface="Calibri"/>
                <a:ea typeface="Calibri"/>
                <a:cs typeface="Calibri"/>
                <a:sym typeface="Calibri"/>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36" name="Google Shape;136;p25"/>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5"/>
          <p:cNvSpPr txBox="1"/>
          <p:nvPr>
            <p:ph idx="11" type="ftr"/>
          </p:nvPr>
        </p:nvSpPr>
        <p:spPr>
          <a:xfrm>
            <a:off x="2209800" y="5029205"/>
            <a:ext cx="4724400" cy="12480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25"/>
          <p:cNvSpPr txBox="1"/>
          <p:nvPr>
            <p:ph idx="12" type="sldNum"/>
          </p:nvPr>
        </p:nvSpPr>
        <p:spPr>
          <a:xfrm>
            <a:off x="6457950" y="4917033"/>
            <a:ext cx="2057400" cy="2739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25"/>
          <p:cNvSpPr txBox="1"/>
          <p:nvPr/>
        </p:nvSpPr>
        <p:spPr>
          <a:xfrm>
            <a:off x="3543300" y="4906317"/>
            <a:ext cx="2057400" cy="273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900">
                <a:solidFill>
                  <a:srgbClr val="12284B"/>
                </a:solidFill>
                <a:latin typeface="Georgia"/>
                <a:ea typeface="Georgia"/>
                <a:cs typeface="Georgia"/>
                <a:sym typeface="Georgia"/>
              </a:rPr>
              <a:t>Fall 2024</a:t>
            </a:r>
            <a:endParaRPr sz="1100"/>
          </a:p>
        </p:txBody>
      </p:sp>
      <p:sp>
        <p:nvSpPr>
          <p:cNvPr id="140" name="Google Shape;140;p25"/>
          <p:cNvSpPr txBox="1"/>
          <p:nvPr/>
        </p:nvSpPr>
        <p:spPr>
          <a:xfrm>
            <a:off x="629841" y="4882246"/>
            <a:ext cx="2057400" cy="273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900">
                <a:solidFill>
                  <a:srgbClr val="12284B"/>
                </a:solidFill>
                <a:latin typeface="Georgia"/>
                <a:ea typeface="Georgia"/>
                <a:cs typeface="Georgia"/>
                <a:sym typeface="Georgia"/>
              </a:rPr>
              <a:t>CS598: Deep Learning with Graphs</a:t>
            </a:r>
            <a:endParaRPr sz="11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theme" Target="../theme/theme3.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434343"/>
              </a:buClr>
              <a:buSzPts val="2800"/>
              <a:buFont typeface="Montserrat"/>
              <a:buNone/>
              <a:defRPr b="1" sz="2800">
                <a:solidFill>
                  <a:srgbClr val="434343"/>
                </a:solidFill>
                <a:latin typeface="Montserrat"/>
                <a:ea typeface="Montserrat"/>
                <a:cs typeface="Montserrat"/>
                <a:sym typeface="Montserra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666666"/>
              </a:buClr>
              <a:buSzPts val="1800"/>
              <a:buFont typeface="Source Sans 3"/>
              <a:buChar char="●"/>
              <a:defRPr sz="1800">
                <a:solidFill>
                  <a:srgbClr val="666666"/>
                </a:solidFill>
                <a:latin typeface="Source Sans 3"/>
                <a:ea typeface="Source Sans 3"/>
                <a:cs typeface="Source Sans 3"/>
                <a:sym typeface="Source Sans 3"/>
              </a:defRPr>
            </a:lvl1pPr>
            <a:lvl2pPr indent="-317500" lvl="1" marL="9144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2pPr>
            <a:lvl3pPr indent="-317500" lvl="2" marL="13716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3pPr>
            <a:lvl4pPr indent="-317500" lvl="3" marL="18288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4pPr>
            <a:lvl5pPr indent="-317500" lvl="4" marL="22860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5pPr>
            <a:lvl6pPr indent="-317500" lvl="5" marL="27432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6pPr>
            <a:lvl7pPr indent="-317500" lvl="6" marL="32004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7pPr>
            <a:lvl8pPr indent="-317500" lvl="7" marL="3657600">
              <a:lnSpc>
                <a:spcPct val="115000"/>
              </a:lnSpc>
              <a:spcBef>
                <a:spcPts val="0"/>
              </a:spcBef>
              <a:spcAft>
                <a:spcPts val="0"/>
              </a:spcAft>
              <a:buClr>
                <a:srgbClr val="666666"/>
              </a:buClr>
              <a:buSzPts val="1400"/>
              <a:buFont typeface="Source Sans 3"/>
              <a:buChar char="○"/>
              <a:defRPr>
                <a:solidFill>
                  <a:srgbClr val="666666"/>
                </a:solidFill>
                <a:latin typeface="Source Sans 3"/>
                <a:ea typeface="Source Sans 3"/>
                <a:cs typeface="Source Sans 3"/>
                <a:sym typeface="Source Sans 3"/>
              </a:defRPr>
            </a:lvl8pPr>
            <a:lvl9pPr indent="-317500" lvl="8" marL="4114800">
              <a:lnSpc>
                <a:spcPct val="115000"/>
              </a:lnSpc>
              <a:spcBef>
                <a:spcPts val="0"/>
              </a:spcBef>
              <a:spcAft>
                <a:spcPts val="0"/>
              </a:spcAft>
              <a:buClr>
                <a:schemeClr val="dk2"/>
              </a:buClr>
              <a:buSzPts val="1400"/>
              <a:buFont typeface="Source Sans 3"/>
              <a:buChar char="■"/>
              <a:defRPr>
                <a:solidFill>
                  <a:schemeClr val="dk2"/>
                </a:solidFill>
                <a:latin typeface="Source Sans 3"/>
                <a:ea typeface="Source Sans 3"/>
                <a:cs typeface="Source Sans 3"/>
                <a:sym typeface="Source Sans 3"/>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7"/>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lvl1pPr lvl="0" marR="0" algn="ctr">
              <a:spcBef>
                <a:spcPts val="0"/>
              </a:spcBef>
              <a:spcAft>
                <a:spcPts val="0"/>
              </a:spcAft>
              <a:buClr>
                <a:srgbClr val="FF5F05"/>
              </a:buClr>
              <a:buSzPts val="3300"/>
              <a:buFont typeface="Corbel"/>
              <a:buNone/>
              <a:defRPr b="0" i="0" sz="3300" u="none" cap="none" strike="noStrike">
                <a:solidFill>
                  <a:srgbClr val="FF5F05"/>
                </a:solidFill>
                <a:latin typeface="Corbel"/>
                <a:ea typeface="Corbel"/>
                <a:cs typeface="Corbel"/>
                <a:sym typeface="Corbe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5" name="Google Shape;85;p17"/>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61950" lvl="0" marL="457200" marR="0" algn="l">
              <a:spcBef>
                <a:spcPts val="400"/>
              </a:spcBef>
              <a:spcAft>
                <a:spcPts val="0"/>
              </a:spcAft>
              <a:buClr>
                <a:srgbClr val="FF5F05"/>
              </a:buClr>
              <a:buSzPts val="2100"/>
              <a:buFont typeface="Noto Sans Symbols"/>
              <a:buChar char="▪"/>
              <a:defRPr b="0" i="0" sz="2100" u="none" cap="none" strike="noStrike">
                <a:solidFill>
                  <a:schemeClr val="dk1"/>
                </a:solidFill>
                <a:latin typeface="Calibri"/>
                <a:ea typeface="Calibri"/>
                <a:cs typeface="Calibri"/>
                <a:sym typeface="Calibri"/>
              </a:defRPr>
            </a:lvl1pPr>
            <a:lvl2pPr indent="-355600" lvl="1" marL="914400" marR="0" algn="l">
              <a:spcBef>
                <a:spcPts val="400"/>
              </a:spcBef>
              <a:spcAft>
                <a:spcPts val="0"/>
              </a:spcAft>
              <a:buClr>
                <a:srgbClr val="FF5F05"/>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algn="l">
              <a:spcBef>
                <a:spcPts val="400"/>
              </a:spcBef>
              <a:spcAft>
                <a:spcPts val="0"/>
              </a:spcAft>
              <a:buClr>
                <a:srgbClr val="FF5F05"/>
              </a:buClr>
              <a:buSzPts val="1800"/>
              <a:buFont typeface="Noto Sans Symbols"/>
              <a:buChar char="▪"/>
              <a:defRPr b="0" i="0" sz="1800" u="none" cap="none" strike="noStrike">
                <a:solidFill>
                  <a:schemeClr val="dk1"/>
                </a:solidFill>
                <a:latin typeface="Calibri"/>
                <a:ea typeface="Calibri"/>
                <a:cs typeface="Calibri"/>
                <a:sym typeface="Calibri"/>
              </a:defRPr>
            </a:lvl3pPr>
            <a:lvl4pPr indent="-323850" lvl="3" marL="1828800" marR="0" algn="l">
              <a:spcBef>
                <a:spcPts val="300"/>
              </a:spcBef>
              <a:spcAft>
                <a:spcPts val="0"/>
              </a:spcAft>
              <a:buClr>
                <a:srgbClr val="FF5F05"/>
              </a:buClr>
              <a:buSzPts val="1500"/>
              <a:buFont typeface="Noto Sans Symbols"/>
              <a:buChar char="▪"/>
              <a:defRPr b="0" i="0" sz="1500" u="none" cap="none" strike="noStrike">
                <a:solidFill>
                  <a:schemeClr val="dk1"/>
                </a:solidFill>
                <a:latin typeface="Calibri"/>
                <a:ea typeface="Calibri"/>
                <a:cs typeface="Calibri"/>
                <a:sym typeface="Calibri"/>
              </a:defRPr>
            </a:lvl4pPr>
            <a:lvl5pPr indent="-317500" lvl="4" marL="2286000" marR="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23850" lvl="5" marL="27432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86" name="Google Shape;86;p17"/>
          <p:cNvSpPr txBox="1"/>
          <p:nvPr/>
        </p:nvSpPr>
        <p:spPr>
          <a:xfrm>
            <a:off x="224852" y="2248525"/>
            <a:ext cx="1998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2100" u="none" cap="none" strike="noStrike">
                <a:solidFill>
                  <a:schemeClr val="dk1"/>
                </a:solidFill>
                <a:latin typeface="Calibri"/>
                <a:ea typeface="Calibri"/>
                <a:cs typeface="Calibri"/>
                <a:sym typeface="Calibri"/>
              </a:rPr>
              <a:t> </a:t>
            </a:r>
            <a:endParaRPr sz="1100"/>
          </a:p>
        </p:txBody>
      </p:sp>
      <p:sp>
        <p:nvSpPr>
          <p:cNvPr id="87" name="Google Shape;87;p17"/>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SzPts val="1100"/>
              <a:buNone/>
              <a:defRPr b="0" i="1" sz="8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8" name="Google Shape;88;p17"/>
          <p:cNvSpPr txBox="1"/>
          <p:nvPr>
            <p:ph idx="11" type="ftr"/>
          </p:nvPr>
        </p:nvSpPr>
        <p:spPr>
          <a:xfrm>
            <a:off x="2209800" y="5021751"/>
            <a:ext cx="4724400" cy="124800"/>
          </a:xfrm>
          <a:prstGeom prst="rect">
            <a:avLst/>
          </a:prstGeom>
          <a:noFill/>
          <a:ln>
            <a:noFill/>
          </a:ln>
        </p:spPr>
        <p:txBody>
          <a:bodyPr anchorCtr="0" anchor="t" bIns="34275" lIns="68575" spcFirstLastPara="1" rIns="68575" wrap="square" tIns="34275">
            <a:noAutofit/>
          </a:bodyPr>
          <a:lstStyle>
            <a:lvl1pPr lvl="0" marR="0" algn="ctr">
              <a:spcBef>
                <a:spcPts val="0"/>
              </a:spcBef>
              <a:spcAft>
                <a:spcPts val="0"/>
              </a:spcAft>
              <a:buSzPts val="1100"/>
              <a:buNone/>
              <a:defRPr b="0" i="1" sz="8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89" name="Google Shape;89;p17"/>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1" sz="800" u="none" cap="none" strike="noStrike">
                <a:solidFill>
                  <a:srgbClr val="888888"/>
                </a:solidFill>
                <a:latin typeface="Calibri"/>
                <a:ea typeface="Calibri"/>
                <a:cs typeface="Calibri"/>
                <a:sym typeface="Calibri"/>
              </a:defRPr>
            </a:lvl1pPr>
            <a:lvl2pPr indent="0" lvl="1" marL="0" marR="0" algn="r">
              <a:spcBef>
                <a:spcPts val="0"/>
              </a:spcBef>
              <a:buNone/>
              <a:defRPr b="0" i="1" sz="800" u="none" cap="none" strike="noStrike">
                <a:solidFill>
                  <a:srgbClr val="888888"/>
                </a:solidFill>
                <a:latin typeface="Calibri"/>
                <a:ea typeface="Calibri"/>
                <a:cs typeface="Calibri"/>
                <a:sym typeface="Calibri"/>
              </a:defRPr>
            </a:lvl2pPr>
            <a:lvl3pPr indent="0" lvl="2" marL="0" marR="0" algn="r">
              <a:spcBef>
                <a:spcPts val="0"/>
              </a:spcBef>
              <a:buNone/>
              <a:defRPr b="0" i="1" sz="800" u="none" cap="none" strike="noStrike">
                <a:solidFill>
                  <a:srgbClr val="888888"/>
                </a:solidFill>
                <a:latin typeface="Calibri"/>
                <a:ea typeface="Calibri"/>
                <a:cs typeface="Calibri"/>
                <a:sym typeface="Calibri"/>
              </a:defRPr>
            </a:lvl3pPr>
            <a:lvl4pPr indent="0" lvl="3" marL="0" marR="0" algn="r">
              <a:spcBef>
                <a:spcPts val="0"/>
              </a:spcBef>
              <a:buNone/>
              <a:defRPr b="0" i="1" sz="800" u="none" cap="none" strike="noStrike">
                <a:solidFill>
                  <a:srgbClr val="888888"/>
                </a:solidFill>
                <a:latin typeface="Calibri"/>
                <a:ea typeface="Calibri"/>
                <a:cs typeface="Calibri"/>
                <a:sym typeface="Calibri"/>
              </a:defRPr>
            </a:lvl4pPr>
            <a:lvl5pPr indent="0" lvl="4" marL="0" marR="0" algn="r">
              <a:spcBef>
                <a:spcPts val="0"/>
              </a:spcBef>
              <a:buNone/>
              <a:defRPr b="0" i="1" sz="800" u="none" cap="none" strike="noStrike">
                <a:solidFill>
                  <a:srgbClr val="888888"/>
                </a:solidFill>
                <a:latin typeface="Calibri"/>
                <a:ea typeface="Calibri"/>
                <a:cs typeface="Calibri"/>
                <a:sym typeface="Calibri"/>
              </a:defRPr>
            </a:lvl5pPr>
            <a:lvl6pPr indent="0" lvl="5" marL="0" marR="0" algn="r">
              <a:spcBef>
                <a:spcPts val="0"/>
              </a:spcBef>
              <a:buNone/>
              <a:defRPr b="0" i="1" sz="800" u="none" cap="none" strike="noStrike">
                <a:solidFill>
                  <a:srgbClr val="888888"/>
                </a:solidFill>
                <a:latin typeface="Calibri"/>
                <a:ea typeface="Calibri"/>
                <a:cs typeface="Calibri"/>
                <a:sym typeface="Calibri"/>
              </a:defRPr>
            </a:lvl6pPr>
            <a:lvl7pPr indent="0" lvl="6" marL="0" marR="0" algn="r">
              <a:spcBef>
                <a:spcPts val="0"/>
              </a:spcBef>
              <a:buNone/>
              <a:defRPr b="0" i="1" sz="800" u="none" cap="none" strike="noStrike">
                <a:solidFill>
                  <a:srgbClr val="888888"/>
                </a:solidFill>
                <a:latin typeface="Calibri"/>
                <a:ea typeface="Calibri"/>
                <a:cs typeface="Calibri"/>
                <a:sym typeface="Calibri"/>
              </a:defRPr>
            </a:lvl7pPr>
            <a:lvl8pPr indent="0" lvl="7" marL="0" marR="0" algn="r">
              <a:spcBef>
                <a:spcPts val="0"/>
              </a:spcBef>
              <a:buNone/>
              <a:defRPr b="0" i="1" sz="800" u="none" cap="none" strike="noStrike">
                <a:solidFill>
                  <a:srgbClr val="888888"/>
                </a:solidFill>
                <a:latin typeface="Calibri"/>
                <a:ea typeface="Calibri"/>
                <a:cs typeface="Calibri"/>
                <a:sym typeface="Calibri"/>
              </a:defRPr>
            </a:lvl8pPr>
            <a:lvl9pPr indent="0" lvl="8" marL="0" marR="0" algn="r">
              <a:spcBef>
                <a:spcPts val="0"/>
              </a:spcBef>
              <a:buNone/>
              <a:defRPr b="0" i="1"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6.png"/><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7.png"/><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ctrTitle"/>
          </p:nvPr>
        </p:nvSpPr>
        <p:spPr>
          <a:xfrm>
            <a:off x="493775" y="1117850"/>
            <a:ext cx="6885900" cy="1789800"/>
          </a:xfrm>
          <a:prstGeom prst="rect">
            <a:avLst/>
          </a:prstGeom>
          <a:noFill/>
          <a:ln>
            <a:noFill/>
          </a:ln>
        </p:spPr>
        <p:txBody>
          <a:bodyPr anchorCtr="0" anchor="b" bIns="34275" lIns="0" spcFirstLastPara="1" rIns="68575" wrap="square" tIns="34275">
            <a:noAutofit/>
          </a:bodyPr>
          <a:lstStyle/>
          <a:p>
            <a:pPr indent="0" lvl="0" marL="0" rtl="0" algn="l">
              <a:lnSpc>
                <a:spcPct val="96666"/>
              </a:lnSpc>
              <a:spcBef>
                <a:spcPts val="0"/>
              </a:spcBef>
              <a:spcAft>
                <a:spcPts val="0"/>
              </a:spcAft>
              <a:buClr>
                <a:schemeClr val="lt1"/>
              </a:buClr>
              <a:buSzPts val="4500"/>
              <a:buFont typeface="Arial"/>
              <a:buNone/>
            </a:pPr>
            <a:r>
              <a:rPr lang="en" sz="3200">
                <a:latin typeface="Montserrat"/>
                <a:ea typeface="Montserrat"/>
                <a:cs typeface="Montserrat"/>
                <a:sym typeface="Montserrat"/>
              </a:rPr>
              <a:t>Multi-Modal Understanding</a:t>
            </a:r>
            <a:endParaRPr sz="3200">
              <a:latin typeface="Montserrat"/>
              <a:ea typeface="Montserrat"/>
              <a:cs typeface="Montserrat"/>
              <a:sym typeface="Montserrat"/>
            </a:endParaRPr>
          </a:p>
        </p:txBody>
      </p:sp>
      <p:sp>
        <p:nvSpPr>
          <p:cNvPr id="147" name="Google Shape;147;p26"/>
          <p:cNvSpPr txBox="1"/>
          <p:nvPr>
            <p:ph idx="1" type="body"/>
          </p:nvPr>
        </p:nvSpPr>
        <p:spPr>
          <a:xfrm>
            <a:off x="493775" y="2976375"/>
            <a:ext cx="7951500" cy="1921800"/>
          </a:xfrm>
          <a:prstGeom prst="rect">
            <a:avLst/>
          </a:prstGeom>
          <a:noFill/>
          <a:ln>
            <a:noFill/>
          </a:ln>
        </p:spPr>
        <p:txBody>
          <a:bodyPr anchorCtr="0" anchor="t" bIns="34275" lIns="0" spcFirstLastPara="1" rIns="68575" wrap="square" tIns="34275">
            <a:noAutofit/>
          </a:bodyPr>
          <a:lstStyle/>
          <a:p>
            <a:pPr indent="0" lvl="0" marL="0" rtl="0" algn="l">
              <a:lnSpc>
                <a:spcPct val="100000"/>
              </a:lnSpc>
              <a:spcBef>
                <a:spcPts val="0"/>
              </a:spcBef>
              <a:spcAft>
                <a:spcPts val="0"/>
              </a:spcAft>
              <a:buSzPts val="2500"/>
              <a:buNone/>
            </a:pPr>
            <a:r>
              <a:rPr i="1" lang="en" sz="1800">
                <a:latin typeface="Source Sans 3"/>
                <a:ea typeface="Source Sans 3"/>
                <a:cs typeface="Source Sans 3"/>
                <a:sym typeface="Source Sans 3"/>
              </a:rPr>
              <a:t>Vir Sikand, Rui Zhou, Sudhit R Rao</a:t>
            </a:r>
            <a:br>
              <a:rPr lang="en" sz="1800">
                <a:latin typeface="Source Sans 3"/>
                <a:ea typeface="Source Sans 3"/>
                <a:cs typeface="Source Sans 3"/>
                <a:sym typeface="Source Sans 3"/>
              </a:rPr>
            </a:br>
            <a:endParaRPr sz="1800">
              <a:latin typeface="Source Sans 3"/>
              <a:ea typeface="Source Sans 3"/>
              <a:cs typeface="Source Sans 3"/>
              <a:sym typeface="Source Sans 3"/>
            </a:endParaRPr>
          </a:p>
          <a:p>
            <a:pPr indent="0" lvl="0" marL="0" rtl="0" algn="l">
              <a:lnSpc>
                <a:spcPct val="100000"/>
              </a:lnSpc>
              <a:spcBef>
                <a:spcPts val="0"/>
              </a:spcBef>
              <a:spcAft>
                <a:spcPts val="0"/>
              </a:spcAft>
              <a:buSzPts val="2500"/>
              <a:buNone/>
            </a:pPr>
            <a:r>
              <a:rPr lang="en" sz="1800">
                <a:latin typeface="Source Sans 3"/>
                <a:ea typeface="Source Sans 3"/>
                <a:cs typeface="Source Sans 3"/>
                <a:sym typeface="Source Sans 3"/>
              </a:rPr>
              <a:t>CS 598: Topics in LLM Agents</a:t>
            </a:r>
            <a:endParaRPr sz="1800">
              <a:latin typeface="Source Sans 3"/>
              <a:ea typeface="Source Sans 3"/>
              <a:cs typeface="Source Sans 3"/>
              <a:sym typeface="Source Sans 3"/>
            </a:endParaRPr>
          </a:p>
          <a:p>
            <a:pPr indent="0" lvl="0" marL="0" rtl="0" algn="l">
              <a:lnSpc>
                <a:spcPct val="100000"/>
              </a:lnSpc>
              <a:spcBef>
                <a:spcPts val="0"/>
              </a:spcBef>
              <a:spcAft>
                <a:spcPts val="0"/>
              </a:spcAft>
              <a:buSzPts val="2500"/>
              <a:buNone/>
            </a:pPr>
            <a:r>
              <a:t/>
            </a:r>
            <a:endParaRPr sz="1800">
              <a:latin typeface="Source Sans 3"/>
              <a:ea typeface="Source Sans 3"/>
              <a:cs typeface="Source Sans 3"/>
              <a:sym typeface="Source Sans 3"/>
            </a:endParaRPr>
          </a:p>
          <a:p>
            <a:pPr indent="0" lvl="0" marL="0" rtl="0" algn="l">
              <a:lnSpc>
                <a:spcPct val="100000"/>
              </a:lnSpc>
              <a:spcBef>
                <a:spcPts val="0"/>
              </a:spcBef>
              <a:spcAft>
                <a:spcPts val="0"/>
              </a:spcAft>
              <a:buSzPts val="2500"/>
              <a:buNone/>
            </a:pPr>
            <a:r>
              <a:rPr lang="en" sz="1800">
                <a:latin typeface="Source Sans 3"/>
                <a:ea typeface="Source Sans 3"/>
                <a:cs typeface="Source Sans 3"/>
                <a:sym typeface="Source Sans 3"/>
              </a:rPr>
              <a:t>02/20/25</a:t>
            </a:r>
            <a:endParaRPr sz="1800">
              <a:latin typeface="Source Sans 3"/>
              <a:ea typeface="Source Sans 3"/>
              <a:cs typeface="Source Sans 3"/>
              <a:sym typeface="Source Sans 3"/>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ctrTitle"/>
          </p:nvPr>
        </p:nvSpPr>
        <p:spPr>
          <a:xfrm>
            <a:off x="0" y="409300"/>
            <a:ext cx="9144000" cy="1822200"/>
          </a:xfrm>
          <a:prstGeom prst="rect">
            <a:avLst/>
          </a:prstGeom>
          <a:noFill/>
          <a:ln>
            <a:noFill/>
          </a:ln>
        </p:spPr>
        <p:txBody>
          <a:bodyPr anchorCtr="0" anchor="b" bIns="34275" lIns="0" spcFirstLastPara="1" rIns="68575" wrap="square" tIns="34275">
            <a:noAutofit/>
          </a:bodyPr>
          <a:lstStyle/>
          <a:p>
            <a:pPr indent="0" lvl="0" marL="0" rtl="0" algn="ctr">
              <a:lnSpc>
                <a:spcPct val="100000"/>
              </a:lnSpc>
              <a:spcBef>
                <a:spcPts val="0"/>
              </a:spcBef>
              <a:spcAft>
                <a:spcPts val="0"/>
              </a:spcAft>
              <a:buClr>
                <a:srgbClr val="FF5F05"/>
              </a:buClr>
              <a:buSzPts val="3000"/>
              <a:buFont typeface="Calibri"/>
              <a:buNone/>
            </a:pPr>
            <a:r>
              <a:rPr lang="en" sz="3200">
                <a:latin typeface="Montserrat"/>
                <a:ea typeface="Montserrat"/>
                <a:cs typeface="Montserrat"/>
                <a:sym typeface="Montserrat"/>
              </a:rPr>
              <a:t>Eyes Wide Shut? Exploring the Visual Shortcomings of Multimodal LLMs</a:t>
            </a:r>
            <a:endParaRPr sz="3200">
              <a:latin typeface="Montserrat"/>
              <a:ea typeface="Montserrat"/>
              <a:cs typeface="Montserrat"/>
              <a:sym typeface="Montserrat"/>
            </a:endParaRPr>
          </a:p>
        </p:txBody>
      </p:sp>
      <p:sp>
        <p:nvSpPr>
          <p:cNvPr id="154" name="Google Shape;154;p27"/>
          <p:cNvSpPr txBox="1"/>
          <p:nvPr>
            <p:ph idx="1" type="body"/>
          </p:nvPr>
        </p:nvSpPr>
        <p:spPr>
          <a:xfrm>
            <a:off x="1157700" y="2771975"/>
            <a:ext cx="6828600" cy="1237800"/>
          </a:xfrm>
          <a:prstGeom prst="rect">
            <a:avLst/>
          </a:prstGeom>
          <a:noFill/>
          <a:ln>
            <a:noFill/>
          </a:ln>
        </p:spPr>
        <p:txBody>
          <a:bodyPr anchorCtr="0" anchor="t" bIns="34275" lIns="0" spcFirstLastPara="1" rIns="68575" wrap="square" tIns="34275">
            <a:noAutofit/>
          </a:bodyPr>
          <a:lstStyle/>
          <a:p>
            <a:pPr indent="0" lvl="0" marL="0" rtl="0" algn="ctr">
              <a:lnSpc>
                <a:spcPct val="115000"/>
              </a:lnSpc>
              <a:spcBef>
                <a:spcPts val="900"/>
              </a:spcBef>
              <a:spcAft>
                <a:spcPts val="0"/>
              </a:spcAft>
              <a:buClr>
                <a:schemeClr val="dk1"/>
              </a:buClr>
              <a:buSzPts val="800"/>
              <a:buFont typeface="Arial"/>
              <a:buNone/>
            </a:pPr>
            <a:r>
              <a:rPr lang="en" sz="1500">
                <a:latin typeface="Calibri"/>
                <a:ea typeface="Calibri"/>
                <a:cs typeface="Calibri"/>
                <a:sym typeface="Calibri"/>
              </a:rPr>
              <a:t>Shengbang Tong, Zhuang Liu, Yuexiang Zhai, Yi Ma, Yann LeCun, Saining Xie</a:t>
            </a:r>
            <a:endParaRPr i="1" sz="1800">
              <a:latin typeface="Source Sans 3"/>
              <a:ea typeface="Source Sans 3"/>
              <a:cs typeface="Source Sans 3"/>
              <a:sym typeface="Source Sans 3"/>
            </a:endParaRPr>
          </a:p>
          <a:p>
            <a:pPr indent="0" lvl="0" marL="0" rtl="0" algn="ctr">
              <a:lnSpc>
                <a:spcPct val="100000"/>
              </a:lnSpc>
              <a:spcBef>
                <a:spcPts val="900"/>
              </a:spcBef>
              <a:spcAft>
                <a:spcPts val="0"/>
              </a:spcAft>
              <a:buClr>
                <a:schemeClr val="dk1"/>
              </a:buClr>
              <a:buSzPts val="1100"/>
              <a:buFont typeface="Arial"/>
              <a:buNone/>
            </a:pPr>
            <a:r>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New York University, META, UC Berkeley</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SzPts val="2500"/>
              <a:buNone/>
            </a:pPr>
            <a:r>
              <a:t/>
            </a:r>
            <a:endParaRPr b="1" sz="2000">
              <a:solidFill>
                <a:schemeClr val="dk1"/>
              </a:solidFill>
              <a:highlight>
                <a:schemeClr val="accent6"/>
              </a:highlight>
              <a:latin typeface="Source Sans 3"/>
              <a:ea typeface="Source Sans 3"/>
              <a:cs typeface="Source Sans 3"/>
              <a:sym typeface="Source Sans 3"/>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8"/>
          <p:cNvSpPr/>
          <p:nvPr/>
        </p:nvSpPr>
        <p:spPr>
          <a:xfrm rot="-5400000">
            <a:off x="600167" y="1118527"/>
            <a:ext cx="2500200" cy="2624400"/>
          </a:xfrm>
          <a:prstGeom prst="downArrow">
            <a:avLst>
              <a:gd fmla="val 100000" name="adj1"/>
              <a:gd fmla="val 15788" name="adj2"/>
            </a:avLst>
          </a:prstGeom>
          <a:solidFill>
            <a:srgbClr val="40404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60" name="Google Shape;160;p28"/>
          <p:cNvSpPr txBox="1"/>
          <p:nvPr>
            <p:ph type="title"/>
          </p:nvPr>
        </p:nvSpPr>
        <p:spPr>
          <a:xfrm>
            <a:off x="771525" y="1475450"/>
            <a:ext cx="1971600" cy="19104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FFFFFF"/>
              </a:buClr>
              <a:buSzPts val="2500"/>
              <a:buFont typeface="Calibri"/>
              <a:buNone/>
            </a:pPr>
            <a:r>
              <a:rPr lang="en" sz="2500">
                <a:solidFill>
                  <a:srgbClr val="FFFFFF"/>
                </a:solidFill>
                <a:latin typeface="Calibri"/>
                <a:ea typeface="Calibri"/>
                <a:cs typeface="Calibri"/>
                <a:sym typeface="Calibri"/>
              </a:rPr>
              <a:t>Visual Shortcomings</a:t>
            </a:r>
            <a:endParaRPr/>
          </a:p>
        </p:txBody>
      </p:sp>
      <p:pic>
        <p:nvPicPr>
          <p:cNvPr descr="A collage of a dog and a red post&#10;&#10;AI-generated content may be incorrect." id="161" name="Google Shape;161;p28"/>
          <p:cNvPicPr preferRelativeResize="0"/>
          <p:nvPr/>
        </p:nvPicPr>
        <p:blipFill rotWithShape="1">
          <a:blip r:embed="rId3">
            <a:alphaModFix/>
          </a:blip>
          <a:srcRect b="0" l="0" r="0" t="0"/>
          <a:stretch/>
        </p:blipFill>
        <p:spPr>
          <a:xfrm>
            <a:off x="3520408" y="59508"/>
            <a:ext cx="5085527" cy="3191166"/>
          </a:xfrm>
          <a:prstGeom prst="rect">
            <a:avLst/>
          </a:prstGeom>
          <a:noFill/>
          <a:ln>
            <a:noFill/>
          </a:ln>
        </p:spPr>
      </p:pic>
      <p:sp>
        <p:nvSpPr>
          <p:cNvPr id="162" name="Google Shape;162;p28"/>
          <p:cNvSpPr txBox="1"/>
          <p:nvPr/>
        </p:nvSpPr>
        <p:spPr>
          <a:xfrm>
            <a:off x="0" y="4797251"/>
            <a:ext cx="4769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dk1"/>
                </a:solidFill>
                <a:latin typeface="Calibri"/>
                <a:ea typeface="Calibri"/>
                <a:cs typeface="Calibri"/>
                <a:sym typeface="Calibri"/>
              </a:rPr>
              <a:t>Tong, Shengbang, et al. "Eyes wide shut? exploring the visual shortcomings of multimodal llms." Proceedings of the IEEE/CVF Conference on Computer Vision and Pattern Recognition. 2024.</a:t>
            </a:r>
            <a:endParaRPr sz="1100"/>
          </a:p>
        </p:txBody>
      </p:sp>
      <p:sp>
        <p:nvSpPr>
          <p:cNvPr id="163" name="Google Shape;163;p28"/>
          <p:cNvSpPr txBox="1"/>
          <p:nvPr/>
        </p:nvSpPr>
        <p:spPr>
          <a:xfrm>
            <a:off x="4089400" y="3166770"/>
            <a:ext cx="4572000" cy="1254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a:solidFill>
                  <a:schemeClr val="dk1"/>
                </a:solidFill>
                <a:latin typeface="Calibri"/>
                <a:ea typeface="Calibri"/>
                <a:cs typeface="Calibri"/>
                <a:sym typeface="Calibri"/>
              </a:rPr>
              <a:t>Figure 1. Instances are systematically identified where the visual question answering (VQA) capabilities of GPT-4V [41] fall short (Date accessed: Nov04,2023). Our research highlights scenarios in which advanced systems like GPT-4V struggle with seemingly simple questions due to inaccurate visual grounding. Text in red signifies an incorrect response, while text in green represents hallucinated explanations for the incorrect answer. All the images referenced are sourced from ImageNet-1K and LAION-Aesthetic datasets.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0" y="30575"/>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Introduction</a:t>
            </a:r>
            <a:endParaRPr b="1">
              <a:solidFill>
                <a:srgbClr val="434343"/>
              </a:solidFill>
            </a:endParaRPr>
          </a:p>
        </p:txBody>
      </p:sp>
      <p:sp>
        <p:nvSpPr>
          <p:cNvPr id="169" name="Google Shape;169;p29"/>
          <p:cNvSpPr txBox="1"/>
          <p:nvPr/>
        </p:nvSpPr>
        <p:spPr>
          <a:xfrm>
            <a:off x="114300" y="725071"/>
            <a:ext cx="8915400" cy="3994200"/>
          </a:xfrm>
          <a:prstGeom prst="rect">
            <a:avLst/>
          </a:prstGeom>
          <a:noFill/>
          <a:ln>
            <a:noFill/>
          </a:ln>
        </p:spPr>
        <p:txBody>
          <a:bodyPr anchorCtr="0" anchor="t" bIns="34275" lIns="68575" spcFirstLastPara="1" rIns="68575" wrap="square" tIns="34275">
            <a:spAutoFit/>
          </a:bodyPr>
          <a:lstStyle/>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MLLMs use a pre-trained vision encoder(like CLIP) to generate image embeddings and put the embeddings into an LLM. However, this assumes the CLIP is quite accurate when describing the image.</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Most MLLMs nowadays use pre-trained language and vision models. However, limitation in the pre-trained model leads to downstream tasks’ limitations in the language models. </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Clip-blind pairs: If two visually different images are encoded similarly by CLIP, then at least one of the images is likely ambiguously encoded. We call such a pair of images a CLIP-blind pair. These pairs lead to downstream task failures. </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MultiModal Visual Patterns (MMVP) benchmark: This benchmark is specifically designed to inquire about differences in CLIP-blind pairs and evaluate the visual abilities of state-of-the-art MLLMs with straightforward questions.</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Evaluated multiple models including GPT-4v using MMVP and most of these models perform below the level of random guessing. Yet, even GPT-4V exhibits a considerable disparity in performance– exceeding 50%– compared to human performance.</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We summarize nine prevalent patterns of the CLIPblind pairs in MMVP, such as “orientation”, “counting”, and “viewpoint”, which pose significant challenges for the CLIP vision encoder.</a:t>
            </a:r>
            <a:endParaRPr sz="1100"/>
          </a:p>
          <a:p>
            <a:pPr indent="-336550" lvl="0" marL="342900" marR="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If CLIP struggles with a particular visual pattern, such as “orientation”, MLLMs will likely also fall short. This shows that the CLIP vision encoders could become a bottleneck in such systems.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alibri"/>
              <a:buNone/>
            </a:pPr>
            <a:r>
              <a:rPr b="1" lang="en" sz="3300">
                <a:solidFill>
                  <a:srgbClr val="434343"/>
                </a:solidFill>
                <a:latin typeface="Calibri"/>
                <a:ea typeface="Calibri"/>
                <a:cs typeface="Calibri"/>
                <a:sym typeface="Calibri"/>
              </a:rPr>
              <a:t>MultiModal Visual Patterns Benchmark</a:t>
            </a:r>
            <a:endParaRPr b="1">
              <a:solidFill>
                <a:srgbClr val="434343"/>
              </a:solidFill>
            </a:endParaRPr>
          </a:p>
        </p:txBody>
      </p:sp>
      <p:pic>
        <p:nvPicPr>
          <p:cNvPr id="175" name="Google Shape;175;p30"/>
          <p:cNvPicPr preferRelativeResize="0"/>
          <p:nvPr/>
        </p:nvPicPr>
        <p:blipFill rotWithShape="1">
          <a:blip r:embed="rId3">
            <a:alphaModFix/>
          </a:blip>
          <a:srcRect b="0" l="0" r="0" t="0"/>
          <a:stretch/>
        </p:blipFill>
        <p:spPr>
          <a:xfrm>
            <a:off x="0" y="880241"/>
            <a:ext cx="9124869" cy="3562023"/>
          </a:xfrm>
          <a:prstGeom prst="rect">
            <a:avLst/>
          </a:prstGeom>
          <a:noFill/>
          <a:ln>
            <a:noFill/>
          </a:ln>
        </p:spPr>
      </p:pic>
      <p:sp>
        <p:nvSpPr>
          <p:cNvPr id="176" name="Google Shape;176;p30"/>
          <p:cNvSpPr txBox="1"/>
          <p:nvPr/>
        </p:nvSpPr>
        <p:spPr>
          <a:xfrm>
            <a:off x="55179" y="4524704"/>
            <a:ext cx="90699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We assess the questions on SOTA open-source models (LLaVA-1.5 [31], InstructBLIP [8], Mini-GPT4 [71]) and closed-source models (GPT-4V [40], Gemini [14], Bard [13])</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31"/>
          <p:cNvSpPr/>
          <p:nvPr/>
        </p:nvSpPr>
        <p:spPr>
          <a:xfrm rot="-5400000">
            <a:off x="600167" y="1118527"/>
            <a:ext cx="2500200" cy="2624400"/>
          </a:xfrm>
          <a:prstGeom prst="downArrow">
            <a:avLst>
              <a:gd fmla="val 100000" name="adj1"/>
              <a:gd fmla="val 15788" name="adj2"/>
            </a:avLst>
          </a:prstGeom>
          <a:solidFill>
            <a:srgbClr val="40404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2" name="Google Shape;182;p31"/>
          <p:cNvSpPr txBox="1"/>
          <p:nvPr>
            <p:ph type="title"/>
          </p:nvPr>
        </p:nvSpPr>
        <p:spPr>
          <a:xfrm>
            <a:off x="771525" y="1475450"/>
            <a:ext cx="1971600" cy="19104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FFFFFF"/>
              </a:buClr>
              <a:buSzPts val="2700"/>
              <a:buFont typeface="Calibri"/>
              <a:buNone/>
            </a:pPr>
            <a:r>
              <a:rPr lang="en" sz="2700">
                <a:solidFill>
                  <a:srgbClr val="FFFFFF"/>
                </a:solidFill>
                <a:latin typeface="Calibri"/>
                <a:ea typeface="Calibri"/>
                <a:cs typeface="Calibri"/>
                <a:sym typeface="Calibri"/>
              </a:rPr>
              <a:t>Benchmark Results</a:t>
            </a:r>
            <a:endParaRPr/>
          </a:p>
        </p:txBody>
      </p:sp>
      <p:pic>
        <p:nvPicPr>
          <p:cNvPr descr="A graph with text and numbers&#10;&#10;AI-generated content may be incorrect." id="183" name="Google Shape;183;p31"/>
          <p:cNvPicPr preferRelativeResize="0"/>
          <p:nvPr/>
        </p:nvPicPr>
        <p:blipFill rotWithShape="1">
          <a:blip r:embed="rId3">
            <a:alphaModFix/>
          </a:blip>
          <a:srcRect b="0" l="0" r="0" t="0"/>
          <a:stretch/>
        </p:blipFill>
        <p:spPr>
          <a:xfrm>
            <a:off x="3704559" y="482599"/>
            <a:ext cx="4842382" cy="41765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32"/>
          <p:cNvSpPr/>
          <p:nvPr/>
        </p:nvSpPr>
        <p:spPr>
          <a:xfrm>
            <a:off x="0" y="488814"/>
            <a:ext cx="9144000" cy="5523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89" name="Google Shape;189;p32"/>
          <p:cNvSpPr txBox="1"/>
          <p:nvPr>
            <p:ph type="title"/>
          </p:nvPr>
        </p:nvSpPr>
        <p:spPr>
          <a:xfrm>
            <a:off x="417399" y="482600"/>
            <a:ext cx="8408400" cy="5586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lt1"/>
              </a:buClr>
              <a:buSzPts val="2400"/>
              <a:buFont typeface="Calibri"/>
              <a:buNone/>
            </a:pPr>
            <a:r>
              <a:rPr lang="en" sz="2400">
                <a:solidFill>
                  <a:schemeClr val="lt1"/>
                </a:solidFill>
                <a:latin typeface="Calibri"/>
                <a:ea typeface="Calibri"/>
                <a:cs typeface="Calibri"/>
                <a:sym typeface="Calibri"/>
              </a:rPr>
              <a:t>Patterns From CLIP-blind Pairs</a:t>
            </a:r>
            <a:endParaRPr/>
          </a:p>
        </p:txBody>
      </p:sp>
      <p:pic>
        <p:nvPicPr>
          <p:cNvPr descr="A screenshot of a computer&#10;&#10;AI-generated content may be incorrect." id="190" name="Google Shape;190;p32"/>
          <p:cNvPicPr preferRelativeResize="0"/>
          <p:nvPr/>
        </p:nvPicPr>
        <p:blipFill rotWithShape="1">
          <a:blip r:embed="rId3">
            <a:alphaModFix/>
          </a:blip>
          <a:srcRect b="0" l="0" r="0" t="0"/>
          <a:stretch/>
        </p:blipFill>
        <p:spPr>
          <a:xfrm>
            <a:off x="64813" y="1047441"/>
            <a:ext cx="9018120" cy="36072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Performance Comparison</a:t>
            </a:r>
            <a:endParaRPr b="1">
              <a:solidFill>
                <a:srgbClr val="434343"/>
              </a:solidFill>
            </a:endParaRPr>
          </a:p>
        </p:txBody>
      </p:sp>
      <p:pic>
        <p:nvPicPr>
          <p:cNvPr id="196" name="Google Shape;196;p33"/>
          <p:cNvPicPr preferRelativeResize="0"/>
          <p:nvPr/>
        </p:nvPicPr>
        <p:blipFill rotWithShape="1">
          <a:blip r:embed="rId3">
            <a:alphaModFix/>
          </a:blip>
          <a:srcRect b="0" l="0" r="0" t="0"/>
          <a:stretch/>
        </p:blipFill>
        <p:spPr>
          <a:xfrm>
            <a:off x="58693" y="988810"/>
            <a:ext cx="9085303" cy="40841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Does CLIP Affects MLLM?</a:t>
            </a:r>
            <a:endParaRPr b="1">
              <a:solidFill>
                <a:srgbClr val="434343"/>
              </a:solidFill>
            </a:endParaRPr>
          </a:p>
        </p:txBody>
      </p:sp>
      <p:pic>
        <p:nvPicPr>
          <p:cNvPr id="202" name="Google Shape;202;p34"/>
          <p:cNvPicPr preferRelativeResize="0"/>
          <p:nvPr/>
        </p:nvPicPr>
        <p:blipFill rotWithShape="1">
          <a:blip r:embed="rId3">
            <a:alphaModFix/>
          </a:blip>
          <a:srcRect b="0" l="0" r="0" t="0"/>
          <a:stretch/>
        </p:blipFill>
        <p:spPr>
          <a:xfrm>
            <a:off x="1139913" y="990600"/>
            <a:ext cx="7015548" cy="41480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How do we solve this encoder problem?</a:t>
            </a:r>
            <a:endParaRPr b="1">
              <a:solidFill>
                <a:srgbClr val="434343"/>
              </a:solidFill>
            </a:endParaRPr>
          </a:p>
        </p:txBody>
      </p:sp>
      <p:sp>
        <p:nvSpPr>
          <p:cNvPr id="208" name="Google Shape;208;p35"/>
          <p:cNvSpPr txBox="1"/>
          <p:nvPr/>
        </p:nvSpPr>
        <p:spPr>
          <a:xfrm>
            <a:off x="-55180" y="2306293"/>
            <a:ext cx="9144000" cy="531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3000">
                <a:solidFill>
                  <a:srgbClr val="FF5F05"/>
                </a:solidFill>
                <a:latin typeface="Calibri"/>
                <a:ea typeface="Calibri"/>
                <a:cs typeface="Calibri"/>
                <a:sym typeface="Calibri"/>
              </a:rPr>
              <a:t>Mixture-of-Features for MLLM</a:t>
            </a:r>
            <a:endParaRPr sz="1100">
              <a:solidFill>
                <a:srgbClr val="FF5F0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Model Design</a:t>
            </a:r>
            <a:endParaRPr b="1">
              <a:solidFill>
                <a:srgbClr val="434343"/>
              </a:solidFill>
            </a:endParaRPr>
          </a:p>
        </p:txBody>
      </p:sp>
      <p:pic>
        <p:nvPicPr>
          <p:cNvPr id="214" name="Google Shape;214;p36"/>
          <p:cNvPicPr preferRelativeResize="0"/>
          <p:nvPr/>
        </p:nvPicPr>
        <p:blipFill rotWithShape="1">
          <a:blip r:embed="rId3">
            <a:alphaModFix/>
          </a:blip>
          <a:srcRect b="0" l="0" r="0" t="0"/>
          <a:stretch/>
        </p:blipFill>
        <p:spPr>
          <a:xfrm>
            <a:off x="-1" y="1277897"/>
            <a:ext cx="9126044" cy="34207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37"/>
          <p:cNvSpPr/>
          <p:nvPr/>
        </p:nvSpPr>
        <p:spPr>
          <a:xfrm>
            <a:off x="478631" y="0"/>
            <a:ext cx="2436048" cy="2550312"/>
          </a:xfrm>
          <a:prstGeom prst="flowChartDocumen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0" name="Google Shape;220;p37"/>
          <p:cNvSpPr txBox="1"/>
          <p:nvPr>
            <p:ph type="title"/>
          </p:nvPr>
        </p:nvSpPr>
        <p:spPr>
          <a:xfrm>
            <a:off x="628650" y="128372"/>
            <a:ext cx="2130000" cy="17784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FFFFFF"/>
              </a:buClr>
              <a:buSzPts val="2400"/>
              <a:buFont typeface="Calibri"/>
              <a:buNone/>
            </a:pPr>
            <a:r>
              <a:rPr lang="en" sz="2400">
                <a:solidFill>
                  <a:srgbClr val="FFFFFF"/>
                </a:solidFill>
                <a:latin typeface="Calibri"/>
                <a:ea typeface="Calibri"/>
                <a:cs typeface="Calibri"/>
                <a:sym typeface="Calibri"/>
              </a:rPr>
              <a:t>Additive-MoF</a:t>
            </a:r>
            <a:endParaRPr/>
          </a:p>
        </p:txBody>
      </p:sp>
      <p:pic>
        <p:nvPicPr>
          <p:cNvPr id="221" name="Google Shape;221;p37"/>
          <p:cNvPicPr preferRelativeResize="0"/>
          <p:nvPr/>
        </p:nvPicPr>
        <p:blipFill rotWithShape="1">
          <a:blip r:embed="rId3">
            <a:alphaModFix/>
          </a:blip>
          <a:srcRect b="0" l="0" r="0" t="0"/>
          <a:stretch/>
        </p:blipFill>
        <p:spPr>
          <a:xfrm>
            <a:off x="3369104" y="1739"/>
            <a:ext cx="5510655" cy="3209954"/>
          </a:xfrm>
          <a:prstGeom prst="rect">
            <a:avLst/>
          </a:prstGeom>
          <a:noFill/>
          <a:ln>
            <a:noFill/>
          </a:ln>
        </p:spPr>
      </p:pic>
      <p:pic>
        <p:nvPicPr>
          <p:cNvPr id="222" name="Google Shape;222;p37"/>
          <p:cNvPicPr preferRelativeResize="0"/>
          <p:nvPr/>
        </p:nvPicPr>
        <p:blipFill rotWithShape="1">
          <a:blip r:embed="rId4">
            <a:alphaModFix/>
          </a:blip>
          <a:srcRect b="0" l="0" r="0" t="0"/>
          <a:stretch/>
        </p:blipFill>
        <p:spPr>
          <a:xfrm>
            <a:off x="2844444" y="2136473"/>
            <a:ext cx="6035311" cy="23832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0" y="133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b="1" lang="en">
                <a:solidFill>
                  <a:srgbClr val="434343"/>
                </a:solidFill>
              </a:rPr>
              <a:t>Interleaved-MoF</a:t>
            </a:r>
            <a:endParaRPr b="1">
              <a:solidFill>
                <a:srgbClr val="434343"/>
              </a:solidFill>
            </a:endParaRPr>
          </a:p>
        </p:txBody>
      </p:sp>
      <p:pic>
        <p:nvPicPr>
          <p:cNvPr id="228" name="Google Shape;228;p38"/>
          <p:cNvPicPr preferRelativeResize="0"/>
          <p:nvPr/>
        </p:nvPicPr>
        <p:blipFill rotWithShape="1">
          <a:blip r:embed="rId3">
            <a:alphaModFix/>
          </a:blip>
          <a:srcRect b="0" l="0" r="0" t="0"/>
          <a:stretch/>
        </p:blipFill>
        <p:spPr>
          <a:xfrm>
            <a:off x="3314700" y="1319793"/>
            <a:ext cx="5829300" cy="2503913"/>
          </a:xfrm>
          <a:prstGeom prst="rect">
            <a:avLst/>
          </a:prstGeom>
          <a:noFill/>
          <a:ln>
            <a:noFill/>
          </a:ln>
        </p:spPr>
      </p:pic>
      <p:pic>
        <p:nvPicPr>
          <p:cNvPr id="229" name="Google Shape;229;p38"/>
          <p:cNvPicPr preferRelativeResize="0"/>
          <p:nvPr/>
        </p:nvPicPr>
        <p:blipFill rotWithShape="1">
          <a:blip r:embed="rId4">
            <a:alphaModFix/>
          </a:blip>
          <a:srcRect b="0" l="0" r="0" t="0"/>
          <a:stretch/>
        </p:blipFill>
        <p:spPr>
          <a:xfrm>
            <a:off x="375079" y="1252537"/>
            <a:ext cx="3000375" cy="2638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b="1" lang="en">
                <a:solidFill>
                  <a:srgbClr val="434343"/>
                </a:solidFill>
              </a:rPr>
              <a:t>Conclusion</a:t>
            </a:r>
            <a:endParaRPr b="1">
              <a:solidFill>
                <a:srgbClr val="434343"/>
              </a:solidFill>
            </a:endParaRPr>
          </a:p>
        </p:txBody>
      </p:sp>
      <p:sp>
        <p:nvSpPr>
          <p:cNvPr id="235" name="Google Shape;235;p39"/>
          <p:cNvSpPr txBox="1"/>
          <p:nvPr/>
        </p:nvSpPr>
        <p:spPr>
          <a:xfrm>
            <a:off x="150350" y="1036625"/>
            <a:ext cx="8993700" cy="4035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Vision is not good enough for language. MLLMs fail in simple questions because their pre-trained CLIP vision encoders overlook crucial visual details in images, and systematically fail to sort important visual patterns.</a:t>
            </a:r>
            <a:endParaRPr sz="15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Popular visual representation learning models– vision-and-language models and vision-only self-supervised learning models– excel in different aspects.</a:t>
            </a:r>
            <a:endParaRPr sz="15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Although a carefully designed Mixture-of-Features approach could alleviate visual limitations and utilize the strengths of these two learning paradigms, it is necessary to develop new evaluation metrics to facilitate the development of new visual representation learning algorithms.</a:t>
            </a:r>
            <a:endParaRPr sz="1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ctrTitle"/>
          </p:nvPr>
        </p:nvSpPr>
        <p:spPr>
          <a:xfrm>
            <a:off x="919350" y="1173325"/>
            <a:ext cx="7305300" cy="1081200"/>
          </a:xfrm>
          <a:prstGeom prst="rect">
            <a:avLst/>
          </a:prstGeom>
          <a:noFill/>
          <a:ln>
            <a:noFill/>
          </a:ln>
        </p:spPr>
        <p:txBody>
          <a:bodyPr anchorCtr="0" anchor="b" bIns="34275" lIns="0" spcFirstLastPara="1" rIns="68575" wrap="square" tIns="34275">
            <a:noAutofit/>
          </a:bodyPr>
          <a:lstStyle/>
          <a:p>
            <a:pPr indent="0" lvl="0" marL="0" rtl="0" algn="ctr">
              <a:lnSpc>
                <a:spcPct val="100000"/>
              </a:lnSpc>
              <a:spcBef>
                <a:spcPts val="0"/>
              </a:spcBef>
              <a:spcAft>
                <a:spcPts val="0"/>
              </a:spcAft>
              <a:buClr>
                <a:schemeClr val="dk1"/>
              </a:buClr>
              <a:buSzPts val="1100"/>
              <a:buFont typeface="Arial"/>
              <a:buNone/>
            </a:pPr>
            <a:r>
              <a:rPr lang="en" sz="2000">
                <a:latin typeface="Source Sans 3"/>
                <a:ea typeface="Source Sans 3"/>
                <a:cs typeface="Source Sans 3"/>
                <a:sym typeface="Source Sans 3"/>
              </a:rPr>
              <a:t>VisualWebArena: Evaluating Multimodal Agents on Realistic Visually Grounded Web Tasks</a:t>
            </a:r>
            <a:endParaRPr sz="2000">
              <a:latin typeface="Source Sans 3"/>
              <a:ea typeface="Source Sans 3"/>
              <a:cs typeface="Source Sans 3"/>
              <a:sym typeface="Source Sans 3"/>
            </a:endParaRPr>
          </a:p>
        </p:txBody>
      </p:sp>
      <p:sp>
        <p:nvSpPr>
          <p:cNvPr id="242" name="Google Shape;242;p40"/>
          <p:cNvSpPr txBox="1"/>
          <p:nvPr>
            <p:ph idx="1" type="body"/>
          </p:nvPr>
        </p:nvSpPr>
        <p:spPr>
          <a:xfrm>
            <a:off x="1157700" y="2671575"/>
            <a:ext cx="6828600" cy="1237800"/>
          </a:xfrm>
          <a:prstGeom prst="rect">
            <a:avLst/>
          </a:prstGeom>
          <a:noFill/>
          <a:ln>
            <a:noFill/>
          </a:ln>
        </p:spPr>
        <p:txBody>
          <a:bodyPr anchorCtr="0" anchor="t" bIns="34275" lIns="0" spcFirstLastPara="1" rIns="68575" wrap="square" tIns="34275">
            <a:noAutofit/>
          </a:bodyPr>
          <a:lstStyle/>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D</a:t>
            </a:r>
            <a:r>
              <a:rPr i="1" lang="en" sz="1800">
                <a:latin typeface="Source Sans 3"/>
                <a:ea typeface="Source Sans 3"/>
                <a:cs typeface="Source Sans 3"/>
                <a:sym typeface="Source Sans 3"/>
              </a:rPr>
              <a:t>Jing Yu Koh  Robert Lo  Lawrence Jang1  Vikram Duvvur1</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Ming Chong Lim1  Po-Yu Huang1  Graham Neubig  Shuyan Zhou</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Ruslan Salakhutdinov  Daniel Fried</a:t>
            </a:r>
            <a:r>
              <a:rPr i="1" lang="en" sz="1800">
                <a:latin typeface="Source Sans 3"/>
                <a:ea typeface="Source Sans 3"/>
                <a:cs typeface="Source Sans 3"/>
                <a:sym typeface="Source Sans 3"/>
              </a:rPr>
              <a:t>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Carnegie Mellon University</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SzPts val="2500"/>
              <a:buNone/>
            </a:pPr>
            <a:r>
              <a:t/>
            </a:r>
            <a:endParaRPr b="1" sz="2000">
              <a:solidFill>
                <a:schemeClr val="dk1"/>
              </a:solidFill>
              <a:highlight>
                <a:schemeClr val="accent6"/>
              </a:highlight>
              <a:latin typeface="Source Sans 3"/>
              <a:ea typeface="Source Sans 3"/>
              <a:cs typeface="Source Sans 3"/>
              <a:sym typeface="Source Sans 3"/>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Background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2"/>
          <p:cNvSpPr txBox="1"/>
          <p:nvPr>
            <p:ph idx="1" type="body"/>
          </p:nvPr>
        </p:nvSpPr>
        <p:spPr>
          <a:xfrm>
            <a:off x="311700" y="1017725"/>
            <a:ext cx="8266800" cy="37023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300"/>
              <a:t>Motivation: Existing benchmarks focus on text-only agents, neglecting visually grounded tasks.</a:t>
            </a:r>
            <a:endParaRPr sz="1300"/>
          </a:p>
          <a:p>
            <a:pPr indent="-317500" lvl="0" marL="457200" rtl="0" algn="l">
              <a:lnSpc>
                <a:spcPct val="115000"/>
              </a:lnSpc>
              <a:spcBef>
                <a:spcPts val="0"/>
              </a:spcBef>
              <a:spcAft>
                <a:spcPts val="0"/>
              </a:spcAft>
              <a:buSzPts val="1400"/>
              <a:buChar char="●"/>
            </a:pPr>
            <a:r>
              <a:rPr lang="en" sz="1300"/>
              <a:t>Challenge: Most web interfaces rely on both text and visual elements, making text-only models insufficient.</a:t>
            </a:r>
            <a:endParaRPr sz="1300"/>
          </a:p>
          <a:p>
            <a:pPr indent="-317500" lvl="0" marL="457200" rtl="0" algn="l">
              <a:lnSpc>
                <a:spcPct val="115000"/>
              </a:lnSpc>
              <a:spcBef>
                <a:spcPts val="0"/>
              </a:spcBef>
              <a:spcAft>
                <a:spcPts val="0"/>
              </a:spcAft>
              <a:buSzPts val="1400"/>
              <a:buChar char="●"/>
            </a:pPr>
            <a:r>
              <a:rPr lang="en" sz="1300"/>
              <a:t>Solution: VisualWebArena—a benchmark for evaluating multimodal agents on realistic web-based tasks.</a:t>
            </a:r>
            <a:endParaRPr sz="1300"/>
          </a:p>
          <a:p>
            <a:pPr indent="0" lvl="0" marL="0" rtl="0" algn="l">
              <a:lnSpc>
                <a:spcPct val="115000"/>
              </a:lnSpc>
              <a:spcBef>
                <a:spcPts val="1200"/>
              </a:spcBef>
              <a:spcAft>
                <a:spcPts val="0"/>
              </a:spcAft>
              <a:buNone/>
            </a:pPr>
            <a:r>
              <a:rPr lang="en" sz="1300"/>
              <a:t>Capabilities Assessed:</a:t>
            </a:r>
            <a:endParaRPr sz="1300"/>
          </a:p>
          <a:p>
            <a:pPr indent="-317500" lvl="0" marL="457200" rtl="0" algn="l">
              <a:lnSpc>
                <a:spcPct val="115000"/>
              </a:lnSpc>
              <a:spcBef>
                <a:spcPts val="1200"/>
              </a:spcBef>
              <a:spcAft>
                <a:spcPts val="0"/>
              </a:spcAft>
              <a:buSzPts val="1400"/>
              <a:buChar char="●"/>
            </a:pPr>
            <a:r>
              <a:rPr lang="en" sz="1300"/>
              <a:t>Processing image-text inputs</a:t>
            </a:r>
            <a:endParaRPr sz="1300"/>
          </a:p>
          <a:p>
            <a:pPr indent="-317500" lvl="0" marL="457200" rtl="0" algn="l">
              <a:lnSpc>
                <a:spcPct val="115000"/>
              </a:lnSpc>
              <a:spcBef>
                <a:spcPts val="0"/>
              </a:spcBef>
              <a:spcAft>
                <a:spcPts val="0"/>
              </a:spcAft>
              <a:buSzPts val="1400"/>
              <a:buChar char="●"/>
            </a:pPr>
            <a:r>
              <a:rPr lang="en" sz="1300"/>
              <a:t>Understanding natural language instructions</a:t>
            </a:r>
            <a:endParaRPr sz="1300"/>
          </a:p>
          <a:p>
            <a:pPr indent="-317500" lvl="0" marL="457200" rtl="0" algn="l">
              <a:lnSpc>
                <a:spcPct val="115000"/>
              </a:lnSpc>
              <a:spcBef>
                <a:spcPts val="0"/>
              </a:spcBef>
              <a:spcAft>
                <a:spcPts val="0"/>
              </a:spcAft>
              <a:buSzPts val="1400"/>
              <a:buChar char="●"/>
            </a:pPr>
            <a:r>
              <a:rPr lang="en" sz="1300"/>
              <a:t>Executing web-based actions</a:t>
            </a:r>
            <a:endParaRPr sz="1300"/>
          </a:p>
          <a:p>
            <a:pPr indent="0" lvl="0" marL="0" rtl="0" algn="l">
              <a:lnSpc>
                <a:spcPct val="115000"/>
              </a:lnSpc>
              <a:spcBef>
                <a:spcPts val="1200"/>
              </a:spcBef>
              <a:spcAft>
                <a:spcPts val="0"/>
              </a:spcAft>
              <a:buNone/>
            </a:pPr>
            <a:r>
              <a:rPr lang="en" sz="1300"/>
              <a:t>Findings:</a:t>
            </a:r>
            <a:endParaRPr sz="1300"/>
          </a:p>
          <a:p>
            <a:pPr indent="-317500" lvl="0" marL="457200" rtl="0" algn="l">
              <a:lnSpc>
                <a:spcPct val="115000"/>
              </a:lnSpc>
              <a:spcBef>
                <a:spcPts val="1200"/>
              </a:spcBef>
              <a:spcAft>
                <a:spcPts val="0"/>
              </a:spcAft>
              <a:buSzPts val="1400"/>
              <a:buChar char="●"/>
            </a:pPr>
            <a:r>
              <a:rPr lang="en" sz="1300"/>
              <a:t>Text-only agents struggle with visual information.</a:t>
            </a:r>
            <a:endParaRPr sz="1300"/>
          </a:p>
          <a:p>
            <a:pPr indent="-317500" lvl="0" marL="457200" rtl="0" algn="l">
              <a:lnSpc>
                <a:spcPct val="115000"/>
              </a:lnSpc>
              <a:spcBef>
                <a:spcPts val="0"/>
              </a:spcBef>
              <a:spcAft>
                <a:spcPts val="0"/>
              </a:spcAft>
              <a:buSzPts val="1400"/>
              <a:buChar char="●"/>
            </a:pPr>
            <a:r>
              <a:rPr lang="en" sz="1300"/>
              <a:t>Current multimodal models have key capability gaps.</a:t>
            </a:r>
            <a:endParaRPr sz="1300"/>
          </a:p>
          <a:p>
            <a:pPr indent="-317500" lvl="0" marL="457200" rtl="0" algn="l">
              <a:lnSpc>
                <a:spcPct val="115000"/>
              </a:lnSpc>
              <a:spcBef>
                <a:spcPts val="0"/>
              </a:spcBef>
              <a:spcAft>
                <a:spcPts val="0"/>
              </a:spcAft>
              <a:buSzPts val="1400"/>
              <a:buChar char="●"/>
            </a:pPr>
            <a:r>
              <a:rPr lang="en" sz="1300"/>
              <a:t>Insights for improving web-based autonomous agents.</a:t>
            </a:r>
            <a:endParaRPr sz="1300"/>
          </a:p>
        </p:txBody>
      </p:sp>
      <p:sp>
        <p:nvSpPr>
          <p:cNvPr id="253" name="Google Shape;253;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 Work &amp; Motivation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txBox="1"/>
          <p:nvPr>
            <p:ph idx="1" type="body"/>
          </p:nvPr>
        </p:nvSpPr>
        <p:spPr>
          <a:xfrm>
            <a:off x="311700" y="1017725"/>
            <a:ext cx="8266800" cy="37023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300"/>
              <a:t>Longstanding AI Goal: Automating routine computer tasks (Franklin &amp; Graesser, 1996; Jennings et al., 1998).</a:t>
            </a:r>
            <a:endParaRPr sz="1300"/>
          </a:p>
          <a:p>
            <a:pPr indent="0" lvl="0" marL="0" rtl="0" algn="l">
              <a:lnSpc>
                <a:spcPct val="115000"/>
              </a:lnSpc>
              <a:spcBef>
                <a:spcPts val="1200"/>
              </a:spcBef>
              <a:spcAft>
                <a:spcPts val="0"/>
              </a:spcAft>
              <a:buNone/>
            </a:pPr>
            <a:r>
              <a:rPr lang="en" sz="1300"/>
              <a:t>Key Challenges:</a:t>
            </a:r>
            <a:endParaRPr sz="1300"/>
          </a:p>
          <a:p>
            <a:pPr indent="-317500" lvl="0" marL="457200" rtl="0" algn="l">
              <a:lnSpc>
                <a:spcPct val="115000"/>
              </a:lnSpc>
              <a:spcBef>
                <a:spcPts val="1200"/>
              </a:spcBef>
              <a:spcAft>
                <a:spcPts val="0"/>
              </a:spcAft>
              <a:buSzPts val="1400"/>
              <a:buChar char="●"/>
            </a:pPr>
            <a:r>
              <a:rPr lang="en" sz="1300"/>
              <a:t>Navigating computers effectively.</a:t>
            </a:r>
            <a:endParaRPr sz="1300"/>
          </a:p>
          <a:p>
            <a:pPr indent="-317500" lvl="0" marL="457200" rtl="0" algn="l">
              <a:lnSpc>
                <a:spcPct val="115000"/>
              </a:lnSpc>
              <a:spcBef>
                <a:spcPts val="0"/>
              </a:spcBef>
              <a:spcAft>
                <a:spcPts val="0"/>
              </a:spcAft>
              <a:buSzPts val="1400"/>
              <a:buChar char="●"/>
            </a:pPr>
            <a:r>
              <a:rPr lang="en" sz="1300"/>
              <a:t>Processing visual &amp; textual inputs.</a:t>
            </a:r>
            <a:endParaRPr sz="1300"/>
          </a:p>
          <a:p>
            <a:pPr indent="-317500" lvl="0" marL="457200" rtl="0" algn="l">
              <a:lnSpc>
                <a:spcPct val="115000"/>
              </a:lnSpc>
              <a:spcBef>
                <a:spcPts val="0"/>
              </a:spcBef>
              <a:spcAft>
                <a:spcPts val="0"/>
              </a:spcAft>
              <a:buSzPts val="1400"/>
              <a:buChar char="●"/>
            </a:pPr>
            <a:r>
              <a:rPr lang="en" sz="1300"/>
              <a:t>Understanding natural language instructions.</a:t>
            </a:r>
            <a:endParaRPr sz="1300"/>
          </a:p>
          <a:p>
            <a:pPr indent="-317500" lvl="0" marL="457200" rtl="0" algn="l">
              <a:lnSpc>
                <a:spcPct val="115000"/>
              </a:lnSpc>
              <a:spcBef>
                <a:spcPts val="0"/>
              </a:spcBef>
              <a:spcAft>
                <a:spcPts val="0"/>
              </a:spcAft>
              <a:buSzPts val="1400"/>
              <a:buChar char="●"/>
            </a:pPr>
            <a:r>
              <a:rPr lang="en" sz="1300"/>
              <a:t>Executing actions to achieve goals.</a:t>
            </a:r>
            <a:endParaRPr sz="1300"/>
          </a:p>
          <a:p>
            <a:pPr indent="0" lvl="0" marL="0" rtl="0" algn="l">
              <a:lnSpc>
                <a:spcPct val="115000"/>
              </a:lnSpc>
              <a:spcBef>
                <a:spcPts val="1200"/>
              </a:spcBef>
              <a:spcAft>
                <a:spcPts val="0"/>
              </a:spcAft>
              <a:buNone/>
            </a:pPr>
            <a:r>
              <a:rPr lang="en" sz="1300"/>
              <a:t>Why Visual Understanding?</a:t>
            </a:r>
            <a:endParaRPr sz="1300"/>
          </a:p>
          <a:p>
            <a:pPr indent="-317500" lvl="0" marL="457200" rtl="0" algn="l">
              <a:lnSpc>
                <a:spcPct val="115000"/>
              </a:lnSpc>
              <a:spcBef>
                <a:spcPts val="1200"/>
              </a:spcBef>
              <a:spcAft>
                <a:spcPts val="0"/>
              </a:spcAft>
              <a:buSzPts val="1400"/>
              <a:buChar char="●"/>
            </a:pPr>
            <a:r>
              <a:rPr lang="en" sz="1300"/>
              <a:t>Web interfaces are designed for human perception.</a:t>
            </a:r>
            <a:endParaRPr sz="1300"/>
          </a:p>
          <a:p>
            <a:pPr indent="-317500" lvl="0" marL="457200" rtl="0" algn="l">
              <a:lnSpc>
                <a:spcPct val="115000"/>
              </a:lnSpc>
              <a:spcBef>
                <a:spcPts val="0"/>
              </a:spcBef>
              <a:spcAft>
                <a:spcPts val="0"/>
              </a:spcAft>
              <a:buSzPts val="1400"/>
              <a:buChar char="●"/>
            </a:pPr>
            <a:r>
              <a:rPr lang="en" sz="1300"/>
              <a:t>Many tasks involve visual references (e.g., ordering a product by color).</a:t>
            </a:r>
            <a:endParaRPr sz="1300"/>
          </a:p>
          <a:p>
            <a:pPr indent="-317500" lvl="0" marL="457200" rtl="0" algn="l">
              <a:lnSpc>
                <a:spcPct val="115000"/>
              </a:lnSpc>
              <a:spcBef>
                <a:spcPts val="0"/>
              </a:spcBef>
              <a:spcAft>
                <a:spcPts val="0"/>
              </a:spcAft>
              <a:buSzPts val="1400"/>
              <a:buChar char="●"/>
            </a:pPr>
            <a:r>
              <a:rPr lang="en" sz="1300"/>
              <a:t>Current benchmarks mainly focus on text-based tasks, neglecting multimodal evaluation.</a:t>
            </a:r>
            <a:endParaRPr sz="1300"/>
          </a:p>
        </p:txBody>
      </p:sp>
      <p:sp>
        <p:nvSpPr>
          <p:cNvPr id="259" name="Google Shape;25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Autonomous Web Agents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4"/>
          <p:cNvSpPr txBox="1"/>
          <p:nvPr>
            <p:ph idx="1" type="body"/>
          </p:nvPr>
        </p:nvSpPr>
        <p:spPr>
          <a:xfrm>
            <a:off x="311700" y="1017725"/>
            <a:ext cx="8266800" cy="3702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300"/>
              <a:t>Bridging the Gap:</a:t>
            </a:r>
            <a:endParaRPr sz="1300"/>
          </a:p>
          <a:p>
            <a:pPr indent="-317500" lvl="0" marL="457200" rtl="0" algn="l">
              <a:lnSpc>
                <a:spcPct val="115000"/>
              </a:lnSpc>
              <a:spcBef>
                <a:spcPts val="1200"/>
              </a:spcBef>
              <a:spcAft>
                <a:spcPts val="0"/>
              </a:spcAft>
              <a:buSzPts val="1400"/>
              <a:buChar char="●"/>
            </a:pPr>
            <a:r>
              <a:rPr lang="en" sz="1300"/>
              <a:t>A benchmark suite assessing multimodal agents on realistic web tasks.</a:t>
            </a:r>
            <a:endParaRPr sz="1300"/>
          </a:p>
          <a:p>
            <a:pPr indent="-317500" lvl="0" marL="457200" rtl="0" algn="l">
              <a:lnSpc>
                <a:spcPct val="115000"/>
              </a:lnSpc>
              <a:spcBef>
                <a:spcPts val="0"/>
              </a:spcBef>
              <a:spcAft>
                <a:spcPts val="0"/>
              </a:spcAft>
              <a:buSzPts val="1400"/>
              <a:buChar char="●"/>
            </a:pPr>
            <a:r>
              <a:rPr lang="en" sz="1300"/>
              <a:t>Builds on WebArena (Zhou et al., 2024) with reproducible environments.</a:t>
            </a:r>
            <a:endParaRPr sz="1300"/>
          </a:p>
          <a:p>
            <a:pPr indent="-317500" lvl="0" marL="457200" rtl="0" algn="l">
              <a:lnSpc>
                <a:spcPct val="115000"/>
              </a:lnSpc>
              <a:spcBef>
                <a:spcPts val="0"/>
              </a:spcBef>
              <a:spcAft>
                <a:spcPts val="0"/>
              </a:spcAft>
              <a:buSzPts val="1400"/>
              <a:buChar char="●"/>
            </a:pPr>
            <a:r>
              <a:rPr lang="en" sz="1300"/>
              <a:t>Evaluates visual-text integration to mimic real-world computer interactions.</a:t>
            </a:r>
            <a:endParaRPr sz="1300"/>
          </a:p>
          <a:p>
            <a:pPr indent="0" lvl="0" marL="0" rtl="0" algn="l">
              <a:lnSpc>
                <a:spcPct val="115000"/>
              </a:lnSpc>
              <a:spcBef>
                <a:spcPts val="1200"/>
              </a:spcBef>
              <a:spcAft>
                <a:spcPts val="0"/>
              </a:spcAft>
              <a:buNone/>
            </a:pPr>
            <a:r>
              <a:rPr lang="en" sz="1300"/>
              <a:t>Key Features:</a:t>
            </a:r>
            <a:endParaRPr sz="1300"/>
          </a:p>
          <a:p>
            <a:pPr indent="-317500" lvl="0" marL="457200" rtl="0" algn="l">
              <a:lnSpc>
                <a:spcPct val="115000"/>
              </a:lnSpc>
              <a:spcBef>
                <a:spcPts val="1200"/>
              </a:spcBef>
              <a:spcAft>
                <a:spcPts val="0"/>
              </a:spcAft>
              <a:buSzPts val="1400"/>
              <a:buChar char="●"/>
            </a:pPr>
            <a:r>
              <a:rPr lang="en" sz="1300"/>
              <a:t>910 tasks across three diverse environments:</a:t>
            </a:r>
            <a:endParaRPr sz="1300"/>
          </a:p>
          <a:p>
            <a:pPr indent="-317500" lvl="0" marL="457200" rtl="0" algn="l">
              <a:lnSpc>
                <a:spcPct val="115000"/>
              </a:lnSpc>
              <a:spcBef>
                <a:spcPts val="0"/>
              </a:spcBef>
              <a:spcAft>
                <a:spcPts val="0"/>
              </a:spcAft>
              <a:buSzPts val="1400"/>
              <a:buChar char="●"/>
            </a:pPr>
            <a:r>
              <a:rPr lang="en" sz="1300"/>
              <a:t>Classifieds (new, real-world data)</a:t>
            </a:r>
            <a:endParaRPr sz="1300"/>
          </a:p>
          <a:p>
            <a:pPr indent="-317500" lvl="0" marL="457200" rtl="0" algn="l">
              <a:lnSpc>
                <a:spcPct val="115000"/>
              </a:lnSpc>
              <a:spcBef>
                <a:spcPts val="0"/>
              </a:spcBef>
              <a:spcAft>
                <a:spcPts val="0"/>
              </a:spcAft>
              <a:buSzPts val="1400"/>
              <a:buChar char="●"/>
            </a:pPr>
            <a:r>
              <a:rPr lang="en" sz="1300"/>
              <a:t>Shopping (from WebArena)</a:t>
            </a:r>
            <a:endParaRPr sz="1300"/>
          </a:p>
          <a:p>
            <a:pPr indent="-317500" lvl="0" marL="457200" rtl="0" algn="l">
              <a:lnSpc>
                <a:spcPct val="115000"/>
              </a:lnSpc>
              <a:spcBef>
                <a:spcPts val="0"/>
              </a:spcBef>
              <a:spcAft>
                <a:spcPts val="0"/>
              </a:spcAft>
              <a:buSzPts val="1400"/>
              <a:buChar char="●"/>
            </a:pPr>
            <a:r>
              <a:rPr lang="en" sz="1300"/>
              <a:t>Reddit (from WebArena)</a:t>
            </a:r>
            <a:endParaRPr sz="1300"/>
          </a:p>
          <a:p>
            <a:pPr indent="-317500" lvl="0" marL="457200" rtl="0" algn="l">
              <a:lnSpc>
                <a:spcPct val="115000"/>
              </a:lnSpc>
              <a:spcBef>
                <a:spcPts val="0"/>
              </a:spcBef>
              <a:spcAft>
                <a:spcPts val="0"/>
              </a:spcAft>
              <a:buSzPts val="1400"/>
              <a:buChar char="●"/>
            </a:pPr>
            <a:r>
              <a:rPr lang="en" sz="1300"/>
              <a:t>Visually grounded tasks requiring image-text understanding.</a:t>
            </a:r>
            <a:endParaRPr sz="1300"/>
          </a:p>
          <a:p>
            <a:pPr indent="-317500" lvl="0" marL="457200" rtl="0" algn="l">
              <a:lnSpc>
                <a:spcPct val="115000"/>
              </a:lnSpc>
              <a:spcBef>
                <a:spcPts val="0"/>
              </a:spcBef>
              <a:spcAft>
                <a:spcPts val="0"/>
              </a:spcAft>
              <a:buSzPts val="1400"/>
              <a:buChar char="●"/>
            </a:pPr>
            <a:r>
              <a:rPr lang="en" sz="1300"/>
              <a:t>25.2% of tasks involve interleaved image-text inputs.</a:t>
            </a:r>
            <a:endParaRPr sz="1300"/>
          </a:p>
        </p:txBody>
      </p:sp>
      <p:sp>
        <p:nvSpPr>
          <p:cNvPr id="265" name="Google Shape;26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VisualWebArena</a:t>
            </a:r>
            <a:endParaRPr/>
          </a:p>
        </p:txBody>
      </p:sp>
      <p:pic>
        <p:nvPicPr>
          <p:cNvPr id="266" name="Google Shape;266;p44"/>
          <p:cNvPicPr preferRelativeResize="0"/>
          <p:nvPr/>
        </p:nvPicPr>
        <p:blipFill>
          <a:blip r:embed="rId3">
            <a:alphaModFix/>
          </a:blip>
          <a:stretch>
            <a:fillRect/>
          </a:stretch>
        </p:blipFill>
        <p:spPr>
          <a:xfrm>
            <a:off x="5278150" y="2777450"/>
            <a:ext cx="3682848" cy="1504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5"/>
          <p:cNvSpPr txBox="1"/>
          <p:nvPr>
            <p:ph idx="1" type="body"/>
          </p:nvPr>
        </p:nvSpPr>
        <p:spPr>
          <a:xfrm>
            <a:off x="311700" y="1017725"/>
            <a:ext cx="8266800" cy="37023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300"/>
              <a:t>VisualWebArena is a benchmark suite designed to rigorously evaluate autonomous agents on realistic web tasks by integrating both visual and textual processing.</a:t>
            </a:r>
            <a:endParaRPr sz="1300"/>
          </a:p>
          <a:p>
            <a:pPr indent="-317500" lvl="0" marL="457200" rtl="0" algn="l">
              <a:lnSpc>
                <a:spcPct val="115000"/>
              </a:lnSpc>
              <a:spcBef>
                <a:spcPts val="0"/>
              </a:spcBef>
              <a:spcAft>
                <a:spcPts val="0"/>
              </a:spcAft>
              <a:buSzPts val="1400"/>
              <a:buChar char="●"/>
            </a:pPr>
            <a:r>
              <a:rPr lang="en" sz="1300"/>
              <a:t>Building on the WebArena framework (Zhou et al., 2024), it provides reproducible, self-hosted environments with execution-based evaluations to ensure consistency and scalability.</a:t>
            </a:r>
            <a:endParaRPr sz="1300"/>
          </a:p>
          <a:p>
            <a:pPr indent="-317500" lvl="0" marL="457200" rtl="0" algn="l">
              <a:lnSpc>
                <a:spcPct val="115000"/>
              </a:lnSpc>
              <a:spcBef>
                <a:spcPts val="0"/>
              </a:spcBef>
              <a:spcAft>
                <a:spcPts val="0"/>
              </a:spcAft>
              <a:buSzPts val="1400"/>
              <a:buChar char="●"/>
            </a:pPr>
            <a:r>
              <a:rPr lang="en" sz="1300"/>
              <a:t>The benchmark includes 910 diverse tasks across three web environments—Classifieds, Shopping, and Reddit—where Classifieds is newly introduced with real-world data.</a:t>
            </a:r>
            <a:endParaRPr sz="1300"/>
          </a:p>
          <a:p>
            <a:pPr indent="-317500" lvl="0" marL="457200" rtl="0" algn="l">
              <a:lnSpc>
                <a:spcPct val="115000"/>
              </a:lnSpc>
              <a:spcBef>
                <a:spcPts val="0"/>
              </a:spcBef>
              <a:spcAft>
                <a:spcPts val="0"/>
              </a:spcAft>
              <a:buSzPts val="1400"/>
              <a:buChar char="●"/>
            </a:pPr>
            <a:r>
              <a:rPr lang="en" sz="1300"/>
              <a:t>Unlike prior benchmarks, all tasks in VisualWebArena require visual understanding of webpage content, with 25.2% of them incorporating interleaved image-text inputs for a more complex multimodal challenge.</a:t>
            </a:r>
            <a:endParaRPr sz="1300"/>
          </a:p>
          <a:p>
            <a:pPr indent="-317500" lvl="0" marL="457200" rtl="0" algn="l">
              <a:lnSpc>
                <a:spcPct val="115000"/>
              </a:lnSpc>
              <a:spcBef>
                <a:spcPts val="0"/>
              </a:spcBef>
              <a:spcAft>
                <a:spcPts val="0"/>
              </a:spcAft>
              <a:buSzPts val="1400"/>
              <a:buChar char="●"/>
            </a:pPr>
            <a:r>
              <a:rPr lang="en" sz="1300"/>
              <a:t>We extensively evaluate state-of-the-art large language models (LLMs) and vision-language models (VLMs), finding that while VLMs outperform text-only LLMs, the best VLM agent still lags far behind human performance (16.4% vs. 88.7%).</a:t>
            </a:r>
            <a:endParaRPr sz="1300"/>
          </a:p>
          <a:p>
            <a:pPr indent="-317500" lvl="0" marL="457200" rtl="0" algn="l">
              <a:lnSpc>
                <a:spcPct val="115000"/>
              </a:lnSpc>
              <a:spcBef>
                <a:spcPts val="0"/>
              </a:spcBef>
              <a:spcAft>
                <a:spcPts val="0"/>
              </a:spcAft>
              <a:buSzPts val="1400"/>
              <a:buChar char="●"/>
            </a:pPr>
            <a:r>
              <a:rPr lang="en" sz="1300"/>
              <a:t>To push the boundaries of multimodal agents, we introduce a new VLM agent inspired by Set-of-Marks prompting (Yang et al., 2023a), which simplifies the action space and achieves significantly better performance on visually complex web environments.</a:t>
            </a:r>
            <a:endParaRPr sz="1300"/>
          </a:p>
        </p:txBody>
      </p:sp>
      <p:sp>
        <p:nvSpPr>
          <p:cNvPr id="272" name="Google Shape;27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VisualWebArena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Related Work</a:t>
            </a:r>
            <a:endParaRPr/>
          </a:p>
        </p:txBody>
      </p:sp>
      <p:sp>
        <p:nvSpPr>
          <p:cNvPr id="278" name="Google Shape;278;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a:bodyPr>
          <a:lstStyle/>
          <a:p>
            <a:pPr indent="-317182" lvl="0" marL="457200" rtl="0" algn="l">
              <a:spcBef>
                <a:spcPts val="0"/>
              </a:spcBef>
              <a:spcAft>
                <a:spcPts val="0"/>
              </a:spcAft>
              <a:buSzPct val="100000"/>
              <a:buChar char="●"/>
            </a:pPr>
            <a:r>
              <a:rPr lang="en"/>
              <a:t>The development of reproducible environments for autonomous agents has progressed from reinforcement learning settings to complex web-based interaction, enabling more realistic AI evaluations.</a:t>
            </a:r>
            <a:endParaRPr/>
          </a:p>
          <a:p>
            <a:pPr indent="-317182" lvl="0" marL="457200" rtl="0" algn="l">
              <a:spcBef>
                <a:spcPts val="0"/>
              </a:spcBef>
              <a:spcAft>
                <a:spcPts val="0"/>
              </a:spcAft>
              <a:buSzPct val="100000"/>
              <a:buChar char="●"/>
            </a:pPr>
            <a:r>
              <a:rPr lang="en"/>
              <a:t>Recent web agent benchmarks have introduced tasks requiring interaction with both static and dynamic web environments, expanding the scope of agent capabilities beyond simple text-based operations.</a:t>
            </a:r>
            <a:endParaRPr/>
          </a:p>
          <a:p>
            <a:pPr indent="-317182" lvl="0" marL="457200" rtl="0" algn="l">
              <a:spcBef>
                <a:spcPts val="0"/>
              </a:spcBef>
              <a:spcAft>
                <a:spcPts val="0"/>
              </a:spcAft>
              <a:buSzPct val="100000"/>
              <a:buChar char="●"/>
            </a:pPr>
            <a:r>
              <a:rPr lang="en"/>
              <a:t>Large Language Models (LLMs) have demonstrated strong abilities in reasoning, instruction-following, and long-context understanding, leading to their application in autonomous web agents.</a:t>
            </a:r>
            <a:endParaRPr/>
          </a:p>
          <a:p>
            <a:pPr indent="-317182" lvl="0" marL="457200" rtl="0" algn="l">
              <a:spcBef>
                <a:spcPts val="0"/>
              </a:spcBef>
              <a:spcAft>
                <a:spcPts val="0"/>
              </a:spcAft>
              <a:buSzPct val="100000"/>
              <a:buChar char="●"/>
            </a:pPr>
            <a:r>
              <a:rPr lang="en"/>
              <a:t>Several recent approaches improve LLM-based agents by leveraging recursive prompting, multi-agent orchestration, and fine-tuning on web-based interaction data to enhance performance.</a:t>
            </a:r>
            <a:endParaRPr/>
          </a:p>
          <a:p>
            <a:pPr indent="-317182" lvl="0" marL="457200" rtl="0" algn="l">
              <a:spcBef>
                <a:spcPts val="0"/>
              </a:spcBef>
              <a:spcAft>
                <a:spcPts val="0"/>
              </a:spcAft>
              <a:buSzPct val="100000"/>
              <a:buChar char="●"/>
            </a:pPr>
            <a:r>
              <a:rPr lang="en"/>
              <a:t>Vision-Language Models (VLMs) extend multimodal AI capabilities by integrating visual processing with language understanding, improving performance on tasks like image captioning and question answering.</a:t>
            </a:r>
            <a:endParaRPr/>
          </a:p>
          <a:p>
            <a:pPr indent="-317182" lvl="0" marL="457200" rtl="0" algn="l">
              <a:spcBef>
                <a:spcPts val="0"/>
              </a:spcBef>
              <a:spcAft>
                <a:spcPts val="0"/>
              </a:spcAft>
              <a:buSzPct val="100000"/>
              <a:buChar char="●"/>
            </a:pPr>
            <a:r>
              <a:rPr lang="en"/>
              <a:t>Our work builds on VLM advances by introducing a Set-of-Marks (SoM) agent that uses JavaScript to structure observations and actions, enabling more effective agent interaction with web environments.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Approach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Environment</a:t>
            </a:r>
            <a:endParaRPr/>
          </a:p>
        </p:txBody>
      </p:sp>
      <p:sp>
        <p:nvSpPr>
          <p:cNvPr id="289" name="Google Shape;28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Self-Hosted and Deterministic Framework: All websites in VisualWebArena are provided as standalone self-hosted applications, ensuring reproducibility, controlled execution, and consistency in agent evaluations.</a:t>
            </a:r>
            <a:endParaRPr/>
          </a:p>
          <a:p>
            <a:pPr indent="-334327" lvl="0" marL="457200" rtl="0" algn="l">
              <a:spcBef>
                <a:spcPts val="0"/>
              </a:spcBef>
              <a:spcAft>
                <a:spcPts val="0"/>
              </a:spcAft>
              <a:buSzPct val="100000"/>
              <a:buChar char="●"/>
            </a:pPr>
            <a:r>
              <a:rPr lang="en"/>
              <a:t>Realistic Web Content and Infrastructure: Textual and visual content is sourced from real-world websites, while the underlying web code is built on open-source technologies commonly used in live web applications.</a:t>
            </a:r>
            <a:endParaRPr/>
          </a:p>
          <a:p>
            <a:pPr indent="-334327" lvl="0" marL="457200" rtl="0" algn="l">
              <a:spcBef>
                <a:spcPts val="0"/>
              </a:spcBef>
              <a:spcAft>
                <a:spcPts val="0"/>
              </a:spcAft>
              <a:buSzPct val="100000"/>
              <a:buChar char="●"/>
            </a:pPr>
            <a:r>
              <a:rPr lang="en"/>
              <a:t>Modeled as a Partially Observable Markov Decision Process (POMDP): The environment is formally defined as ℰ = (S, A, Ω, T), where:</a:t>
            </a:r>
            <a:endParaRPr/>
          </a:p>
          <a:p>
            <a:pPr indent="-334327" lvl="0" marL="457200" rtl="0" algn="l">
              <a:spcBef>
                <a:spcPts val="0"/>
              </a:spcBef>
              <a:spcAft>
                <a:spcPts val="0"/>
              </a:spcAft>
              <a:buSzPct val="100000"/>
              <a:buChar char="●"/>
            </a:pPr>
            <a:r>
              <a:rPr lang="en"/>
              <a:t>S represents the set of possible states (e.g., different web pages).</a:t>
            </a:r>
            <a:endParaRPr/>
          </a:p>
          <a:p>
            <a:pPr indent="-334327" lvl="0" marL="457200" rtl="0" algn="l">
              <a:spcBef>
                <a:spcPts val="0"/>
              </a:spcBef>
              <a:spcAft>
                <a:spcPts val="0"/>
              </a:spcAft>
              <a:buSzPct val="100000"/>
              <a:buChar char="●"/>
            </a:pPr>
            <a:r>
              <a:rPr lang="en"/>
              <a:t>A is the set of actions the agent can take (e.g., clicks, text entry).</a:t>
            </a:r>
            <a:endParaRPr/>
          </a:p>
          <a:p>
            <a:pPr indent="-334327" lvl="0" marL="457200" rtl="0" algn="l">
              <a:spcBef>
                <a:spcPts val="0"/>
              </a:spcBef>
              <a:spcAft>
                <a:spcPts val="0"/>
              </a:spcAft>
              <a:buSzPct val="100000"/>
              <a:buChar char="●"/>
            </a:pPr>
            <a:r>
              <a:rPr lang="en"/>
              <a:t>Ω defines the set of partial observations available to the agent at each step.</a:t>
            </a:r>
            <a:endParaRPr/>
          </a:p>
          <a:p>
            <a:pPr indent="-334327" lvl="0" marL="457200" rtl="0" algn="l">
              <a:spcBef>
                <a:spcPts val="0"/>
              </a:spcBef>
              <a:spcAft>
                <a:spcPts val="0"/>
              </a:spcAft>
              <a:buSzPct val="100000"/>
              <a:buChar char="●"/>
            </a:pPr>
            <a:r>
              <a:rPr lang="en"/>
              <a:t>T: S × A → S is the deterministic transition function that updates the state based on the agent’s action.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Reward</a:t>
            </a:r>
            <a:endParaRPr/>
          </a:p>
        </p:txBody>
      </p:sp>
      <p:sp>
        <p:nvSpPr>
          <p:cNvPr id="295" name="Google Shape;29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Observation and Action Mechanism: At each time step t, the agent receives a partial observation oₜ ∈ Ω from the current state sₜ ∈ S and selects an action aₜ ∈ A based on the available information.</a:t>
            </a:r>
            <a:endParaRPr/>
          </a:p>
          <a:p>
            <a:pPr indent="-325755" lvl="0" marL="457200" rtl="0" algn="l">
              <a:spcBef>
                <a:spcPts val="0"/>
              </a:spcBef>
              <a:spcAft>
                <a:spcPts val="0"/>
              </a:spcAft>
              <a:buSzPct val="100000"/>
              <a:buChar char="●"/>
            </a:pPr>
            <a:r>
              <a:rPr lang="en"/>
              <a:t>State Transition and Interaction Model: The environment transitions deterministically to a new state sₜ₊₁ = T(sₜ, aₜ), where the agent then receives a new observation oₜ₊₁ ∈ Ω reflecting the updated webpage.</a:t>
            </a:r>
            <a:endParaRPr/>
          </a:p>
          <a:p>
            <a:pPr indent="-325755" lvl="0" marL="457200" rtl="0" algn="l">
              <a:spcBef>
                <a:spcPts val="0"/>
              </a:spcBef>
              <a:spcAft>
                <a:spcPts val="0"/>
              </a:spcAft>
              <a:buSzPct val="100000"/>
              <a:buChar char="●"/>
            </a:pPr>
            <a:r>
              <a:rPr lang="en"/>
              <a:t>Action Space Definition: Actions can be either:</a:t>
            </a:r>
            <a:endParaRPr/>
          </a:p>
          <a:p>
            <a:pPr indent="-325755" lvl="0" marL="457200" rtl="0" algn="l">
              <a:spcBef>
                <a:spcPts val="0"/>
              </a:spcBef>
              <a:spcAft>
                <a:spcPts val="0"/>
              </a:spcAft>
              <a:buSzPct val="100000"/>
              <a:buChar char="●"/>
            </a:pPr>
            <a:r>
              <a:rPr lang="en"/>
              <a:t>Webpage interactions, such as clicking, scrolling, typing, or form submission (Tab. 1).</a:t>
            </a:r>
            <a:endParaRPr/>
          </a:p>
          <a:p>
            <a:pPr indent="-325755" lvl="0" marL="457200" rtl="0" algn="l">
              <a:spcBef>
                <a:spcPts val="0"/>
              </a:spcBef>
              <a:spcAft>
                <a:spcPts val="0"/>
              </a:spcAft>
              <a:buSzPct val="100000"/>
              <a:buChar char="●"/>
            </a:pPr>
            <a:r>
              <a:rPr lang="en"/>
              <a:t>String-based outputs, used in information-seeking tasks requiring text-based responses (Sec. 3.3).</a:t>
            </a:r>
            <a:endParaRPr/>
          </a:p>
          <a:p>
            <a:pPr indent="-325755" lvl="0" marL="457200" rtl="0" algn="l">
              <a:spcBef>
                <a:spcPts val="0"/>
              </a:spcBef>
              <a:spcAft>
                <a:spcPts val="0"/>
              </a:spcAft>
              <a:buSzPct val="100000"/>
              <a:buChar char="●"/>
            </a:pPr>
            <a:r>
              <a:rPr lang="en"/>
              <a:t>Binary Reward Function for Task Success: The reward function is defined as R: S × A → {0,1}, where:</a:t>
            </a:r>
            <a:endParaRPr/>
          </a:p>
          <a:p>
            <a:pPr indent="-325755" lvl="0" marL="457200" rtl="0" algn="l">
              <a:spcBef>
                <a:spcPts val="0"/>
              </a:spcBef>
              <a:spcAft>
                <a:spcPts val="0"/>
              </a:spcAft>
              <a:buSzPct val="100000"/>
              <a:buChar char="●"/>
            </a:pPr>
            <a:r>
              <a:rPr lang="en"/>
              <a:t>R = 1 if the final state aligns with the task objective (i.e., goal successfully completed).</a:t>
            </a:r>
            <a:endParaRPr/>
          </a:p>
          <a:p>
            <a:pPr indent="-325755" lvl="0" marL="457200" rtl="0" algn="l">
              <a:spcBef>
                <a:spcPts val="0"/>
              </a:spcBef>
              <a:spcAft>
                <a:spcPts val="0"/>
              </a:spcAft>
              <a:buSzPct val="100000"/>
              <a:buChar char="●"/>
            </a:pPr>
            <a:r>
              <a:rPr lang="en"/>
              <a:t>R = 0 otherwise, ensuring agents are evaluated strictly on task completion.</a:t>
            </a:r>
            <a:endParaRPr/>
          </a:p>
          <a:p>
            <a:pPr indent="-325755" lvl="0" marL="457200" rtl="0" algn="l">
              <a:spcBef>
                <a:spcPts val="0"/>
              </a:spcBef>
              <a:spcAft>
                <a:spcPts val="0"/>
              </a:spcAft>
              <a:buSzPct val="100000"/>
              <a:buChar char="●"/>
            </a:pPr>
            <a:r>
              <a:rPr lang="en"/>
              <a:t>This detailed breakdown provides a structured foundation for evaluating autonomous web agents under controlled and realistic conditions.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50"/>
          <p:cNvPicPr preferRelativeResize="0"/>
          <p:nvPr/>
        </p:nvPicPr>
        <p:blipFill>
          <a:blip r:embed="rId3">
            <a:alphaModFix/>
          </a:blip>
          <a:stretch>
            <a:fillRect/>
          </a:stretch>
        </p:blipFill>
        <p:spPr>
          <a:xfrm>
            <a:off x="152400" y="724650"/>
            <a:ext cx="8839200" cy="381599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 Space</a:t>
            </a:r>
            <a:endParaRPr/>
          </a:p>
        </p:txBody>
      </p:sp>
      <p:sp>
        <p:nvSpPr>
          <p:cNvPr id="306" name="Google Shape;306;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Realistic Web Browsing Representation: The observation space Ω is designed to mimic real-world web browsing experiences, including webpage URLs, multiple open tabs, and the content of the currently focused tab.</a:t>
            </a:r>
            <a:endParaRPr/>
          </a:p>
          <a:p>
            <a:pPr indent="-308610" lvl="0" marL="457200" rtl="0" algn="l">
              <a:spcBef>
                <a:spcPts val="0"/>
              </a:spcBef>
              <a:spcAft>
                <a:spcPts val="0"/>
              </a:spcAft>
              <a:buSzPct val="100000"/>
              <a:buChar char="●"/>
            </a:pPr>
            <a:r>
              <a:rPr lang="en"/>
              <a:t>Multimodal Inputs for Certain Tasks: In 25.2% of tasks, the agent must process both textual and image inputs, requiring a more advanced multimodal understanding.</a:t>
            </a:r>
            <a:endParaRPr/>
          </a:p>
          <a:p>
            <a:pPr indent="-308610" lvl="0" marL="457200" rtl="0" algn="l">
              <a:spcBef>
                <a:spcPts val="0"/>
              </a:spcBef>
              <a:spcAft>
                <a:spcPts val="0"/>
              </a:spcAft>
              <a:buSzPct val="100000"/>
              <a:buChar char="●"/>
            </a:pPr>
            <a:r>
              <a:rPr lang="en"/>
              <a:t>Diverse Webpage Content Representations: To support different agent architectures, VisualWebArena provides four structured representations of webpage content:</a:t>
            </a:r>
            <a:endParaRPr/>
          </a:p>
          <a:p>
            <a:pPr indent="-308610" lvl="0" marL="457200" rtl="0" algn="l">
              <a:spcBef>
                <a:spcPts val="0"/>
              </a:spcBef>
              <a:spcAft>
                <a:spcPts val="0"/>
              </a:spcAft>
              <a:buSzPct val="100000"/>
              <a:buChar char="●"/>
            </a:pPr>
            <a:r>
              <a:rPr lang="en"/>
              <a:t>Raw HTML as a DOM Tree: Following prior work on autonomous web agents (Shi et al., 2017; Liu et al., 2018; Deng et al., 2023), this representation includes the full web page structure and metadata.</a:t>
            </a:r>
            <a:endParaRPr/>
          </a:p>
          <a:p>
            <a:pPr indent="-308610" lvl="0" marL="457200" rtl="0" algn="l">
              <a:spcBef>
                <a:spcPts val="0"/>
              </a:spcBef>
              <a:spcAft>
                <a:spcPts val="0"/>
              </a:spcAft>
              <a:buSzPct val="100000"/>
              <a:buChar char="●"/>
            </a:pPr>
            <a:r>
              <a:rPr lang="en"/>
              <a:t>Accessibility Tree: A structured, simplified representation optimized for assistive technologies, which serves as the primary observation format for WebArena’s baseline LLM agents (Zhou et al., 2024).</a:t>
            </a:r>
            <a:endParaRPr/>
          </a:p>
          <a:p>
            <a:pPr indent="-308610" lvl="0" marL="457200" rtl="0" algn="l">
              <a:spcBef>
                <a:spcPts val="0"/>
              </a:spcBef>
              <a:spcAft>
                <a:spcPts val="0"/>
              </a:spcAft>
              <a:buSzPct val="100000"/>
              <a:buChar char="●"/>
            </a:pPr>
            <a:r>
              <a:rPr lang="en"/>
              <a:t>Web Screenshots as RGB Arrays: Enables vision-based processing, as demonstrated in prior multimodal agent research (Gur et al., 2023; Hong et al., 2023; Yan et al., 2023).</a:t>
            </a:r>
            <a:endParaRPr/>
          </a:p>
          <a:p>
            <a:pPr indent="-308610" lvl="0" marL="457200" rtl="0" algn="l">
              <a:spcBef>
                <a:spcPts val="0"/>
              </a:spcBef>
              <a:spcAft>
                <a:spcPts val="0"/>
              </a:spcAft>
              <a:buSzPct val="100000"/>
              <a:buChar char="●"/>
            </a:pPr>
            <a:r>
              <a:rPr lang="en"/>
              <a:t>Set-of-Marks (SoM) Representation: A novel format where each interactable webpage element is labeled with a bounding box and a unique ID, allowing vision-language models to efficiently reference elements in a structured manner (Fig. 2).</a:t>
            </a:r>
            <a:endParaRPr/>
          </a:p>
          <a:p>
            <a:pPr indent="-308610" lvl="0" marL="457200" rtl="0" algn="l">
              <a:spcBef>
                <a:spcPts val="0"/>
              </a:spcBef>
              <a:spcAft>
                <a:spcPts val="0"/>
              </a:spcAft>
              <a:buSzPct val="100000"/>
              <a:buChar char="●"/>
            </a:pPr>
            <a:r>
              <a:rPr lang="en"/>
              <a:t>This comprehensive observation space ensures that agents can process both text and visual elements effectively, enabling robust web interaction.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Action Space</a:t>
            </a:r>
            <a:endParaRPr/>
          </a:p>
        </p:txBody>
      </p:sp>
      <p:pic>
        <p:nvPicPr>
          <p:cNvPr id="312" name="Google Shape;312;p52"/>
          <p:cNvPicPr preferRelativeResize="0"/>
          <p:nvPr/>
        </p:nvPicPr>
        <p:blipFill>
          <a:blip r:embed="rId3">
            <a:alphaModFix/>
          </a:blip>
          <a:stretch>
            <a:fillRect/>
          </a:stretch>
        </p:blipFill>
        <p:spPr>
          <a:xfrm>
            <a:off x="2113675" y="1089325"/>
            <a:ext cx="4916653" cy="38209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Evaluation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Requirements</a:t>
            </a:r>
            <a:endParaRPr/>
          </a:p>
        </p:txBody>
      </p:sp>
      <p:sp>
        <p:nvSpPr>
          <p:cNvPr id="323" name="Google Shape;323;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Visually Grounded Evaluation Metrics: We introduce new evaluation metrics that extend WebArena’s functional evaluation paradigm to handle open-ended, visually grounded tasks.</a:t>
            </a:r>
            <a:endParaRPr/>
          </a:p>
          <a:p>
            <a:pPr indent="-342900" lvl="0" marL="457200" rtl="0" algn="l">
              <a:spcBef>
                <a:spcPts val="0"/>
              </a:spcBef>
              <a:spcAft>
                <a:spcPts val="0"/>
              </a:spcAft>
              <a:buSzPts val="1800"/>
              <a:buChar char="●"/>
            </a:pPr>
            <a:r>
              <a:rPr lang="en"/>
              <a:t>Execution Trace Validation: These metrics ensure that agents are evaluated based on the correctness of their execution traces, considering both textual and visual outputs.</a:t>
            </a:r>
            <a:endParaRPr/>
          </a:p>
          <a:p>
            <a:pPr indent="-342900" lvl="0" marL="457200" rtl="0" algn="l">
              <a:spcBef>
                <a:spcPts val="0"/>
              </a:spcBef>
              <a:spcAft>
                <a:spcPts val="0"/>
              </a:spcAft>
              <a:buSzPts val="1800"/>
              <a:buChar char="●"/>
            </a:pPr>
            <a:r>
              <a:rPr lang="en"/>
              <a:t>Hand-Designed Reward Functions: Each task is assigned a reward function built using predefined primitives, enabling precise assessment of agent performance across different task types.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Information Seeking Task Rewards</a:t>
            </a:r>
            <a:endParaRPr/>
          </a:p>
        </p:txBody>
      </p:sp>
      <p:sp>
        <p:nvSpPr>
          <p:cNvPr id="329" name="Google Shape;329;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Exact Match: Rewards 1 if the model’s output â exactly matches the groundtruth answer a*, ensuring strict correctness for tasks requiring precise responses.</a:t>
            </a:r>
            <a:endParaRPr/>
          </a:p>
          <a:p>
            <a:pPr indent="-334327" lvl="0" marL="457200" rtl="0" algn="l">
              <a:spcBef>
                <a:spcPts val="0"/>
              </a:spcBef>
              <a:spcAft>
                <a:spcPts val="0"/>
              </a:spcAft>
              <a:buSzPct val="100000"/>
              <a:buChar char="●"/>
            </a:pPr>
            <a:r>
              <a:rPr lang="en"/>
              <a:t>Must Include: Rewards 1 if all required elements in a* are present in â, useful for unordered list outputs or keyword-dependent tasks.</a:t>
            </a:r>
            <a:endParaRPr/>
          </a:p>
          <a:p>
            <a:pPr indent="-334327" lvl="0" marL="457200" rtl="0" algn="l">
              <a:spcBef>
                <a:spcPts val="0"/>
              </a:spcBef>
              <a:spcAft>
                <a:spcPts val="0"/>
              </a:spcAft>
              <a:buSzPct val="100000"/>
              <a:buChar char="●"/>
            </a:pPr>
            <a:r>
              <a:rPr lang="en"/>
              <a:t>Fuzzy Match: Uses GPT-4-Turbo to determine semantic correctness, assigning 1 if the LLM judges the response as "correct" in open-ended tasks.</a:t>
            </a:r>
            <a:endParaRPr/>
          </a:p>
          <a:p>
            <a:pPr indent="-334327" lvl="0" marL="457200" rtl="0" algn="l">
              <a:spcBef>
                <a:spcPts val="0"/>
              </a:spcBef>
              <a:spcAft>
                <a:spcPts val="0"/>
              </a:spcAft>
              <a:buSzPct val="100000"/>
              <a:buChar char="●"/>
            </a:pPr>
            <a:r>
              <a:rPr lang="en"/>
              <a:t>Must Exclude: Assigns 0 if any prohibited element from a* is found in â, enforcing constraints where incorrect content must be avoided.</a:t>
            </a:r>
            <a:endParaRPr/>
          </a:p>
          <a:p>
            <a:pPr indent="-334327" lvl="0" marL="457200" rtl="0" algn="l">
              <a:spcBef>
                <a:spcPts val="0"/>
              </a:spcBef>
              <a:spcAft>
                <a:spcPts val="0"/>
              </a:spcAft>
              <a:buSzPct val="100000"/>
              <a:buChar char="●"/>
            </a:pPr>
            <a:r>
              <a:rPr lang="en"/>
              <a:t>Visual Question Answering (eval_vqa): Queries a Vision-Language Model (BLIP-2-T5XL) with an image and a question; assigns 1 if the output includes the expected answer.</a:t>
            </a:r>
            <a:endParaRPr/>
          </a:p>
          <a:p>
            <a:pPr indent="-334327" lvl="0" marL="457200" rtl="0" algn="l">
              <a:spcBef>
                <a:spcPts val="0"/>
              </a:spcBef>
              <a:spcAft>
                <a:spcPts val="0"/>
              </a:spcAft>
              <a:buSzPct val="100000"/>
              <a:buChar char="●"/>
            </a:pPr>
            <a:r>
              <a:rPr lang="en"/>
              <a:t>Fuzzy Image Matching (eval_fuzzy_image_match): Uses Structural Similarity Index Measure (SSIM) to compare a query image to a groundtruth image, assigning 1 if similarity exceeds a threshold t ∈ [0,1].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Navigation Rewards</a:t>
            </a:r>
            <a:endParaRPr/>
          </a:p>
        </p:txBody>
      </p:sp>
      <p:sp>
        <p:nvSpPr>
          <p:cNvPr id="335" name="Google Shape;335;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Task Complexity in VisualWebArena: Many tasks require navigating across multiple webpages and executing interactions that modify the environment state s.</a:t>
            </a:r>
            <a:endParaRPr/>
          </a:p>
          <a:p>
            <a:pPr indent="-342900" lvl="0" marL="457200" rtl="0" algn="l">
              <a:spcBef>
                <a:spcPts val="0"/>
              </a:spcBef>
              <a:spcAft>
                <a:spcPts val="0"/>
              </a:spcAft>
              <a:buSzPts val="1800"/>
              <a:buChar char="●"/>
            </a:pPr>
            <a:r>
              <a:rPr lang="en"/>
              <a:t>Final State Validation: To evaluate success, we compare the agent’s final state against the expected outcome, ensuring goal completion.</a:t>
            </a:r>
            <a:endParaRPr/>
          </a:p>
          <a:p>
            <a:pPr indent="-342900" lvl="0" marL="457200" rtl="0" algn="l">
              <a:spcBef>
                <a:spcPts val="0"/>
              </a:spcBef>
              <a:spcAft>
                <a:spcPts val="0"/>
              </a:spcAft>
              <a:buSzPts val="1800"/>
              <a:buChar char="●"/>
            </a:pPr>
            <a:r>
              <a:rPr lang="en"/>
              <a:t>Locators and URL Matching: Each evaluation function includes:</a:t>
            </a:r>
            <a:endParaRPr/>
          </a:p>
          <a:p>
            <a:pPr indent="-342900" lvl="0" marL="457200" rtl="0" algn="l">
              <a:spcBef>
                <a:spcPts val="0"/>
              </a:spcBef>
              <a:spcAft>
                <a:spcPts val="0"/>
              </a:spcAft>
              <a:buSzPts val="1800"/>
              <a:buChar char="●"/>
            </a:pPr>
            <a:r>
              <a:rPr lang="en"/>
              <a:t>URL Matching: Checks if the agent landed on the correct final page.</a:t>
            </a:r>
            <a:endParaRPr/>
          </a:p>
          <a:p>
            <a:pPr indent="-342900" lvl="0" marL="457200" rtl="0" algn="l">
              <a:spcBef>
                <a:spcPts val="0"/>
              </a:spcBef>
              <a:spcAft>
                <a:spcPts val="0"/>
              </a:spcAft>
              <a:buSzPts val="1800"/>
              <a:buChar char="●"/>
            </a:pPr>
            <a:r>
              <a:rPr lang="en"/>
              <a:t>Locator Functions: Identify specific webpage elements (e.g., all &lt;img&gt; tags or elements with .product-image-photo class).</a:t>
            </a:r>
            <a:endParaRPr/>
          </a:p>
          <a:p>
            <a:pPr indent="-342900" lvl="0" marL="457200" rtl="0" algn="l">
              <a:spcBef>
                <a:spcPts val="0"/>
              </a:spcBef>
              <a:spcAft>
                <a:spcPts val="0"/>
              </a:spcAft>
              <a:buSzPts val="1800"/>
              <a:buChar char="●"/>
            </a:pPr>
            <a:r>
              <a:rPr lang="en"/>
              <a:t>Reusing Information-Seeking Functions: Retrieved text or image content is evaluated using the same correctness functions from information-seeking tasks, ensuring consistency across modalities.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57"/>
          <p:cNvPicPr preferRelativeResize="0"/>
          <p:nvPr/>
        </p:nvPicPr>
        <p:blipFill>
          <a:blip r:embed="rId3">
            <a:alphaModFix/>
          </a:blip>
          <a:stretch>
            <a:fillRect/>
          </a:stretch>
        </p:blipFill>
        <p:spPr>
          <a:xfrm>
            <a:off x="508275" y="769929"/>
            <a:ext cx="4297452" cy="2571426"/>
          </a:xfrm>
          <a:prstGeom prst="rect">
            <a:avLst/>
          </a:prstGeom>
          <a:noFill/>
          <a:ln>
            <a:noFill/>
          </a:ln>
        </p:spPr>
      </p:pic>
      <p:pic>
        <p:nvPicPr>
          <p:cNvPr id="341" name="Google Shape;341;p57"/>
          <p:cNvPicPr preferRelativeResize="0"/>
          <p:nvPr/>
        </p:nvPicPr>
        <p:blipFill>
          <a:blip r:embed="rId4">
            <a:alphaModFix/>
          </a:blip>
          <a:stretch>
            <a:fillRect/>
          </a:stretch>
        </p:blipFill>
        <p:spPr>
          <a:xfrm>
            <a:off x="5388025" y="769925"/>
            <a:ext cx="3018333" cy="2571424"/>
          </a:xfrm>
          <a:prstGeom prst="rect">
            <a:avLst/>
          </a:prstGeom>
          <a:noFill/>
          <a:ln>
            <a:noFill/>
          </a:ln>
        </p:spPr>
      </p:pic>
      <p:sp>
        <p:nvSpPr>
          <p:cNvPr id="342" name="Google Shape;342;p57"/>
          <p:cNvSpPr txBox="1"/>
          <p:nvPr/>
        </p:nvSpPr>
        <p:spPr>
          <a:xfrm>
            <a:off x="2309600" y="3761525"/>
            <a:ext cx="4429800" cy="10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“Table 2:Various evaluation metrics to assign reward </a:t>
            </a:r>
            <a:r>
              <a:rPr lang="en" sz="1100">
                <a:solidFill>
                  <a:schemeClr val="dk1"/>
                </a:solidFill>
              </a:rPr>
              <a:t>r⁢(s,a)∈R:S×A→{0,1}</a:t>
            </a:r>
            <a:r>
              <a:rPr lang="en" sz="1200">
                <a:solidFill>
                  <a:schemeClr val="dk1"/>
                </a:solidFill>
              </a:rPr>
              <a:t>. Our execution-based reward primitives allow us to benchmark many diverse, realistic, and open-ended tasks.”</a:t>
            </a:r>
            <a:endParaRPr sz="1800">
              <a:solidFill>
                <a:schemeClr val="dk1"/>
              </a:solidFill>
              <a:latin typeface="Source Sans 3"/>
              <a:ea typeface="Source Sans 3"/>
              <a:cs typeface="Source Sans 3"/>
              <a:sym typeface="Source Sans 3"/>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 Environment</a:t>
            </a:r>
            <a:endParaRPr/>
          </a:p>
        </p:txBody>
      </p:sp>
      <p:sp>
        <p:nvSpPr>
          <p:cNvPr id="348" name="Google Shape;348;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Diverse &amp; Realistic: Three environments—Classifieds, Shopping, and Reddit—with visually rich content and cross-site interactions.</a:t>
            </a:r>
            <a:endParaRPr/>
          </a:p>
          <a:p>
            <a:pPr indent="-342900" lvl="0" marL="457200" rtl="0" algn="l">
              <a:spcBef>
                <a:spcPts val="0"/>
              </a:spcBef>
              <a:spcAft>
                <a:spcPts val="0"/>
              </a:spcAft>
              <a:buSzPts val="1800"/>
              <a:buChar char="●"/>
            </a:pPr>
            <a:r>
              <a:rPr lang="en"/>
              <a:t>Classifieds: A marketplace with 65,955 listings, supporting posting, searching, commenting, and reviews, built on OSClass CMS.</a:t>
            </a:r>
            <a:endParaRPr/>
          </a:p>
          <a:p>
            <a:pPr indent="-342900" lvl="0" marL="457200" rtl="0" algn="l">
              <a:spcBef>
                <a:spcPts val="0"/>
              </a:spcBef>
              <a:spcAft>
                <a:spcPts val="0"/>
              </a:spcAft>
              <a:buSzPts val="1800"/>
              <a:buChar char="●"/>
            </a:pPr>
            <a:r>
              <a:rPr lang="en"/>
              <a:t>Shopping: An e-commerce site using Amazon-sourced data (WebShop), requiring product image comprehension for navigation.</a:t>
            </a:r>
            <a:endParaRPr/>
          </a:p>
          <a:p>
            <a:pPr indent="-342900" lvl="0" marL="457200" rtl="0" algn="l">
              <a:spcBef>
                <a:spcPts val="0"/>
              </a:spcBef>
              <a:spcAft>
                <a:spcPts val="0"/>
              </a:spcAft>
              <a:buSzPts val="1800"/>
              <a:buChar char="●"/>
            </a:pPr>
            <a:r>
              <a:rPr lang="en"/>
              <a:t>Reddit: A social forum with 31,464 posts, featuring natural images, memes, electronics, and charts for multimodal reasoning.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Creation</a:t>
            </a:r>
            <a:endParaRPr/>
          </a:p>
        </p:txBody>
      </p:sp>
      <p:sp>
        <p:nvSpPr>
          <p:cNvPr id="354" name="Google Shape;35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910 New Tasks: Tasks are distributed across Classifieds, Shopping, and Reddit, designed for realistic, visually grounded challenges.</a:t>
            </a:r>
            <a:endParaRPr/>
          </a:p>
          <a:p>
            <a:pPr indent="-342900" lvl="0" marL="457200" rtl="0" algn="l">
              <a:spcBef>
                <a:spcPts val="0"/>
              </a:spcBef>
              <a:spcAft>
                <a:spcPts val="0"/>
              </a:spcAft>
              <a:buSzPts val="1800"/>
              <a:buChar char="●"/>
            </a:pPr>
            <a:r>
              <a:rPr lang="en"/>
              <a:t>Template-Based Design: Six graduate students created 314 unique intent templates, which were expanded into multiple task variations.</a:t>
            </a:r>
            <a:endParaRPr/>
          </a:p>
          <a:p>
            <a:pPr indent="-342900" lvl="0" marL="457200" rtl="0" algn="l">
              <a:spcBef>
                <a:spcPts val="0"/>
              </a:spcBef>
              <a:spcAft>
                <a:spcPts val="0"/>
              </a:spcAft>
              <a:buSzPts val="1800"/>
              <a:buChar char="●"/>
            </a:pPr>
            <a:r>
              <a:rPr lang="en"/>
              <a:t>Creative &amp; Visual Task Design: Annotators incorporated website layouts, images, and cross-site interactions to enhance task realism.</a:t>
            </a:r>
            <a:endParaRPr/>
          </a:p>
          <a:p>
            <a:pPr indent="-342900" lvl="0" marL="457200" rtl="0" algn="l">
              <a:spcBef>
                <a:spcPts val="0"/>
              </a:spcBef>
              <a:spcAft>
                <a:spcPts val="0"/>
              </a:spcAft>
              <a:buSzPts val="1800"/>
              <a:buChar char="●"/>
            </a:pPr>
            <a:r>
              <a:rPr lang="en"/>
              <a:t>Handling Image Inputs: Input images were sourced from royalty-free databases and MS-COCO, ensuring diversity and real-world relevance.</a:t>
            </a:r>
            <a:endParaRPr/>
          </a:p>
          <a:p>
            <a:pPr indent="-342900" lvl="0" marL="457200" rtl="0" algn="l">
              <a:spcBef>
                <a:spcPts val="0"/>
              </a:spcBef>
              <a:spcAft>
                <a:spcPts val="0"/>
              </a:spcAft>
              <a:buSzPts val="1800"/>
              <a:buChar char="●"/>
            </a:pPr>
            <a:r>
              <a:rPr lang="en"/>
              <a:t>Unachievable Task Subset (5.1%): 46 tasks were intentionally unsolvable, testing whether agents can recognize failure cases and terminate early.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Complexity</a:t>
            </a:r>
            <a:endParaRPr/>
          </a:p>
        </p:txBody>
      </p:sp>
      <p:sp>
        <p:nvSpPr>
          <p:cNvPr id="360" name="Google Shape;360;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Visually Grounded Tasks: Every task requires processing visual information, such as selecting an item by color, shape, or image content.</a:t>
            </a:r>
            <a:endParaRPr/>
          </a:p>
          <a:p>
            <a:pPr indent="-342900" lvl="0" marL="457200" rtl="0" algn="l">
              <a:spcBef>
                <a:spcPts val="0"/>
              </a:spcBef>
              <a:spcAft>
                <a:spcPts val="0"/>
              </a:spcAft>
              <a:buSzPts val="1800"/>
              <a:buChar char="●"/>
            </a:pPr>
            <a:r>
              <a:rPr lang="en"/>
              <a:t>Three Difficulty Levels: Tasks are categorized as Easy (≤3 actions), Medium (4-9 actions), and Hard (≥10 actions) based on expected human effort.</a:t>
            </a:r>
            <a:endParaRPr/>
          </a:p>
          <a:p>
            <a:pPr indent="-342900" lvl="0" marL="457200" rtl="0" algn="l">
              <a:spcBef>
                <a:spcPts val="0"/>
              </a:spcBef>
              <a:spcAft>
                <a:spcPts val="0"/>
              </a:spcAft>
              <a:buSzPts val="1800"/>
              <a:buChar char="●"/>
            </a:pPr>
            <a:r>
              <a:rPr lang="en"/>
              <a:t>Visual &amp; Action Complexity: Visual difficulty ranges from basic color recognition to OCR on small text, while action difficulty is based on steps needed.</a:t>
            </a:r>
            <a:endParaRPr/>
          </a:p>
          <a:p>
            <a:pPr indent="-342900" lvl="0" marL="457200" rtl="0" algn="l">
              <a:spcBef>
                <a:spcPts val="0"/>
              </a:spcBef>
              <a:spcAft>
                <a:spcPts val="0"/>
              </a:spcAft>
              <a:buSzPts val="1800"/>
              <a:buChar char="●"/>
            </a:pPr>
            <a:r>
              <a:rPr lang="en"/>
              <a:t>Performance Insights: Many open-source models (e.g., LLaMA-2-70B, IDEFICS-80B) fail on medium/hard tasks but show non-zero success on easy tasks.</a:t>
            </a:r>
            <a:endParaRPr/>
          </a:p>
          <a:p>
            <a:pPr indent="-342900" lvl="0" marL="457200" rtl="0" algn="l">
              <a:spcBef>
                <a:spcPts val="0"/>
              </a:spcBef>
              <a:spcAft>
                <a:spcPts val="0"/>
              </a:spcAft>
              <a:buSzPts val="1800"/>
              <a:buChar char="●"/>
            </a:pPr>
            <a:r>
              <a:rPr lang="en"/>
              <a:t>Adaptive Task Evaluation: Overall difficulty is determined by averaging visual and reasoning complexity, with adjustments based on human judgment.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Human Performance</a:t>
            </a:r>
            <a:endParaRPr/>
          </a:p>
        </p:txBody>
      </p:sp>
      <p:sp>
        <p:nvSpPr>
          <p:cNvPr id="366" name="Google Shape;366;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Evaluating Human Success Rates: We tested seven college students on a representative set of 230 tasks, ensuring no overlap with tasks they helped create.</a:t>
            </a:r>
            <a:endParaRPr/>
          </a:p>
          <a:p>
            <a:pPr indent="-342900" lvl="0" marL="457200" rtl="0" algn="l">
              <a:spcBef>
                <a:spcPts val="0"/>
              </a:spcBef>
              <a:spcAft>
                <a:spcPts val="0"/>
              </a:spcAft>
              <a:buSzPts val="1800"/>
              <a:buChar char="●"/>
            </a:pPr>
            <a:r>
              <a:rPr lang="en"/>
              <a:t>High Overall Accuracy: Humans performed well, achieving an 88.7% success rate, with most mistakes being minor errors (Tab. 3).</a:t>
            </a:r>
            <a:endParaRPr/>
          </a:p>
          <a:p>
            <a:pPr indent="-342900" lvl="0" marL="457200" rtl="0" algn="l">
              <a:spcBef>
                <a:spcPts val="0"/>
              </a:spcBef>
              <a:spcAft>
                <a:spcPts val="0"/>
              </a:spcAft>
              <a:buSzPts val="1800"/>
              <a:buChar char="●"/>
            </a:pPr>
            <a:r>
              <a:rPr lang="en"/>
              <a:t>Common Mistakes: Errors included misreading instructions, missing task details, or placing items in the wrong category (e.g., cart instead of wishlist).</a:t>
            </a:r>
            <a:endParaRPr/>
          </a:p>
          <a:p>
            <a:pPr indent="-342900" lvl="0" marL="457200" rtl="0" algn="l">
              <a:spcBef>
                <a:spcPts val="0"/>
              </a:spcBef>
              <a:spcAft>
                <a:spcPts val="0"/>
              </a:spcAft>
              <a:buSzPts val="1800"/>
              <a:buChar char="●"/>
            </a:pPr>
            <a:r>
              <a:rPr lang="en"/>
              <a:t>Struggles with Exhaustive Search: Tasks requiring deep search (e.g., finding specific comments) often led users to give up after 5–10 minutes.</a:t>
            </a:r>
            <a:endParaRPr/>
          </a:p>
          <a:p>
            <a:pPr indent="-342900" lvl="0" marL="457200" rtl="0" algn="l">
              <a:spcBef>
                <a:spcPts val="0"/>
              </a:spcBef>
              <a:spcAft>
                <a:spcPts val="0"/>
              </a:spcAft>
              <a:buSzPts val="1800"/>
              <a:buChar char="●"/>
            </a:pPr>
            <a:r>
              <a:rPr lang="en"/>
              <a:t>Opportunities for AI: These failure points suggest that strong AI agents could potentially outperform humans in precision, efficiency, and exhaustive search.</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Testing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Image Captions</a:t>
            </a:r>
            <a:endParaRPr/>
          </a:p>
        </p:txBody>
      </p:sp>
      <p:sp>
        <p:nvSpPr>
          <p:cNvPr id="377" name="Google Shape;377;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Evaluating Human Success Rates: We tested seven college students on a representative set of 230 tasks, ensuring no overlap with tasks they helped create.</a:t>
            </a:r>
            <a:endParaRPr/>
          </a:p>
          <a:p>
            <a:pPr indent="-342900" lvl="0" marL="457200" rtl="0" algn="l">
              <a:spcBef>
                <a:spcPts val="0"/>
              </a:spcBef>
              <a:spcAft>
                <a:spcPts val="0"/>
              </a:spcAft>
              <a:buSzPts val="1800"/>
              <a:buChar char="●"/>
            </a:pPr>
            <a:r>
              <a:rPr lang="en"/>
              <a:t>High Overall Accuracy: Humans performed well, achieving an 88.7% success rate, with most mistakes being minor errors (Tab. 3).</a:t>
            </a:r>
            <a:endParaRPr/>
          </a:p>
          <a:p>
            <a:pPr indent="-342900" lvl="0" marL="457200" rtl="0" algn="l">
              <a:spcBef>
                <a:spcPts val="0"/>
              </a:spcBef>
              <a:spcAft>
                <a:spcPts val="0"/>
              </a:spcAft>
              <a:buSzPts val="1800"/>
              <a:buChar char="●"/>
            </a:pPr>
            <a:r>
              <a:rPr lang="en"/>
              <a:t>Common Mistakes: Errors included misreading instructions, missing task details, or placing items in the wrong category (e.g., cart instead of wishlist).</a:t>
            </a:r>
            <a:endParaRPr/>
          </a:p>
          <a:p>
            <a:pPr indent="-342900" lvl="0" marL="457200" rtl="0" algn="l">
              <a:spcBef>
                <a:spcPts val="0"/>
              </a:spcBef>
              <a:spcAft>
                <a:spcPts val="0"/>
              </a:spcAft>
              <a:buSzPts val="1800"/>
              <a:buChar char="●"/>
            </a:pPr>
            <a:r>
              <a:rPr lang="en"/>
              <a:t>Struggles with Exhaustive Search: Tasks requiring deep search (e.g., finding specific comments) often led users to give up after 5–10 minutes.</a:t>
            </a:r>
            <a:endParaRPr/>
          </a:p>
          <a:p>
            <a:pPr indent="-342900" lvl="0" marL="457200" rtl="0" algn="l">
              <a:spcBef>
                <a:spcPts val="0"/>
              </a:spcBef>
              <a:spcAft>
                <a:spcPts val="0"/>
              </a:spcAft>
              <a:buSzPts val="1800"/>
              <a:buChar char="●"/>
            </a:pPr>
            <a:r>
              <a:rPr lang="en"/>
              <a:t>Opportunities for AI: These failure points suggest that strong AI agents could potentially outperform humans in precision, efficiency, and exhaustive search.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Multimodal Agents</a:t>
            </a:r>
            <a:endParaRPr/>
          </a:p>
        </p:txBody>
      </p:sp>
      <p:sp>
        <p:nvSpPr>
          <p:cNvPr id="383" name="Google Shape;383;p64"/>
          <p:cNvSpPr txBox="1"/>
          <p:nvPr>
            <p:ph idx="1" type="body"/>
          </p:nvPr>
        </p:nvSpPr>
        <p:spPr>
          <a:xfrm>
            <a:off x="311700" y="1152475"/>
            <a:ext cx="8520600" cy="36207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Evaluated Multimodal Models: We benchmark GPT-4V, Gemini-Pro, IDEFICS-80B-Instruct, and CogVLM, testing their ability to process interleaved image-text inputs.</a:t>
            </a:r>
            <a:endParaRPr/>
          </a:p>
          <a:p>
            <a:pPr indent="-334327" lvl="0" marL="457200" rtl="0" algn="l">
              <a:spcBef>
                <a:spcPts val="0"/>
              </a:spcBef>
              <a:spcAft>
                <a:spcPts val="0"/>
              </a:spcAft>
              <a:buSzPct val="100000"/>
              <a:buChar char="●"/>
            </a:pPr>
            <a:r>
              <a:rPr lang="en"/>
              <a:t>Image Screenshot + Captions + Accessibility Tree: This setup provides structural page information, image captions (from BLIP-2-T5XL), and webpage screenshots to enhance visual grounding.</a:t>
            </a:r>
            <a:endParaRPr/>
          </a:p>
          <a:p>
            <a:pPr indent="-334327" lvl="0" marL="457200" rtl="0" algn="l">
              <a:spcBef>
                <a:spcPts val="0"/>
              </a:spcBef>
              <a:spcAft>
                <a:spcPts val="0"/>
              </a:spcAft>
              <a:buSzPct val="100000"/>
              <a:buChar char="●"/>
            </a:pPr>
            <a:r>
              <a:rPr lang="en"/>
              <a:t>Image Screenshot + Captions + SoM: Using Set-of-Marks (SoM) prompting, JavaScript annotates all interactable webpage elements with bounding boxes and unique IDs for structured reference.</a:t>
            </a:r>
            <a:endParaRPr/>
          </a:p>
          <a:p>
            <a:pPr indent="-334327" lvl="0" marL="457200" rtl="0" algn="l">
              <a:spcBef>
                <a:spcPts val="0"/>
              </a:spcBef>
              <a:spcAft>
                <a:spcPts val="0"/>
              </a:spcAft>
              <a:buSzPct val="100000"/>
              <a:buChar char="●"/>
            </a:pPr>
            <a:r>
              <a:rPr lang="en"/>
              <a:t>Systematic Benchmarking: Unlike previous proof-of-concept multimodal models, this work is the first to systematically evaluate SoM-based representations in an interactive web environment.</a:t>
            </a:r>
            <a:endParaRPr/>
          </a:p>
          <a:p>
            <a:pPr indent="-334327" lvl="0" marL="457200" rtl="0" algn="l">
              <a:spcBef>
                <a:spcPts val="0"/>
              </a:spcBef>
              <a:spcAft>
                <a:spcPts val="0"/>
              </a:spcAft>
              <a:buSzPct val="100000"/>
              <a:buChar char="●"/>
            </a:pPr>
            <a:r>
              <a:rPr lang="en"/>
              <a:t>Advancing Web-Based AI Agents: These methods highlight the potential of multimodal agents to navigate and interact with complex web environments beyond text-only approaches.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65"/>
          <p:cNvPicPr preferRelativeResize="0"/>
          <p:nvPr/>
        </p:nvPicPr>
        <p:blipFill>
          <a:blip r:embed="rId3">
            <a:alphaModFix/>
          </a:blip>
          <a:stretch>
            <a:fillRect/>
          </a:stretch>
        </p:blipFill>
        <p:spPr>
          <a:xfrm>
            <a:off x="1835563" y="206275"/>
            <a:ext cx="5472870" cy="483870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Results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a:t>
            </a:r>
            <a:endParaRPr/>
          </a:p>
        </p:txBody>
      </p:sp>
      <p:sp>
        <p:nvSpPr>
          <p:cNvPr id="399" name="Google Shape;399;p67"/>
          <p:cNvSpPr txBox="1"/>
          <p:nvPr>
            <p:ph idx="1" type="body"/>
          </p:nvPr>
        </p:nvSpPr>
        <p:spPr>
          <a:xfrm>
            <a:off x="311700" y="1152475"/>
            <a:ext cx="8520600" cy="36207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Text-Based LLMs Struggle: GPT-4, the best text-only model, achieves just 7.25% success, but caption augmentation improves it to 12.75%, highlighting the importance of visual context.</a:t>
            </a:r>
            <a:endParaRPr/>
          </a:p>
          <a:p>
            <a:pPr indent="-334327" lvl="0" marL="457200" rtl="0" algn="l">
              <a:spcBef>
                <a:spcPts val="0"/>
              </a:spcBef>
              <a:spcAft>
                <a:spcPts val="0"/>
              </a:spcAft>
              <a:buSzPct val="100000"/>
              <a:buChar char="●"/>
            </a:pPr>
            <a:r>
              <a:rPr lang="en"/>
              <a:t>Multimodal Models Perform Better: GPT-4V (15.05%) and Gemini-Pro (6.04%) outperform text-based models, showing improvements in OCR and non-salient object recognition.</a:t>
            </a:r>
            <a:endParaRPr/>
          </a:p>
          <a:p>
            <a:pPr indent="-334327" lvl="0" marL="457200" rtl="0" algn="l">
              <a:spcBef>
                <a:spcPts val="0"/>
              </a:spcBef>
              <a:spcAft>
                <a:spcPts val="0"/>
              </a:spcAft>
              <a:buSzPct val="100000"/>
              <a:buChar char="●"/>
            </a:pPr>
            <a:r>
              <a:rPr lang="en"/>
              <a:t>SoM Enhances Navigation: GPT-4V with Set-of-Marks (SoM) representation boosts success from 15.05% → 16.37%, particularly on Classifieds (12.38% → 17.14%) and Reddit (8.12% → 9.83%), where dense visual layouts pose challenges.</a:t>
            </a:r>
            <a:endParaRPr/>
          </a:p>
          <a:p>
            <a:pPr indent="-334327" lvl="0" marL="457200" rtl="0" algn="l">
              <a:spcBef>
                <a:spcPts val="0"/>
              </a:spcBef>
              <a:spcAft>
                <a:spcPts val="0"/>
              </a:spcAft>
              <a:buSzPct val="100000"/>
              <a:buChar char="●"/>
            </a:pPr>
            <a:r>
              <a:rPr lang="en"/>
              <a:t>Compelling Execution Example: In Reddit Task #139, GPT-4V + SoM correctly matches an image, navigates to the right forum, and blocks a user efficiently, demonstrating precise visual decision-making.</a:t>
            </a:r>
            <a:endParaRPr/>
          </a:p>
          <a:p>
            <a:pPr indent="-334327" lvl="0" marL="457200" rtl="0" algn="l">
              <a:spcBef>
                <a:spcPts val="0"/>
              </a:spcBef>
              <a:spcAft>
                <a:spcPts val="0"/>
              </a:spcAft>
              <a:buSzPct val="100000"/>
              <a:buChar char="●"/>
            </a:pPr>
            <a:r>
              <a:rPr lang="en"/>
              <a:t>Limitations &amp; Future Work: While GPT-4V benefits from SoM, other VLMs show little improvement, suggesting that only certain models effectively leverage SoM grounding, possibly due to scale or training data.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68"/>
          <p:cNvPicPr preferRelativeResize="0"/>
          <p:nvPr/>
        </p:nvPicPr>
        <p:blipFill>
          <a:blip r:embed="rId3">
            <a:alphaModFix/>
          </a:blip>
          <a:stretch>
            <a:fillRect/>
          </a:stretch>
        </p:blipFill>
        <p:spPr>
          <a:xfrm>
            <a:off x="152400" y="818900"/>
            <a:ext cx="8839200" cy="333516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 Performance</a:t>
            </a:r>
            <a:endParaRPr/>
          </a:p>
        </p:txBody>
      </p:sp>
      <p:sp>
        <p:nvSpPr>
          <p:cNvPr id="410" name="Google Shape;410;p69"/>
          <p:cNvSpPr txBox="1"/>
          <p:nvPr>
            <p:ph idx="1" type="body"/>
          </p:nvPr>
        </p:nvSpPr>
        <p:spPr>
          <a:xfrm>
            <a:off x="311700" y="1152475"/>
            <a:ext cx="8520600" cy="3620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OCR Tasks (17.1% of Tasks): GPT-4V + SoM struggles with OCR-based tasks, achieving a lower success rate (13.4%) compared to non-OCR tasks (16.9%), indicating OCR as a key bottleneck.</a:t>
            </a:r>
            <a:endParaRPr/>
          </a:p>
          <a:p>
            <a:pPr indent="-342900" lvl="0" marL="457200" rtl="0" algn="l">
              <a:spcBef>
                <a:spcPts val="0"/>
              </a:spcBef>
              <a:spcAft>
                <a:spcPts val="0"/>
              </a:spcAft>
              <a:buSzPts val="1800"/>
              <a:buChar char="●"/>
            </a:pPr>
            <a:r>
              <a:rPr lang="en"/>
              <a:t>Exact Image Matching (8.7% of Tasks): GPT-4V + SoM performs slightly better on exact image matching tasks (18.9%) than on other tasks (16.2%), suggesting that image matching is not a major limitation.</a:t>
            </a:r>
            <a:endParaRPr/>
          </a:p>
          <a:p>
            <a:pPr indent="-342900" lvl="0" marL="457200" rtl="0" algn="l">
              <a:spcBef>
                <a:spcPts val="0"/>
              </a:spcBef>
              <a:spcAft>
                <a:spcPts val="0"/>
              </a:spcAft>
              <a:buSzPts val="1800"/>
              <a:buChar char="●"/>
            </a:pPr>
            <a:r>
              <a:rPr lang="en"/>
              <a:t>Image Input Tasks (25.2% of Tasks): Tasks with one or more input images are more tractable, with GPT-4V + SoM achieving a higher success rate (19.0%) compared to tasks without image inputs (14.9%).</a:t>
            </a:r>
            <a:endParaRPr/>
          </a:p>
          <a:p>
            <a:pPr indent="-342900" lvl="0" marL="457200" rtl="0" algn="l">
              <a:spcBef>
                <a:spcPts val="0"/>
              </a:spcBef>
              <a:spcAft>
                <a:spcPts val="0"/>
              </a:spcAft>
              <a:buSzPts val="1800"/>
              <a:buChar char="●"/>
            </a:pPr>
            <a:r>
              <a:rPr lang="en"/>
              <a:t>Visual Processing Strengths &amp; Weaknesses: While image inputs improve performance, OCR-related tasks remain a challenge, highlighting a gap in current vision-language model capabilities.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70"/>
          <p:cNvPicPr preferRelativeResize="0"/>
          <p:nvPr/>
        </p:nvPicPr>
        <p:blipFill>
          <a:blip r:embed="rId3">
            <a:alphaModFix/>
          </a:blip>
          <a:stretch>
            <a:fillRect/>
          </a:stretch>
        </p:blipFill>
        <p:spPr>
          <a:xfrm>
            <a:off x="152400" y="866025"/>
            <a:ext cx="8839199" cy="379541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71"/>
          <p:cNvSpPr txBox="1"/>
          <p:nvPr>
            <p:ph type="ctrTitle"/>
          </p:nvPr>
        </p:nvSpPr>
        <p:spPr>
          <a:xfrm>
            <a:off x="919350" y="1157875"/>
            <a:ext cx="7305300" cy="1081200"/>
          </a:xfrm>
          <a:prstGeom prst="rect">
            <a:avLst/>
          </a:prstGeom>
          <a:noFill/>
          <a:ln>
            <a:noFill/>
          </a:ln>
        </p:spPr>
        <p:txBody>
          <a:bodyPr anchorCtr="0" anchor="b" bIns="34275" lIns="0" spcFirstLastPara="1" rIns="68575" wrap="square" tIns="34275">
            <a:noAutofit/>
          </a:bodyPr>
          <a:lstStyle/>
          <a:p>
            <a:pPr indent="0" lvl="0" marL="0" rtl="0" algn="ctr">
              <a:lnSpc>
                <a:spcPct val="100000"/>
              </a:lnSpc>
              <a:spcBef>
                <a:spcPts val="0"/>
              </a:spcBef>
              <a:spcAft>
                <a:spcPts val="0"/>
              </a:spcAft>
              <a:buClr>
                <a:schemeClr val="dk1"/>
              </a:buClr>
              <a:buSzPts val="1100"/>
              <a:buFont typeface="Arial"/>
              <a:buNone/>
            </a:pPr>
            <a:r>
              <a:rPr lang="en" sz="2000">
                <a:latin typeface="Source Sans 3"/>
                <a:ea typeface="Source Sans 3"/>
                <a:cs typeface="Source Sans 3"/>
                <a:sym typeface="Source Sans 3"/>
              </a:rPr>
              <a:t>GroundingGPT</a:t>
            </a:r>
            <a:r>
              <a:rPr lang="en" sz="2000">
                <a:latin typeface="Source Sans 3"/>
                <a:ea typeface="Source Sans 3"/>
                <a:cs typeface="Source Sans 3"/>
                <a:sym typeface="Source Sans 3"/>
              </a:rPr>
              <a:t>: </a:t>
            </a:r>
            <a:r>
              <a:rPr lang="en" sz="2000">
                <a:latin typeface="Source Sans 3"/>
                <a:ea typeface="Source Sans 3"/>
                <a:cs typeface="Source Sans 3"/>
                <a:sym typeface="Source Sans 3"/>
              </a:rPr>
              <a:t>: Language Enhanced Multi-modal Grounding Model</a:t>
            </a:r>
            <a:endParaRPr sz="2000">
              <a:latin typeface="Source Sans 3"/>
              <a:ea typeface="Source Sans 3"/>
              <a:cs typeface="Source Sans 3"/>
              <a:sym typeface="Source Sans 3"/>
            </a:endParaRPr>
          </a:p>
        </p:txBody>
      </p:sp>
      <p:sp>
        <p:nvSpPr>
          <p:cNvPr id="422" name="Google Shape;422;p71"/>
          <p:cNvSpPr txBox="1"/>
          <p:nvPr>
            <p:ph idx="1" type="body"/>
          </p:nvPr>
        </p:nvSpPr>
        <p:spPr>
          <a:xfrm>
            <a:off x="1157700" y="2671575"/>
            <a:ext cx="6828600" cy="1237800"/>
          </a:xfrm>
          <a:prstGeom prst="rect">
            <a:avLst/>
          </a:prstGeom>
          <a:noFill/>
          <a:ln>
            <a:noFill/>
          </a:ln>
        </p:spPr>
        <p:txBody>
          <a:bodyPr anchorCtr="0" anchor="t" bIns="34275" lIns="0" spcFirstLastPara="1" rIns="68575" wrap="square" tIns="34275">
            <a:noAutofit/>
          </a:bodyPr>
          <a:lstStyle/>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Zhaowei Li, Qi Xu , Dong Zhang , Hang Song , Yiqing Cai, Qi </a:t>
            </a:r>
            <a:r>
              <a:rPr i="1" lang="en" sz="1800">
                <a:latin typeface="Source Sans 3"/>
                <a:ea typeface="Source Sans 3"/>
                <a:cs typeface="Source Sans 3"/>
                <a:sym typeface="Source Sans 3"/>
              </a:rPr>
              <a:t>Qi</a:t>
            </a:r>
            <a:r>
              <a:rPr i="1" lang="en" sz="1800">
                <a:latin typeface="Source Sans 3"/>
                <a:ea typeface="Source Sans 3"/>
                <a:cs typeface="Source Sans 3"/>
                <a:sym typeface="Source Sans 3"/>
              </a:rPr>
              <a:t>, Ran Zhou, Junting Pan, Zefeng Li , Van Tu Vu, Zhida Huang, Tao Wang</a:t>
            </a:r>
            <a:r>
              <a:rPr i="1" lang="en" sz="1800">
                <a:latin typeface="Source Sans 3"/>
                <a:ea typeface="Source Sans 3"/>
                <a:cs typeface="Source Sans 3"/>
                <a:sym typeface="Source Sans 3"/>
              </a:rPr>
              <a:t>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Clr>
                <a:schemeClr val="dk1"/>
              </a:buClr>
              <a:buSzPts val="1100"/>
              <a:buFont typeface="Arial"/>
              <a:buNone/>
            </a:pPr>
            <a:r>
              <a:rPr i="1" lang="en" sz="1800">
                <a:latin typeface="Source Sans 3"/>
                <a:ea typeface="Source Sans 3"/>
                <a:cs typeface="Source Sans 3"/>
                <a:sym typeface="Source Sans 3"/>
              </a:rPr>
              <a:t>ByteDance, Fudan University </a:t>
            </a:r>
            <a:endParaRPr i="1" sz="1800">
              <a:latin typeface="Source Sans 3"/>
              <a:ea typeface="Source Sans 3"/>
              <a:cs typeface="Source Sans 3"/>
              <a:sym typeface="Source Sans 3"/>
            </a:endParaRPr>
          </a:p>
          <a:p>
            <a:pPr indent="0" lvl="0" marL="0" rtl="0" algn="ctr">
              <a:lnSpc>
                <a:spcPct val="100000"/>
              </a:lnSpc>
              <a:spcBef>
                <a:spcPts val="0"/>
              </a:spcBef>
              <a:spcAft>
                <a:spcPts val="0"/>
              </a:spcAft>
              <a:buSzPts val="2500"/>
              <a:buNone/>
            </a:pPr>
            <a:r>
              <a:t/>
            </a:r>
            <a:endParaRPr b="1" sz="2000">
              <a:solidFill>
                <a:schemeClr val="dk1"/>
              </a:solidFill>
              <a:highlight>
                <a:schemeClr val="accent6"/>
              </a:highlight>
              <a:latin typeface="Source Sans 3"/>
              <a:ea typeface="Source Sans 3"/>
              <a:cs typeface="Source Sans 3"/>
              <a:sym typeface="Source Sans 3"/>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Architecture</a:t>
            </a:r>
            <a:endParaRPr/>
          </a:p>
        </p:txBody>
      </p:sp>
      <p:sp>
        <p:nvSpPr>
          <p:cNvPr id="428" name="Google Shape;428;p72"/>
          <p:cNvSpPr txBox="1"/>
          <p:nvPr>
            <p:ph idx="1" type="body"/>
          </p:nvPr>
        </p:nvSpPr>
        <p:spPr>
          <a:xfrm>
            <a:off x="311700" y="1152475"/>
            <a:ext cx="3067200" cy="3620700"/>
          </a:xfrm>
          <a:prstGeom prst="rect">
            <a:avLst/>
          </a:prstGeom>
        </p:spPr>
        <p:txBody>
          <a:bodyPr anchorCtr="0" anchor="t" bIns="91425" lIns="91425" spcFirstLastPara="1" rIns="91425" wrap="square" tIns="91425">
            <a:normAutofit/>
          </a:bodyPr>
          <a:lstStyle/>
          <a:p>
            <a:pPr indent="-336550" lvl="0" marL="457200" rtl="0" algn="l">
              <a:lnSpc>
                <a:spcPct val="90000"/>
              </a:lnSpc>
              <a:spcBef>
                <a:spcPts val="0"/>
              </a:spcBef>
              <a:spcAft>
                <a:spcPts val="0"/>
              </a:spcAft>
              <a:buClr>
                <a:schemeClr val="dk1"/>
              </a:buClr>
              <a:buSzPts val="1700"/>
              <a:buChar char="●"/>
            </a:pPr>
            <a:r>
              <a:rPr b="1" lang="en" sz="1700"/>
              <a:t>Image</a:t>
            </a:r>
            <a:r>
              <a:rPr lang="en" sz="1700"/>
              <a:t>: CLIP visual encoder, MLP Adapter</a:t>
            </a:r>
            <a:endParaRPr sz="1700"/>
          </a:p>
          <a:p>
            <a:pPr indent="-336550" lvl="0" marL="457200" rtl="0" algn="l">
              <a:lnSpc>
                <a:spcPct val="90000"/>
              </a:lnSpc>
              <a:spcBef>
                <a:spcPts val="0"/>
              </a:spcBef>
              <a:spcAft>
                <a:spcPts val="0"/>
              </a:spcAft>
              <a:buClr>
                <a:schemeClr val="dk1"/>
              </a:buClr>
              <a:buSzPts val="1700"/>
              <a:buChar char="●"/>
            </a:pPr>
            <a:r>
              <a:rPr b="1" lang="en" sz="1700"/>
              <a:t>Video</a:t>
            </a:r>
            <a:r>
              <a:rPr lang="en" sz="1700"/>
              <a:t>: Samples M distinct frames, passed through image encoder then Q-Former Adapter</a:t>
            </a:r>
            <a:endParaRPr sz="1700"/>
          </a:p>
          <a:p>
            <a:pPr indent="-336550" lvl="0" marL="457200" rtl="0" algn="l">
              <a:lnSpc>
                <a:spcPct val="90000"/>
              </a:lnSpc>
              <a:spcBef>
                <a:spcPts val="0"/>
              </a:spcBef>
              <a:spcAft>
                <a:spcPts val="0"/>
              </a:spcAft>
              <a:buClr>
                <a:schemeClr val="dk1"/>
              </a:buClr>
              <a:buSzPts val="1700"/>
              <a:buChar char="●"/>
            </a:pPr>
            <a:r>
              <a:rPr b="1" lang="en" sz="1700"/>
              <a:t>Audio</a:t>
            </a:r>
            <a:r>
              <a:rPr lang="en" sz="1700"/>
              <a:t>: Sample N 2 second audio clips passed through ImageBind Encoder then Q-Former</a:t>
            </a:r>
            <a:endParaRPr sz="1700"/>
          </a:p>
          <a:p>
            <a:pPr indent="-336550" lvl="0" marL="457200" rtl="0" algn="l">
              <a:lnSpc>
                <a:spcPct val="90000"/>
              </a:lnSpc>
              <a:spcBef>
                <a:spcPts val="0"/>
              </a:spcBef>
              <a:spcAft>
                <a:spcPts val="0"/>
              </a:spcAft>
              <a:buClr>
                <a:schemeClr val="dk1"/>
              </a:buClr>
              <a:buSzPts val="1700"/>
              <a:buChar char="●"/>
            </a:pPr>
            <a:r>
              <a:rPr lang="en" sz="1700"/>
              <a:t>Positional Encoding is added</a:t>
            </a:r>
            <a:endParaRPr/>
          </a:p>
        </p:txBody>
      </p:sp>
      <p:pic>
        <p:nvPicPr>
          <p:cNvPr id="429" name="Google Shape;429;p72"/>
          <p:cNvPicPr preferRelativeResize="0"/>
          <p:nvPr/>
        </p:nvPicPr>
        <p:blipFill>
          <a:blip r:embed="rId3">
            <a:alphaModFix/>
          </a:blip>
          <a:stretch>
            <a:fillRect/>
          </a:stretch>
        </p:blipFill>
        <p:spPr>
          <a:xfrm>
            <a:off x="3645713" y="1219063"/>
            <a:ext cx="5267308" cy="34875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Pretraining</a:t>
            </a:r>
            <a:endParaRPr/>
          </a:p>
        </p:txBody>
      </p:sp>
      <p:sp>
        <p:nvSpPr>
          <p:cNvPr id="435" name="Google Shape;435;p73"/>
          <p:cNvSpPr txBox="1"/>
          <p:nvPr>
            <p:ph idx="1" type="body"/>
          </p:nvPr>
        </p:nvSpPr>
        <p:spPr>
          <a:xfrm>
            <a:off x="311700" y="1152475"/>
            <a:ext cx="3067200" cy="3620700"/>
          </a:xfrm>
          <a:prstGeom prst="rect">
            <a:avLst/>
          </a:prstGeom>
        </p:spPr>
        <p:txBody>
          <a:bodyPr anchorCtr="0" anchor="t" bIns="91425" lIns="91425" spcFirstLastPara="1" rIns="91425" wrap="square" tIns="91425">
            <a:normAutofit/>
          </a:bodyPr>
          <a:lstStyle/>
          <a:p>
            <a:pPr indent="-317500" lvl="0" marL="457200" rtl="0" algn="l">
              <a:lnSpc>
                <a:spcPct val="90000"/>
              </a:lnSpc>
              <a:spcBef>
                <a:spcPts val="0"/>
              </a:spcBef>
              <a:spcAft>
                <a:spcPts val="0"/>
              </a:spcAft>
              <a:buClr>
                <a:schemeClr val="dk1"/>
              </a:buClr>
              <a:buSzPts val="1400"/>
              <a:buChar char="●"/>
            </a:pPr>
            <a:r>
              <a:rPr lang="en"/>
              <a:t>LLM and Encoders Frozen, Adapters are trained</a:t>
            </a:r>
            <a:endParaRPr/>
          </a:p>
          <a:p>
            <a:pPr indent="-317500" lvl="0" marL="457200" rtl="0" algn="l">
              <a:lnSpc>
                <a:spcPct val="90000"/>
              </a:lnSpc>
              <a:spcBef>
                <a:spcPts val="0"/>
              </a:spcBef>
              <a:spcAft>
                <a:spcPts val="0"/>
              </a:spcAft>
              <a:buClr>
                <a:schemeClr val="dk1"/>
              </a:buClr>
              <a:buSzPts val="1400"/>
              <a:buChar char="●"/>
            </a:pPr>
            <a:r>
              <a:rPr lang="en"/>
              <a:t>LLaVA-Pretrain-595k and Valley-Pretrain-703k datasets utilized</a:t>
            </a:r>
            <a:endParaRPr/>
          </a:p>
          <a:p>
            <a:pPr indent="-342900" lvl="0" marL="457200" rtl="0" algn="l">
              <a:lnSpc>
                <a:spcPct val="90000"/>
              </a:lnSpc>
              <a:spcBef>
                <a:spcPts val="0"/>
              </a:spcBef>
              <a:spcAft>
                <a:spcPts val="0"/>
              </a:spcAft>
              <a:buSzPts val="1800"/>
              <a:buChar char="●"/>
            </a:pPr>
            <a:r>
              <a:rPr lang="en"/>
              <a:t>Standard Pre Training datasets</a:t>
            </a:r>
            <a:endParaRPr/>
          </a:p>
          <a:p>
            <a:pPr indent="0" lvl="0" marL="0" rtl="0" algn="l">
              <a:lnSpc>
                <a:spcPct val="90000"/>
              </a:lnSpc>
              <a:spcBef>
                <a:spcPts val="1200"/>
              </a:spcBef>
              <a:spcAft>
                <a:spcPts val="1200"/>
              </a:spcAft>
              <a:buNone/>
            </a:pPr>
            <a:r>
              <a:t/>
            </a:r>
            <a:endParaRPr b="1" sz="1700"/>
          </a:p>
        </p:txBody>
      </p:sp>
      <p:pic>
        <p:nvPicPr>
          <p:cNvPr id="436" name="Google Shape;436;p73"/>
          <p:cNvPicPr preferRelativeResize="0"/>
          <p:nvPr/>
        </p:nvPicPr>
        <p:blipFill>
          <a:blip r:embed="rId3">
            <a:alphaModFix/>
          </a:blip>
          <a:stretch>
            <a:fillRect/>
          </a:stretch>
        </p:blipFill>
        <p:spPr>
          <a:xfrm>
            <a:off x="3645713" y="1219063"/>
            <a:ext cx="5267308" cy="348752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Fine-Grained Alignment Tuning</a:t>
            </a:r>
            <a:endParaRPr/>
          </a:p>
        </p:txBody>
      </p:sp>
      <p:sp>
        <p:nvSpPr>
          <p:cNvPr id="442" name="Google Shape;442;p74"/>
          <p:cNvSpPr txBox="1"/>
          <p:nvPr>
            <p:ph idx="1" type="body"/>
          </p:nvPr>
        </p:nvSpPr>
        <p:spPr>
          <a:xfrm>
            <a:off x="311700" y="1152475"/>
            <a:ext cx="3067200" cy="3620700"/>
          </a:xfrm>
          <a:prstGeom prst="rect">
            <a:avLst/>
          </a:prstGeom>
        </p:spPr>
        <p:txBody>
          <a:bodyPr anchorCtr="0" anchor="t" bIns="91425" lIns="91425" spcFirstLastPara="1" rIns="91425" wrap="square" tIns="91425">
            <a:normAutofit/>
          </a:bodyPr>
          <a:lstStyle/>
          <a:p>
            <a:pPr indent="-254000" lvl="0" marL="342900" rtl="0" algn="l">
              <a:lnSpc>
                <a:spcPct val="90000"/>
              </a:lnSpc>
              <a:spcBef>
                <a:spcPts val="0"/>
              </a:spcBef>
              <a:spcAft>
                <a:spcPts val="0"/>
              </a:spcAft>
              <a:buClr>
                <a:schemeClr val="dk1"/>
              </a:buClr>
              <a:buSzPts val="1400"/>
              <a:buChar char="●"/>
            </a:pPr>
            <a:r>
              <a:rPr lang="en"/>
              <a:t>GPT generates task specific questions</a:t>
            </a:r>
            <a:endParaRPr/>
          </a:p>
          <a:p>
            <a:pPr indent="-254000" lvl="0" marL="342900" rtl="0" algn="l">
              <a:lnSpc>
                <a:spcPct val="90000"/>
              </a:lnSpc>
              <a:spcBef>
                <a:spcPts val="0"/>
              </a:spcBef>
              <a:spcAft>
                <a:spcPts val="0"/>
              </a:spcAft>
              <a:buClr>
                <a:schemeClr val="dk1"/>
              </a:buClr>
              <a:buSzPts val="1400"/>
              <a:buChar char="●"/>
            </a:pPr>
            <a:r>
              <a:rPr lang="en"/>
              <a:t> Apply tasks to public datasets, fitting bounding box and temporal data to a single-turn conversation</a:t>
            </a:r>
            <a:endParaRPr/>
          </a:p>
          <a:p>
            <a:pPr indent="-254000" lvl="0" marL="342900" rtl="0" algn="l">
              <a:lnSpc>
                <a:spcPct val="90000"/>
              </a:lnSpc>
              <a:spcBef>
                <a:spcPts val="0"/>
              </a:spcBef>
              <a:spcAft>
                <a:spcPts val="0"/>
              </a:spcAft>
              <a:buClr>
                <a:schemeClr val="dk1"/>
              </a:buClr>
              <a:buSzPts val="1400"/>
              <a:buChar char="●"/>
            </a:pPr>
            <a:r>
              <a:rPr lang="en"/>
              <a:t>Encoders are frozen, LLM and Adapters are trained</a:t>
            </a:r>
            <a:endParaRPr/>
          </a:p>
          <a:p>
            <a:pPr indent="0" lvl="0" marL="0" rtl="0" algn="l">
              <a:lnSpc>
                <a:spcPct val="90000"/>
              </a:lnSpc>
              <a:spcBef>
                <a:spcPts val="1200"/>
              </a:spcBef>
              <a:spcAft>
                <a:spcPts val="1200"/>
              </a:spcAft>
              <a:buNone/>
            </a:pPr>
            <a:r>
              <a:t/>
            </a:r>
            <a:endParaRPr/>
          </a:p>
        </p:txBody>
      </p:sp>
      <p:pic>
        <p:nvPicPr>
          <p:cNvPr id="443" name="Google Shape;443;p74"/>
          <p:cNvPicPr preferRelativeResize="0"/>
          <p:nvPr/>
        </p:nvPicPr>
        <p:blipFill>
          <a:blip r:embed="rId3">
            <a:alphaModFix/>
          </a:blip>
          <a:stretch>
            <a:fillRect/>
          </a:stretch>
        </p:blipFill>
        <p:spPr>
          <a:xfrm>
            <a:off x="4281724" y="1152474"/>
            <a:ext cx="4070885" cy="33733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rgbClr val="12284B"/>
              </a:buClr>
              <a:buSzPct val="117857"/>
              <a:buFont typeface="Arial Black"/>
              <a:buNone/>
            </a:pPr>
            <a:r>
              <a:rPr lang="en">
                <a:solidFill>
                  <a:srgbClr val="12284B"/>
                </a:solidFill>
              </a:rPr>
              <a:t> Multi-granularity Instruction Tuning</a:t>
            </a:r>
            <a:endParaRPr>
              <a:solidFill>
                <a:srgbClr val="12284B"/>
              </a:solidFill>
            </a:endParaRPr>
          </a:p>
          <a:p>
            <a:pPr indent="0" lvl="0" marL="0" rtl="0" algn="l">
              <a:spcBef>
                <a:spcPts val="0"/>
              </a:spcBef>
              <a:spcAft>
                <a:spcPts val="0"/>
              </a:spcAft>
              <a:buNone/>
            </a:pPr>
            <a:r>
              <a:t/>
            </a:r>
            <a:endParaRPr/>
          </a:p>
        </p:txBody>
      </p:sp>
      <p:sp>
        <p:nvSpPr>
          <p:cNvPr id="449" name="Google Shape;449;p75"/>
          <p:cNvSpPr txBox="1"/>
          <p:nvPr>
            <p:ph idx="1" type="body"/>
          </p:nvPr>
        </p:nvSpPr>
        <p:spPr>
          <a:xfrm>
            <a:off x="311700" y="1152475"/>
            <a:ext cx="3067200" cy="3620700"/>
          </a:xfrm>
          <a:prstGeom prst="rect">
            <a:avLst/>
          </a:prstGeom>
        </p:spPr>
        <p:txBody>
          <a:bodyPr anchorCtr="0" anchor="t" bIns="91425" lIns="91425" spcFirstLastPara="1" rIns="91425" wrap="square" tIns="91425">
            <a:normAutofit/>
          </a:bodyPr>
          <a:lstStyle/>
          <a:p>
            <a:pPr indent="-254000" lvl="0" marL="342900" rtl="0" algn="l">
              <a:lnSpc>
                <a:spcPct val="90000"/>
              </a:lnSpc>
              <a:spcBef>
                <a:spcPts val="0"/>
              </a:spcBef>
              <a:spcAft>
                <a:spcPts val="0"/>
              </a:spcAft>
              <a:buClr>
                <a:schemeClr val="dk1"/>
              </a:buClr>
              <a:buSzPts val="1400"/>
              <a:buChar char="●"/>
            </a:pPr>
            <a:r>
              <a:rPr lang="en"/>
              <a:t>Focus in multi-step question and answer pairs</a:t>
            </a:r>
            <a:endParaRPr/>
          </a:p>
          <a:p>
            <a:pPr indent="-254000" lvl="0" marL="342900" rtl="0" algn="l">
              <a:lnSpc>
                <a:spcPct val="90000"/>
              </a:lnSpc>
              <a:spcBef>
                <a:spcPts val="0"/>
              </a:spcBef>
              <a:spcAft>
                <a:spcPts val="0"/>
              </a:spcAft>
              <a:buClr>
                <a:schemeClr val="dk1"/>
              </a:buClr>
              <a:buSzPts val="1400"/>
              <a:buChar char="●"/>
            </a:pPr>
            <a:r>
              <a:rPr lang="en"/>
              <a:t>Utilize GPT to generate questions with annotations from public datasets</a:t>
            </a:r>
            <a:endParaRPr/>
          </a:p>
          <a:p>
            <a:pPr indent="-254000" lvl="0" marL="342900" rtl="0" algn="l">
              <a:lnSpc>
                <a:spcPct val="90000"/>
              </a:lnSpc>
              <a:spcBef>
                <a:spcPts val="0"/>
              </a:spcBef>
              <a:spcAft>
                <a:spcPts val="0"/>
              </a:spcAft>
              <a:buClr>
                <a:schemeClr val="dk1"/>
              </a:buClr>
              <a:buSzPts val="1400"/>
              <a:buChar char="●"/>
            </a:pPr>
            <a:r>
              <a:rPr lang="en"/>
              <a:t>Use Human Annotators to build in context examples from public datasets</a:t>
            </a:r>
            <a:endParaRPr/>
          </a:p>
          <a:p>
            <a:pPr indent="-254000" lvl="0" marL="342900" rtl="0" algn="l">
              <a:lnSpc>
                <a:spcPct val="90000"/>
              </a:lnSpc>
              <a:spcBef>
                <a:spcPts val="0"/>
              </a:spcBef>
              <a:spcAft>
                <a:spcPts val="0"/>
              </a:spcAft>
              <a:buClr>
                <a:schemeClr val="dk1"/>
              </a:buClr>
              <a:buSzPts val="1400"/>
              <a:buChar char="●"/>
            </a:pPr>
            <a:r>
              <a:rPr lang="en"/>
              <a:t>Encoders are frozen, LLM and Adapters are trained</a:t>
            </a:r>
            <a:endParaRPr/>
          </a:p>
          <a:p>
            <a:pPr indent="0" lvl="0" marL="0" rtl="0" algn="l">
              <a:lnSpc>
                <a:spcPct val="90000"/>
              </a:lnSpc>
              <a:spcBef>
                <a:spcPts val="1200"/>
              </a:spcBef>
              <a:spcAft>
                <a:spcPts val="1200"/>
              </a:spcAft>
              <a:buNone/>
            </a:pPr>
            <a:r>
              <a:t/>
            </a:r>
            <a:endParaRPr/>
          </a:p>
        </p:txBody>
      </p:sp>
      <p:pic>
        <p:nvPicPr>
          <p:cNvPr id="450" name="Google Shape;450;p75"/>
          <p:cNvPicPr preferRelativeResize="0"/>
          <p:nvPr/>
        </p:nvPicPr>
        <p:blipFill rotWithShape="1">
          <a:blip r:embed="rId3">
            <a:alphaModFix/>
          </a:blip>
          <a:srcRect b="0" l="1234" r="0" t="0"/>
          <a:stretch/>
        </p:blipFill>
        <p:spPr>
          <a:xfrm>
            <a:off x="4271894" y="1152463"/>
            <a:ext cx="4035883" cy="341666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
                <a:solidFill>
                  <a:srgbClr val="12284B"/>
                </a:solidFill>
              </a:rPr>
              <a:t>Examples</a:t>
            </a:r>
            <a:endParaRPr>
              <a:solidFill>
                <a:srgbClr val="12284B"/>
              </a:solidFill>
            </a:endParaRPr>
          </a:p>
          <a:p>
            <a:pPr indent="0" lvl="0" marL="0" rtl="0" algn="l">
              <a:spcBef>
                <a:spcPts val="0"/>
              </a:spcBef>
              <a:spcAft>
                <a:spcPts val="0"/>
              </a:spcAft>
              <a:buNone/>
            </a:pPr>
            <a:r>
              <a:t/>
            </a:r>
            <a:endParaRPr/>
          </a:p>
        </p:txBody>
      </p:sp>
      <p:pic>
        <p:nvPicPr>
          <p:cNvPr id="456" name="Google Shape;456;p76"/>
          <p:cNvPicPr preferRelativeResize="0"/>
          <p:nvPr/>
        </p:nvPicPr>
        <p:blipFill>
          <a:blip r:embed="rId3">
            <a:alphaModFix/>
          </a:blip>
          <a:stretch>
            <a:fillRect/>
          </a:stretch>
        </p:blipFill>
        <p:spPr>
          <a:xfrm>
            <a:off x="376181" y="1055570"/>
            <a:ext cx="8391629" cy="1831557"/>
          </a:xfrm>
          <a:prstGeom prst="rect">
            <a:avLst/>
          </a:prstGeom>
          <a:noFill/>
          <a:ln>
            <a:noFill/>
          </a:ln>
        </p:spPr>
      </p:pic>
      <p:pic>
        <p:nvPicPr>
          <p:cNvPr id="457" name="Google Shape;457;p76"/>
          <p:cNvPicPr preferRelativeResize="0"/>
          <p:nvPr/>
        </p:nvPicPr>
        <p:blipFill>
          <a:blip r:embed="rId4">
            <a:alphaModFix/>
          </a:blip>
          <a:stretch>
            <a:fillRect/>
          </a:stretch>
        </p:blipFill>
        <p:spPr>
          <a:xfrm>
            <a:off x="521963" y="3017175"/>
            <a:ext cx="7993385" cy="116701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
                <a:solidFill>
                  <a:srgbClr val="12284B"/>
                </a:solidFill>
              </a:rPr>
              <a:t>Results</a:t>
            </a:r>
            <a:endParaRPr>
              <a:solidFill>
                <a:srgbClr val="12284B"/>
              </a:solidFill>
            </a:endParaRPr>
          </a:p>
          <a:p>
            <a:pPr indent="0" lvl="0" marL="0" rtl="0" algn="l">
              <a:spcBef>
                <a:spcPts val="0"/>
              </a:spcBef>
              <a:spcAft>
                <a:spcPts val="0"/>
              </a:spcAft>
              <a:buNone/>
            </a:pPr>
            <a:r>
              <a:t/>
            </a:r>
            <a:endParaRPr/>
          </a:p>
        </p:txBody>
      </p:sp>
      <p:pic>
        <p:nvPicPr>
          <p:cNvPr id="463" name="Google Shape;463;p77"/>
          <p:cNvPicPr preferRelativeResize="0"/>
          <p:nvPr/>
        </p:nvPicPr>
        <p:blipFill>
          <a:blip r:embed="rId3">
            <a:alphaModFix/>
          </a:blip>
          <a:stretch>
            <a:fillRect/>
          </a:stretch>
        </p:blipFill>
        <p:spPr>
          <a:xfrm>
            <a:off x="515756" y="1316512"/>
            <a:ext cx="8112489" cy="322813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
                <a:solidFill>
                  <a:srgbClr val="12284B"/>
                </a:solidFill>
              </a:rPr>
              <a:t>Results</a:t>
            </a:r>
            <a:endParaRPr>
              <a:solidFill>
                <a:srgbClr val="12284B"/>
              </a:solidFill>
            </a:endParaRPr>
          </a:p>
          <a:p>
            <a:pPr indent="0" lvl="0" marL="0" rtl="0" algn="l">
              <a:spcBef>
                <a:spcPts val="0"/>
              </a:spcBef>
              <a:spcAft>
                <a:spcPts val="0"/>
              </a:spcAft>
              <a:buNone/>
            </a:pPr>
            <a:r>
              <a:t/>
            </a:r>
            <a:endParaRPr/>
          </a:p>
        </p:txBody>
      </p:sp>
      <p:pic>
        <p:nvPicPr>
          <p:cNvPr id="469" name="Google Shape;469;p78"/>
          <p:cNvPicPr preferRelativeResize="0"/>
          <p:nvPr/>
        </p:nvPicPr>
        <p:blipFill rotWithShape="1">
          <a:blip r:embed="rId3">
            <a:alphaModFix/>
          </a:blip>
          <a:srcRect b="18785" l="15946" r="12286" t="0"/>
          <a:stretch/>
        </p:blipFill>
        <p:spPr>
          <a:xfrm>
            <a:off x="3685875" y="1518863"/>
            <a:ext cx="5235769" cy="1891369"/>
          </a:xfrm>
          <a:prstGeom prst="rect">
            <a:avLst/>
          </a:prstGeom>
          <a:noFill/>
          <a:ln>
            <a:noFill/>
          </a:ln>
        </p:spPr>
      </p:pic>
      <p:pic>
        <p:nvPicPr>
          <p:cNvPr id="470" name="Google Shape;470;p78"/>
          <p:cNvPicPr preferRelativeResize="0"/>
          <p:nvPr/>
        </p:nvPicPr>
        <p:blipFill>
          <a:blip r:embed="rId4">
            <a:alphaModFix/>
          </a:blip>
          <a:stretch>
            <a:fillRect/>
          </a:stretch>
        </p:blipFill>
        <p:spPr>
          <a:xfrm>
            <a:off x="75075" y="1159791"/>
            <a:ext cx="3795319" cy="292186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
                <a:solidFill>
                  <a:srgbClr val="12284B"/>
                </a:solidFill>
              </a:rPr>
              <a:t>Limitations</a:t>
            </a:r>
            <a:endParaRPr>
              <a:solidFill>
                <a:srgbClr val="12284B"/>
              </a:solidFill>
            </a:endParaRPr>
          </a:p>
          <a:p>
            <a:pPr indent="0" lvl="0" marL="0" rtl="0" algn="l">
              <a:spcBef>
                <a:spcPts val="0"/>
              </a:spcBef>
              <a:spcAft>
                <a:spcPts val="0"/>
              </a:spcAft>
              <a:buNone/>
            </a:pPr>
            <a:r>
              <a:t/>
            </a:r>
            <a:endParaRPr/>
          </a:p>
        </p:txBody>
      </p:sp>
      <p:sp>
        <p:nvSpPr>
          <p:cNvPr id="476" name="Google Shape;476;p79"/>
          <p:cNvSpPr txBox="1"/>
          <p:nvPr>
            <p:ph idx="4294967295" type="body"/>
          </p:nvPr>
        </p:nvSpPr>
        <p:spPr>
          <a:xfrm>
            <a:off x="628650" y="1159771"/>
            <a:ext cx="7886700" cy="3126000"/>
          </a:xfrm>
          <a:prstGeom prst="rect">
            <a:avLst/>
          </a:prstGeom>
          <a:noFill/>
          <a:ln>
            <a:noFill/>
          </a:ln>
        </p:spPr>
        <p:txBody>
          <a:bodyPr anchorCtr="0" anchor="t" bIns="34275" lIns="68575" spcFirstLastPara="1" rIns="68575" wrap="square" tIns="34275">
            <a:normAutofit/>
          </a:bodyPr>
          <a:lstStyle/>
          <a:p>
            <a:pPr indent="-279400" lvl="0" marL="342900" rtl="0" algn="l">
              <a:lnSpc>
                <a:spcPct val="90000"/>
              </a:lnSpc>
              <a:spcBef>
                <a:spcPts val="0"/>
              </a:spcBef>
              <a:spcAft>
                <a:spcPts val="0"/>
              </a:spcAft>
              <a:buSzPts val="1800"/>
              <a:buChar char="●"/>
            </a:pPr>
            <a:r>
              <a:rPr b="1" lang="en"/>
              <a:t>Sampling Strategy:</a:t>
            </a:r>
            <a:r>
              <a:rPr lang="en"/>
              <a:t> Reduces memory requirements but leads to inevitable loss of information</a:t>
            </a:r>
            <a:endParaRPr/>
          </a:p>
          <a:p>
            <a:pPr indent="-279400" lvl="0" marL="342900" rtl="0" algn="l">
              <a:lnSpc>
                <a:spcPct val="90000"/>
              </a:lnSpc>
              <a:spcBef>
                <a:spcPts val="0"/>
              </a:spcBef>
              <a:spcAft>
                <a:spcPts val="0"/>
              </a:spcAft>
              <a:buSzPts val="1800"/>
              <a:buChar char="●"/>
            </a:pPr>
            <a:r>
              <a:rPr b="1" lang="en"/>
              <a:t>Cross-modal Inputs:</a:t>
            </a:r>
            <a:r>
              <a:rPr lang="en"/>
              <a:t> Majority of training data contains only single-modal inputs as opposed to multi-modal</a:t>
            </a:r>
            <a:endParaRPr/>
          </a:p>
          <a:p>
            <a:pPr indent="-279400" lvl="0" marL="342900" rtl="0" algn="l">
              <a:lnSpc>
                <a:spcPct val="90000"/>
              </a:lnSpc>
              <a:spcBef>
                <a:spcPts val="0"/>
              </a:spcBef>
              <a:spcAft>
                <a:spcPts val="0"/>
              </a:spcAft>
              <a:buSzPts val="1800"/>
              <a:buChar char="●"/>
            </a:pPr>
            <a:r>
              <a:rPr b="1" lang="en"/>
              <a:t>Grounding Ability:</a:t>
            </a:r>
            <a:r>
              <a:rPr lang="en"/>
              <a:t> Doesn’t cover all fine grained grounding tasks; look into other tasks such as segmentation masking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