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31"/>
  </p:notesMasterIdLst>
  <p:sldIdLst>
    <p:sldId id="256" r:id="rId5"/>
    <p:sldId id="257" r:id="rId6"/>
    <p:sldId id="288" r:id="rId7"/>
    <p:sldId id="289" r:id="rId8"/>
    <p:sldId id="291" r:id="rId9"/>
    <p:sldId id="290" r:id="rId10"/>
    <p:sldId id="292" r:id="rId11"/>
    <p:sldId id="293" r:id="rId12"/>
    <p:sldId id="294" r:id="rId13"/>
    <p:sldId id="295" r:id="rId14"/>
    <p:sldId id="297" r:id="rId15"/>
    <p:sldId id="268" r:id="rId16"/>
    <p:sldId id="269" r:id="rId17"/>
    <p:sldId id="296" r:id="rId18"/>
    <p:sldId id="298" r:id="rId19"/>
    <p:sldId id="301" r:id="rId20"/>
    <p:sldId id="300" r:id="rId21"/>
    <p:sldId id="306" r:id="rId22"/>
    <p:sldId id="302" r:id="rId23"/>
    <p:sldId id="305" r:id="rId24"/>
    <p:sldId id="304" r:id="rId25"/>
    <p:sldId id="308" r:id="rId26"/>
    <p:sldId id="309" r:id="rId27"/>
    <p:sldId id="310" r:id="rId28"/>
    <p:sldId id="307" r:id="rId29"/>
    <p:sldId id="286" r:id="rId30"/>
  </p:sldIdLst>
  <p:sldSz cx="9144000" cy="5143500" type="screen16x9"/>
  <p:notesSz cx="6858000" cy="9144000"/>
  <p:embeddedFontLst>
    <p:embeddedFont>
      <p:font typeface="新細明體" panose="02020500000000000000" pitchFamily="18" charset="-120"/>
      <p:regular r:id="rId32"/>
    </p:embeddedFont>
    <p:embeddedFont>
      <p:font typeface="宋体" panose="02010600030101010101" pitchFamily="2" charset="-122"/>
      <p:regular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93173-90D0-2B70-90BA-510B7DE0966E}" v="917" dt="2025-03-03T04:21:13.074"/>
    <p1510:client id="{24D05B7A-A21B-4995-9A33-78D78AB37588}" v="197" dt="2025-03-02T20:45:59.327"/>
    <p1510:client id="{2FC99387-888B-DB09-822E-A46711BF98FD}" v="71" dt="2025-03-03T02:06:28.454"/>
    <p1510:client id="{73EF9DCE-74BD-3960-FD0C-86CF1A0B0742}" v="67" dt="2025-03-03T04:32:53.375"/>
    <p1510:client id="{8142F6DD-259C-B204-1778-772108F2F9AA}" v="432" dt="2025-03-03T05:25:28.089"/>
    <p1510:client id="{B9498A77-E609-6080-2015-B0AA755BB041}" v="196" dt="2025-03-03T06:40:17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8"/>
  </p:normalViewPr>
  <p:slideViewPr>
    <p:cSldViewPr snapToGrid="0">
      <p:cViewPr varScale="1">
        <p:scale>
          <a:sx n="154" d="100"/>
          <a:sy n="154" d="100"/>
        </p:scale>
        <p:origin x="58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FD009292-6E54-371F-92A8-0860EA0D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1A38373B-F811-5C68-D3F6-9E91C9E98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D505C24A-ABBC-DB75-D54D-8248D6559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2108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6E1B9B4F-D79F-1731-55F1-0CA561E0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C5983CCC-4D45-8293-41DA-56B867FAF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3683980C-669D-7CB5-89E8-DC6BF5AB8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6629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59FA0E7D-4B0B-BF4D-5936-68FA8933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A52273A5-9266-9AEB-813D-C046BFCBA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D8F16F09-A667-6BFC-F9D4-61788C9E1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831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7ACCF445-6D75-E8FB-5EC7-AFB19009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11C57061-4CBD-2322-B37B-39890D241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BE5CB8D2-E7B7-7CA8-3EE6-9B609E091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4946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9DD48149-30E4-4A30-B8CB-F2A43204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788A0C74-1CF3-ACB4-DF6C-A6C0CBC42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C0DAF5FB-4917-05C3-6EB8-5A1FBC15F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725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1F18FDAB-76DD-1CF9-E8D1-8ACDA622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789978C9-8405-2F62-844B-8DBB73A34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322896C2-708C-9F0D-023C-1D332A918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955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CED29C58-ACEB-719D-285D-6F73F119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FC03DE04-5A8C-90F5-7067-52B9A8F8D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AD4FC935-8009-4FC8-D339-B7CAB5CDD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948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080ED69-2F68-9858-B6F4-7405B37C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0954F9DF-0BB2-D626-30CE-19B4CA27A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8CE57AE8-C7CC-96A9-3B0D-B28840199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573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20B9DF71-76FC-154C-8C4D-49E898972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29EE05D1-45CB-01C3-A0CB-CA5F1F8283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A541831A-BC4B-D1DB-7A8D-65B1ABBD3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692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1b9f7ceb0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1b9f7ceb0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1b9f7ceb0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1b9f7ceb0_2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6DEA9DC-880B-E1D7-1DCB-7925F12E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AE2B0FA-D015-E4C5-91BF-A2674C88B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C3FCAFD-06BE-A4F4-FFA4-E62B5CAC01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942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7323774-EA74-8380-8DA5-917ADF142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3E6F46D3-BE02-0977-DEB2-78CDE30F0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7617BF34-1912-96FB-89B0-B49BB7BAB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854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FF99B206-A719-4C42-9EE6-69476A31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C84EEB16-0189-F0DD-87F7-3A9D48AB0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F3A84380-FCBA-5E35-658A-57017AFDC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67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B0DD204B-416B-2734-5E35-7EBD4118A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7D6AED27-B797-254E-58E3-278B89207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0F9AFE31-1B60-4D77-7E0B-98FEE0D13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290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AFD57D5C-131F-E213-7902-3513B6F0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E61F9641-58FC-500D-93B3-4F226949E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35492258-EB6D-143B-E5B2-651F87271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187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E474DC03-9052-8729-1A8A-7F9103BC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B4A21356-8EE5-0656-9B16-354EFD802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0DCD8836-AEE1-620C-6AEB-FC7D2A037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9297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718BF9B5-52A8-27B5-3F5C-F71AAFB2F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DA18C7A4-64CC-291D-340D-8E9D5E7A8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53346F72-BF79-E0FF-9BB3-E56FF0A70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006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BFFE04BC-E6FD-EC3F-62A9-6A39634A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17CB3890-3116-B5B7-2F4B-0784DF98A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81D6C589-AE7E-BF04-5A04-45AE5BB58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456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25FF937B-6593-ED94-C156-0E9CA2B0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1b9f7ceb0_2_116:notes">
            <a:extLst>
              <a:ext uri="{FF2B5EF4-FFF2-40B4-BE49-F238E27FC236}">
                <a16:creationId xmlns:a16="http://schemas.microsoft.com/office/drawing/2014/main" id="{718154A7-7B5B-D86B-33B1-20FDE346B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1b9f7ceb0_2_116:notes">
            <a:extLst>
              <a:ext uri="{FF2B5EF4-FFF2-40B4-BE49-F238E27FC236}">
                <a16:creationId xmlns:a16="http://schemas.microsoft.com/office/drawing/2014/main" id="{ED3D7EA8-F02E-04E7-2571-74402CDAA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483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AFBBA271-AE5F-45E4-F9C1-35835BFDC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1b9f7ceb0_2_116:notes">
            <a:extLst>
              <a:ext uri="{FF2B5EF4-FFF2-40B4-BE49-F238E27FC236}">
                <a16:creationId xmlns:a16="http://schemas.microsoft.com/office/drawing/2014/main" id="{9A2063BE-FE88-3A88-A1EC-6E1887E92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1b9f7ceb0_2_116:notes">
            <a:extLst>
              <a:ext uri="{FF2B5EF4-FFF2-40B4-BE49-F238E27FC236}">
                <a16:creationId xmlns:a16="http://schemas.microsoft.com/office/drawing/2014/main" id="{3D6DD559-305E-F098-20BD-EE5EC7C96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0924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E6D00E2D-89CA-1559-23F3-774541D6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1b9f7ceb0_2_116:notes">
            <a:extLst>
              <a:ext uri="{FF2B5EF4-FFF2-40B4-BE49-F238E27FC236}">
                <a16:creationId xmlns:a16="http://schemas.microsoft.com/office/drawing/2014/main" id="{31E92DCB-11E1-676F-1CD0-D464EBFDC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1b9f7ceb0_2_116:notes">
            <a:extLst>
              <a:ext uri="{FF2B5EF4-FFF2-40B4-BE49-F238E27FC236}">
                <a16:creationId xmlns:a16="http://schemas.microsoft.com/office/drawing/2014/main" id="{B85FBD55-FED3-7279-3877-F4E8D497A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6281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502B0C20-7FDC-18A5-CD4A-0D82352B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>
            <a:extLst>
              <a:ext uri="{FF2B5EF4-FFF2-40B4-BE49-F238E27FC236}">
                <a16:creationId xmlns:a16="http://schemas.microsoft.com/office/drawing/2014/main" id="{D416CB6A-13B9-6594-9A06-5E4CC8F32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>
            <a:extLst>
              <a:ext uri="{FF2B5EF4-FFF2-40B4-BE49-F238E27FC236}">
                <a16:creationId xmlns:a16="http://schemas.microsoft.com/office/drawing/2014/main" id="{E284C6C8-A9C3-3BD7-A299-88E0CAC11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356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36ffd0a7c2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36ffd0a7c2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3026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US" sz="3600">
                <a:solidFill>
                  <a:srgbClr val="FF5F05"/>
                </a:solidFill>
              </a:rPr>
              <a:t>Adaptive-RAG: Learning to Adapt Retrieval-Augmented Large Language Models through Question Complexity</a:t>
            </a:r>
            <a:endParaRPr sz="3600" b="1">
              <a:solidFill>
                <a:srgbClr val="FF99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Presenter: Oliver Li</a:t>
            </a:r>
            <a:endParaRPr sz="3200"/>
          </a:p>
        </p:txBody>
      </p:sp>
      <p:sp>
        <p:nvSpPr>
          <p:cNvPr id="57" name="Google Shape;57;p13"/>
          <p:cNvSpPr txBox="1"/>
          <p:nvPr/>
        </p:nvSpPr>
        <p:spPr>
          <a:xfrm>
            <a:off x="1399650" y="3688650"/>
            <a:ext cx="634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CS598:  Topics in LLM Agents, 2025 Spring</a:t>
            </a:r>
            <a:endParaRPr sz="2800"/>
          </a:p>
        </p:txBody>
      </p:sp>
      <p:sp>
        <p:nvSpPr>
          <p:cNvPr id="58" name="Google Shape;58;p13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Background</a:t>
            </a:r>
            <a:endParaRPr sz="320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Retrieval-Augmented (RAG) Large Language Models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-US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Motivation: Incorporate external knowledge base to enhance response (e.g. factuality)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-US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Retrieval – Generation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</a:t>
            </a:r>
            <a:r>
              <a:rPr lang="en-US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Application: QA</a:t>
            </a: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5FED8F6F-6E22-5173-0D21-D14F5420FF57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22CCC009-320D-DB52-9B11-219737052742}"/>
              </a:ext>
            </a:extLst>
          </p:cNvPr>
          <p:cNvSpPr txBox="1"/>
          <p:nvPr/>
        </p:nvSpPr>
        <p:spPr>
          <a:xfrm>
            <a:off x="1105144" y="4740255"/>
            <a:ext cx="330752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Source: https://medium.com/kinomoto-mag/enhancing-retrieval-augmented-generation-with-pre-trained-language-models-9903217a4124</a:t>
            </a:r>
            <a:endParaRPr sz="8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Enhancing Retrieval-Augmented Generation with Pre-Trained Language Models |  by Hira Ahmad | Kinomoto.Mag AI | Medium">
            <a:extLst>
              <a:ext uri="{FF2B5EF4-FFF2-40B4-BE49-F238E27FC236}">
                <a16:creationId xmlns:a16="http://schemas.microsoft.com/office/drawing/2014/main" id="{06458D9D-290D-A18D-99CF-09D5152B7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771" y="2441608"/>
            <a:ext cx="4585711" cy="270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4C94BCBF-EFE9-E3F5-FE0E-B52C3B04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4189D1FF-6A51-01C2-564F-32B64E01B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Prior Settings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189F7554-B4D0-8793-B757-5387238B7FFD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F73B02C1-7750-B917-4223-9D0F3EA6B3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956" y="2093254"/>
            <a:ext cx="2320664" cy="818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4">
                    <a:lumMod val="50000"/>
                  </a:schemeClr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Non-Retrieval for QA</a:t>
            </a:r>
            <a:endParaRPr lang="en-US" sz="3200">
              <a:solidFill>
                <a:schemeClr val="accent4">
                  <a:lumMod val="50000"/>
                </a:schemeClr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F4D979-6B85-59A8-2241-434F0010C02A}"/>
              </a:ext>
            </a:extLst>
          </p:cNvPr>
          <p:cNvSpPr/>
          <p:nvPr/>
        </p:nvSpPr>
        <p:spPr>
          <a:xfrm>
            <a:off x="2979550" y="1473200"/>
            <a:ext cx="3092450" cy="109855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Question: Which ipsilateral deficits are most likely to occur in a patient with a lesion compressing the facial nerve at the stylomastoid foramen?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41C6F-7D1E-1D90-0613-A6636F4878EF}"/>
              </a:ext>
            </a:extLst>
          </p:cNvPr>
          <p:cNvSpPr/>
          <p:nvPr/>
        </p:nvSpPr>
        <p:spPr>
          <a:xfrm>
            <a:off x="4129087" y="3276943"/>
            <a:ext cx="885825" cy="45892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F54C8333-16D1-E2B7-0E5F-8D5326A1DC06}"/>
              </a:ext>
            </a:extLst>
          </p:cNvPr>
          <p:cNvSpPr/>
          <p:nvPr/>
        </p:nvSpPr>
        <p:spPr>
          <a:xfrm>
            <a:off x="4250343" y="2660650"/>
            <a:ext cx="550863" cy="52739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9FA04C-A62E-4E8D-ABEC-350DB92B3B2C}"/>
              </a:ext>
            </a:extLst>
          </p:cNvPr>
          <p:cNvSpPr/>
          <p:nvPr/>
        </p:nvSpPr>
        <p:spPr>
          <a:xfrm>
            <a:off x="6305550" y="2571750"/>
            <a:ext cx="920750" cy="5273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EDCCA5-0252-070B-DEF4-E00EBB697F9D}"/>
              </a:ext>
            </a:extLst>
          </p:cNvPr>
          <p:cNvSpPr/>
          <p:nvPr/>
        </p:nvSpPr>
        <p:spPr>
          <a:xfrm>
            <a:off x="7459850" y="2660650"/>
            <a:ext cx="1112792" cy="35014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Response</a:t>
            </a:r>
          </a:p>
        </p:txBody>
      </p:sp>
      <p:sp>
        <p:nvSpPr>
          <p:cNvPr id="14" name="Google Shape;59;p13">
            <a:extLst>
              <a:ext uri="{FF2B5EF4-FFF2-40B4-BE49-F238E27FC236}">
                <a16:creationId xmlns:a16="http://schemas.microsoft.com/office/drawing/2014/main" id="{F225B6D2-810D-27B4-F97A-0E79BF6CAC5E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976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B8B724C6-A313-3721-2E96-FA551107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BE04FE-1141-00C0-FCCB-F2DB6D61FDC7}"/>
              </a:ext>
            </a:extLst>
          </p:cNvPr>
          <p:cNvSpPr/>
          <p:nvPr/>
        </p:nvSpPr>
        <p:spPr>
          <a:xfrm>
            <a:off x="5280147" y="3200399"/>
            <a:ext cx="2473015" cy="13751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Using the context provided below, please answer the subsequent question related to medical examinations.</a:t>
            </a:r>
          </a:p>
          <a:p>
            <a:r>
              <a:rPr lang="en-US" sz="1200">
                <a:solidFill>
                  <a:schemeClr val="tx1"/>
                </a:solidFill>
              </a:rPr>
              <a:t>Context:</a:t>
            </a:r>
          </a:p>
          <a:p>
            <a:r>
              <a:rPr lang="en-US" sz="1200">
                <a:solidFill>
                  <a:schemeClr val="tx1"/>
                </a:solidFill>
              </a:rPr>
              <a:t>Question:</a:t>
            </a: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CDB55EC-A1A0-741A-6E94-E61EFEBBC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Prior Settings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50727467-09A9-4E81-B118-24C32D9F3FAC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DE85568E-CB09-D62C-439B-1D6F66C59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956" y="2093254"/>
            <a:ext cx="2320664" cy="818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4">
                    <a:lumMod val="50000"/>
                  </a:schemeClr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Single-Step RAG for QA</a:t>
            </a:r>
            <a:endParaRPr lang="en-US" sz="3200">
              <a:solidFill>
                <a:schemeClr val="accent4">
                  <a:lumMod val="50000"/>
                </a:schemeClr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5EF3B4-5BFD-EFBE-8B0B-7662FF10B22B}"/>
              </a:ext>
            </a:extLst>
          </p:cNvPr>
          <p:cNvSpPr/>
          <p:nvPr/>
        </p:nvSpPr>
        <p:spPr>
          <a:xfrm>
            <a:off x="2979550" y="1473200"/>
            <a:ext cx="3092450" cy="109855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Question: Which ipsilateral deficits are most likely to occur in a patient with a lesion compressing the facial nerve at the stylomastoid foramen?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DFA0C56-55CF-B880-00B7-580FD3A495F1}"/>
              </a:ext>
            </a:extLst>
          </p:cNvPr>
          <p:cNvSpPr/>
          <p:nvPr/>
        </p:nvSpPr>
        <p:spPr>
          <a:xfrm>
            <a:off x="4618225" y="3654212"/>
            <a:ext cx="607825" cy="289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C8598-3764-F72D-8FC6-592C2914A7B9}"/>
              </a:ext>
            </a:extLst>
          </p:cNvPr>
          <p:cNvSpPr/>
          <p:nvPr/>
        </p:nvSpPr>
        <p:spPr>
          <a:xfrm>
            <a:off x="7848412" y="2620973"/>
            <a:ext cx="1112792" cy="35014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Response</a:t>
            </a:r>
          </a:p>
        </p:txBody>
      </p:sp>
      <p:pic>
        <p:nvPicPr>
          <p:cNvPr id="4" name="Picture 2" descr="The Sleuth and the Storyteller: The Dynamic Duo behind RAG | Determined AI">
            <a:extLst>
              <a:ext uri="{FF2B5EF4-FFF2-40B4-BE49-F238E27FC236}">
                <a16:creationId xmlns:a16="http://schemas.microsoft.com/office/drawing/2014/main" id="{3485F034-F14E-66FB-1EFF-BCD9DDCAD7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3977" r="49121" b="-133"/>
          <a:stretch/>
        </p:blipFill>
        <p:spPr bwMode="auto">
          <a:xfrm>
            <a:off x="1267070" y="3200399"/>
            <a:ext cx="3175577" cy="154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3D0E6BDB-85C2-567B-BAB2-74291FABCFE9}"/>
              </a:ext>
            </a:extLst>
          </p:cNvPr>
          <p:cNvSpPr/>
          <p:nvPr/>
        </p:nvSpPr>
        <p:spPr>
          <a:xfrm>
            <a:off x="2417620" y="2660650"/>
            <a:ext cx="516080" cy="7493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2" descr="The Sleuth and the Storyteller: The Dynamic Duo behind RAG | Determined AI">
            <a:extLst>
              <a:ext uri="{FF2B5EF4-FFF2-40B4-BE49-F238E27FC236}">
                <a16:creationId xmlns:a16="http://schemas.microsoft.com/office/drawing/2014/main" id="{A406479E-4044-ACF9-994B-16C22C6D5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3" t="31310" r="36478" b="51580"/>
          <a:stretch/>
        </p:blipFill>
        <p:spPr bwMode="auto">
          <a:xfrm>
            <a:off x="6161110" y="4066714"/>
            <a:ext cx="355544" cy="39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0B84A38F-32EE-8DAA-B1AB-72E610A39819}"/>
              </a:ext>
            </a:extLst>
          </p:cNvPr>
          <p:cNvSpPr/>
          <p:nvPr/>
        </p:nvSpPr>
        <p:spPr>
          <a:xfrm rot="18300781">
            <a:off x="6421625" y="2651477"/>
            <a:ext cx="607825" cy="289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A816CB4D-C0E5-DC24-196B-E9F8E057A559}"/>
              </a:ext>
            </a:extLst>
          </p:cNvPr>
          <p:cNvSpPr/>
          <p:nvPr/>
        </p:nvSpPr>
        <p:spPr>
          <a:xfrm rot="10800000" flipH="1">
            <a:off x="7767261" y="2110746"/>
            <a:ext cx="708026" cy="35097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AD81A479-52F5-72C8-50A9-15E6F518EB4E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D0CA73-CBB5-72E3-A3A0-A9607E61F472}"/>
              </a:ext>
            </a:extLst>
          </p:cNvPr>
          <p:cNvSpPr/>
          <p:nvPr/>
        </p:nvSpPr>
        <p:spPr>
          <a:xfrm>
            <a:off x="6791137" y="1984921"/>
            <a:ext cx="885825" cy="45892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46662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6361BA59-479D-8500-28E5-47CC315A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F2AB3C-6FEC-1CEF-658B-C4ECC325D383}"/>
              </a:ext>
            </a:extLst>
          </p:cNvPr>
          <p:cNvSpPr/>
          <p:nvPr/>
        </p:nvSpPr>
        <p:spPr>
          <a:xfrm>
            <a:off x="5280147" y="3200398"/>
            <a:ext cx="2473015" cy="160440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Using the context provided below, please answer the subsequent question related to medical examinations.</a:t>
            </a:r>
          </a:p>
          <a:p>
            <a:r>
              <a:rPr lang="en-US" sz="1200">
                <a:solidFill>
                  <a:schemeClr val="tx1"/>
                </a:solidFill>
              </a:rPr>
              <a:t>Context:</a:t>
            </a:r>
          </a:p>
          <a:p>
            <a:r>
              <a:rPr lang="en-US" sz="1200">
                <a:solidFill>
                  <a:schemeClr val="tx1"/>
                </a:solidFill>
              </a:rPr>
              <a:t>Question (intermediate/final):</a:t>
            </a:r>
          </a:p>
          <a:p>
            <a:r>
              <a:rPr lang="en-US" sz="1200">
                <a:solidFill>
                  <a:schemeClr val="tx1"/>
                </a:solidFill>
              </a:rPr>
              <a:t>Intermediate Response:          ….</a:t>
            </a: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B230F392-040F-514E-5A3D-4BF20934C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Prior Settings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6992A0DF-4F50-3737-3202-966A3EAD7F96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9D6E7473-59BE-A08D-15DB-77083B7CE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956" y="2093254"/>
            <a:ext cx="2320664" cy="818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4">
                    <a:lumMod val="50000"/>
                  </a:schemeClr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Multi-Step RAG for QA</a:t>
            </a:r>
            <a:endParaRPr lang="en-US" sz="3200">
              <a:solidFill>
                <a:schemeClr val="accent4">
                  <a:lumMod val="50000"/>
                </a:schemeClr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4B92AB-6F2C-EF46-735D-0E600C294A2D}"/>
              </a:ext>
            </a:extLst>
          </p:cNvPr>
          <p:cNvSpPr/>
          <p:nvPr/>
        </p:nvSpPr>
        <p:spPr>
          <a:xfrm>
            <a:off x="2979550" y="1473200"/>
            <a:ext cx="3092450" cy="12199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Question: Which ipsilateral deficits are most likely to occur in a patient with a lesion compressing the facial nerve at the stylomastoid foramen?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Intermediate question: ….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9D7AA1-93D6-4667-68EA-6D1825D75970}"/>
              </a:ext>
            </a:extLst>
          </p:cNvPr>
          <p:cNvSpPr/>
          <p:nvPr/>
        </p:nvSpPr>
        <p:spPr>
          <a:xfrm>
            <a:off x="6791137" y="1984921"/>
            <a:ext cx="885825" cy="45892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925ACC7-14B1-6AD0-E202-3034751976BD}"/>
              </a:ext>
            </a:extLst>
          </p:cNvPr>
          <p:cNvSpPr/>
          <p:nvPr/>
        </p:nvSpPr>
        <p:spPr>
          <a:xfrm>
            <a:off x="4618225" y="3654212"/>
            <a:ext cx="607825" cy="289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5BF3C-0255-DA20-F1DB-516B97D59B0E}"/>
              </a:ext>
            </a:extLst>
          </p:cNvPr>
          <p:cNvSpPr/>
          <p:nvPr/>
        </p:nvSpPr>
        <p:spPr>
          <a:xfrm>
            <a:off x="7975412" y="2588155"/>
            <a:ext cx="1016188" cy="5069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Final Response</a:t>
            </a:r>
          </a:p>
        </p:txBody>
      </p:sp>
      <p:pic>
        <p:nvPicPr>
          <p:cNvPr id="4" name="Picture 2" descr="The Sleuth and the Storyteller: The Dynamic Duo behind RAG | Determined AI">
            <a:extLst>
              <a:ext uri="{FF2B5EF4-FFF2-40B4-BE49-F238E27FC236}">
                <a16:creationId xmlns:a16="http://schemas.microsoft.com/office/drawing/2014/main" id="{BF399F2A-9A72-4DA5-C966-0E80720A59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3977" r="49121" b="-133"/>
          <a:stretch/>
        </p:blipFill>
        <p:spPr bwMode="auto">
          <a:xfrm>
            <a:off x="1267070" y="3200399"/>
            <a:ext cx="3175577" cy="154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C8BB3CBF-168F-B700-6F62-D377FB3AD316}"/>
              </a:ext>
            </a:extLst>
          </p:cNvPr>
          <p:cNvSpPr/>
          <p:nvPr/>
        </p:nvSpPr>
        <p:spPr>
          <a:xfrm>
            <a:off x="2417620" y="2660650"/>
            <a:ext cx="516080" cy="7493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2" descr="The Sleuth and the Storyteller: The Dynamic Duo behind RAG | Determined AI">
            <a:extLst>
              <a:ext uri="{FF2B5EF4-FFF2-40B4-BE49-F238E27FC236}">
                <a16:creationId xmlns:a16="http://schemas.microsoft.com/office/drawing/2014/main" id="{890424ED-94DD-7F69-D046-3B4A2C48F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3" t="31310" r="36478" b="51580"/>
          <a:stretch/>
        </p:blipFill>
        <p:spPr bwMode="auto">
          <a:xfrm>
            <a:off x="7354910" y="4066714"/>
            <a:ext cx="355544" cy="39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DEC52DB4-F52D-8B28-F224-B5B7E8ACDCE9}"/>
              </a:ext>
            </a:extLst>
          </p:cNvPr>
          <p:cNvSpPr/>
          <p:nvPr/>
        </p:nvSpPr>
        <p:spPr>
          <a:xfrm rot="18300781">
            <a:off x="6421625" y="2651477"/>
            <a:ext cx="607825" cy="289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68703C02-F710-249C-0A87-1B052C2BF4C0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0B62B-9091-1471-67D7-B1A851F51D92}"/>
              </a:ext>
            </a:extLst>
          </p:cNvPr>
          <p:cNvSpPr/>
          <p:nvPr/>
        </p:nvSpPr>
        <p:spPr>
          <a:xfrm>
            <a:off x="7616236" y="961507"/>
            <a:ext cx="1216064" cy="5069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Intermediate Response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F79C7A2-E75D-8AF0-4253-300C0D599689}"/>
              </a:ext>
            </a:extLst>
          </p:cNvPr>
          <p:cNvSpPr/>
          <p:nvPr/>
        </p:nvSpPr>
        <p:spPr>
          <a:xfrm rot="18300781">
            <a:off x="7474420" y="1555075"/>
            <a:ext cx="405084" cy="245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1695FF7-1D28-D212-EE78-1CF0A11C8801}"/>
              </a:ext>
            </a:extLst>
          </p:cNvPr>
          <p:cNvSpPr/>
          <p:nvPr/>
        </p:nvSpPr>
        <p:spPr>
          <a:xfrm rot="10242863">
            <a:off x="6367749" y="1256513"/>
            <a:ext cx="1114149" cy="289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65;p14">
            <a:extLst>
              <a:ext uri="{FF2B5EF4-FFF2-40B4-BE49-F238E27FC236}">
                <a16:creationId xmlns:a16="http://schemas.microsoft.com/office/drawing/2014/main" id="{3A21FC9B-098B-C9AF-8593-6FE85969864B}"/>
              </a:ext>
            </a:extLst>
          </p:cNvPr>
          <p:cNvSpPr txBox="1">
            <a:spLocks/>
          </p:cNvSpPr>
          <p:nvPr/>
        </p:nvSpPr>
        <p:spPr>
          <a:xfrm rot="20987152">
            <a:off x="5857984" y="753753"/>
            <a:ext cx="2320664" cy="61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80000"/>
              </a:lnSpc>
              <a:buFont typeface="Arial"/>
              <a:buNone/>
            </a:pPr>
            <a:r>
              <a:rPr lang="en-US">
                <a:solidFill>
                  <a:schemeClr val="tx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Incorporate Middle Steps </a:t>
            </a:r>
          </a:p>
        </p:txBody>
      </p:sp>
      <p:sp>
        <p:nvSpPr>
          <p:cNvPr id="23" name="Google Shape;65;p14">
            <a:extLst>
              <a:ext uri="{FF2B5EF4-FFF2-40B4-BE49-F238E27FC236}">
                <a16:creationId xmlns:a16="http://schemas.microsoft.com/office/drawing/2014/main" id="{DB3E8CA7-0E2E-8F23-2214-0FBDB9E0A11D}"/>
              </a:ext>
            </a:extLst>
          </p:cNvPr>
          <p:cNvSpPr txBox="1">
            <a:spLocks/>
          </p:cNvSpPr>
          <p:nvPr/>
        </p:nvSpPr>
        <p:spPr>
          <a:xfrm>
            <a:off x="3597352" y="2693133"/>
            <a:ext cx="2284266" cy="61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80000"/>
              </a:lnSpc>
              <a:buFont typeface="Arial"/>
              <a:buNone/>
            </a:pPr>
            <a:r>
              <a:rPr lang="en-US">
                <a:solidFill>
                  <a:schemeClr val="accent4">
                    <a:lumMod val="50000"/>
                  </a:schemeClr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Repeat k times</a:t>
            </a:r>
          </a:p>
        </p:txBody>
      </p:sp>
      <p:sp>
        <p:nvSpPr>
          <p:cNvPr id="24" name="Arrow: Bent-Up 23">
            <a:extLst>
              <a:ext uri="{FF2B5EF4-FFF2-40B4-BE49-F238E27FC236}">
                <a16:creationId xmlns:a16="http://schemas.microsoft.com/office/drawing/2014/main" id="{3FBA5D8F-71DE-9DBA-DA8F-E05907AE2F4F}"/>
              </a:ext>
            </a:extLst>
          </p:cNvPr>
          <p:cNvSpPr/>
          <p:nvPr/>
        </p:nvSpPr>
        <p:spPr>
          <a:xfrm rot="10800000" flipH="1">
            <a:off x="7767261" y="2110746"/>
            <a:ext cx="708026" cy="35097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Google Shape;65;p14">
            <a:extLst>
              <a:ext uri="{FF2B5EF4-FFF2-40B4-BE49-F238E27FC236}">
                <a16:creationId xmlns:a16="http://schemas.microsoft.com/office/drawing/2014/main" id="{6E81A2CE-6605-1D72-C439-806C201A983B}"/>
              </a:ext>
            </a:extLst>
          </p:cNvPr>
          <p:cNvSpPr txBox="1">
            <a:spLocks/>
          </p:cNvSpPr>
          <p:nvPr/>
        </p:nvSpPr>
        <p:spPr>
          <a:xfrm>
            <a:off x="7616578" y="1730993"/>
            <a:ext cx="1658446" cy="61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80000"/>
              </a:lnSpc>
              <a:buFont typeface="Arial"/>
              <a:buNone/>
            </a:pPr>
            <a:r>
              <a:rPr lang="en-US">
                <a:solidFill>
                  <a:schemeClr val="accent4">
                    <a:lumMod val="50000"/>
                  </a:schemeClr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Final Answer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229E7B-3882-472C-2F9D-7D4DA9F7B153}"/>
              </a:ext>
            </a:extLst>
          </p:cNvPr>
          <p:cNvSpPr/>
          <p:nvPr/>
        </p:nvSpPr>
        <p:spPr>
          <a:xfrm>
            <a:off x="54318" y="666995"/>
            <a:ext cx="2459941" cy="10184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Intermediate question example: Which terms, definitions, or criteria mentioned in the context are critical for understanding the medical exam question?</a:t>
            </a:r>
          </a:p>
        </p:txBody>
      </p:sp>
    </p:spTree>
    <p:extLst>
      <p:ext uri="{BB962C8B-B14F-4D97-AF65-F5344CB8AC3E}">
        <p14:creationId xmlns:p14="http://schemas.microsoft.com/office/powerpoint/2010/main" val="372447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D514F1E4-F245-BA95-6175-75870532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F17D1C9D-6CF0-8B52-EE3A-93871CB60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Motivations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28A435F4-BF95-42CA-59B5-63BD0ACF5570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1" name="Google Shape;59;p13">
            <a:extLst>
              <a:ext uri="{FF2B5EF4-FFF2-40B4-BE49-F238E27FC236}">
                <a16:creationId xmlns:a16="http://schemas.microsoft.com/office/drawing/2014/main" id="{5C0B4188-6A32-0EC3-0430-38BD95E15699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51C571-CF26-91A9-995C-18538BB0A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64" y="1375172"/>
            <a:ext cx="7609715" cy="2445378"/>
          </a:xfrm>
          <a:prstGeom prst="rect">
            <a:avLst/>
          </a:prstGeom>
        </p:spPr>
      </p:pic>
      <p:sp>
        <p:nvSpPr>
          <p:cNvPr id="20" name="Google Shape;65;p14">
            <a:extLst>
              <a:ext uri="{FF2B5EF4-FFF2-40B4-BE49-F238E27FC236}">
                <a16:creationId xmlns:a16="http://schemas.microsoft.com/office/drawing/2014/main" id="{EF56CA18-7857-4BCC-4271-2542D6ED2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4521" y="4177997"/>
            <a:ext cx="8520600" cy="454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Tradeoff between Efficiency </a:t>
            </a:r>
            <a:r>
              <a:rPr lang="en-US" sz="2400" err="1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v.s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. Complexity</a:t>
            </a: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921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06248AFB-BFB7-0818-C043-CEBD6AC2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303C7933-C4B1-A1BD-C6CE-BFFF61268B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Problem Statement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1C8283DB-BF36-D8C0-FC58-A6E8A413D071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1" name="Google Shape;59;p13">
            <a:extLst>
              <a:ext uri="{FF2B5EF4-FFF2-40B4-BE49-F238E27FC236}">
                <a16:creationId xmlns:a16="http://schemas.microsoft.com/office/drawing/2014/main" id="{E12EF992-F9D8-BE51-65CB-41DA87586EC4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2D751-CF7F-4EE2-8104-801958E52AFF}"/>
              </a:ext>
            </a:extLst>
          </p:cNvPr>
          <p:cNvSpPr/>
          <p:nvPr/>
        </p:nvSpPr>
        <p:spPr>
          <a:xfrm>
            <a:off x="1821208" y="1583259"/>
            <a:ext cx="5504050" cy="183515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How do we dynamically adapt to the varying difficulty of queries?</a:t>
            </a:r>
          </a:p>
        </p:txBody>
      </p:sp>
    </p:spTree>
    <p:extLst>
      <p:ext uri="{BB962C8B-B14F-4D97-AF65-F5344CB8AC3E}">
        <p14:creationId xmlns:p14="http://schemas.microsoft.com/office/powerpoint/2010/main" val="4160266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BD6C1E2C-355D-F82B-6C1B-934BE826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A9369BC0-BDE2-1D19-1D87-3112C8120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Method: Training a Small “Difficulty Classifier”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DC173D43-AA1C-FC45-3C50-B94ACF894182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1" name="Google Shape;59;p13">
            <a:extLst>
              <a:ext uri="{FF2B5EF4-FFF2-40B4-BE49-F238E27FC236}">
                <a16:creationId xmlns:a16="http://schemas.microsoft.com/office/drawing/2014/main" id="{41CB49AD-2B33-8DDF-FE12-8809B89D7B53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DBE92B-15DA-96AD-7EEE-7A8876B19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49" y="1422578"/>
            <a:ext cx="6329545" cy="318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8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5629F7D6-020A-FCFA-1801-3D7587CA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EDB54A04-426A-637E-D34F-21EED4FC45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Method: Training a Small “Difficulty Classifier”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A2852BF6-D6A9-39E6-A403-F6F59B389BCD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1" name="Google Shape;59;p13">
            <a:extLst>
              <a:ext uri="{FF2B5EF4-FFF2-40B4-BE49-F238E27FC236}">
                <a16:creationId xmlns:a16="http://schemas.microsoft.com/office/drawing/2014/main" id="{D9A4DF35-FA67-0B02-C3A5-9B19BBD9E914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36CD5-5F4C-8508-A27D-55E463BB9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9" y="1511478"/>
            <a:ext cx="4927114" cy="24763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6B46AA-7EFF-6563-6D22-77EFCCD7BB9B}"/>
              </a:ext>
            </a:extLst>
          </p:cNvPr>
          <p:cNvSpPr txBox="1"/>
          <p:nvPr/>
        </p:nvSpPr>
        <p:spPr>
          <a:xfrm>
            <a:off x="5492750" y="1875345"/>
            <a:ext cx="294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LLM answer correctly with (a)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8C3DF-DBBD-196B-2F16-94D582D5EAE4}"/>
              </a:ext>
            </a:extLst>
          </p:cNvPr>
          <p:cNvSpPr txBox="1"/>
          <p:nvPr/>
        </p:nvSpPr>
        <p:spPr>
          <a:xfrm>
            <a:off x="5492750" y="2444750"/>
            <a:ext cx="3409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LLM answer correctly with (b), but not (a); or LLM answers wrong in single-hop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374C4-39F2-58E2-E180-D55CC8139997}"/>
              </a:ext>
            </a:extLst>
          </p:cNvPr>
          <p:cNvSpPr txBox="1"/>
          <p:nvPr/>
        </p:nvSpPr>
        <p:spPr>
          <a:xfrm>
            <a:off x="311700" y="4057175"/>
            <a:ext cx="294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/>
              <a:t>non-retrieval based approach</a:t>
            </a:r>
          </a:p>
          <a:p>
            <a:pPr marL="342900" indent="-342900">
              <a:buAutoNum type="alphaLcParenBoth"/>
            </a:pPr>
            <a:r>
              <a:rPr lang="en-US"/>
              <a:t>Single-step RAG</a:t>
            </a:r>
          </a:p>
          <a:p>
            <a:pPr marL="342900" indent="-342900">
              <a:buAutoNum type="alphaLcParenBoth"/>
            </a:pPr>
            <a:r>
              <a:rPr lang="en-US"/>
              <a:t>Multi-step RAG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74CC8-C533-A127-5829-723681375D08}"/>
              </a:ext>
            </a:extLst>
          </p:cNvPr>
          <p:cNvSpPr txBox="1"/>
          <p:nvPr/>
        </p:nvSpPr>
        <p:spPr>
          <a:xfrm>
            <a:off x="5296175" y="1427905"/>
            <a:ext cx="333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4">
                    <a:lumMod val="50000"/>
                  </a:schemeClr>
                </a:solidFill>
              </a:rPr>
              <a:t>To construct the dataset for classifier: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28117-9F3F-454C-15F9-87E9F87FDB63}"/>
              </a:ext>
            </a:extLst>
          </p:cNvPr>
          <p:cNvSpPr txBox="1"/>
          <p:nvPr/>
        </p:nvSpPr>
        <p:spPr>
          <a:xfrm>
            <a:off x="5492750" y="3279984"/>
            <a:ext cx="3409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LLM answer correctly with (c), but not (a, b), or LLM fails with all approaches in multi-hop datasets</a:t>
            </a:r>
          </a:p>
        </p:txBody>
      </p:sp>
    </p:spTree>
    <p:extLst>
      <p:ext uri="{BB962C8B-B14F-4D97-AF65-F5344CB8AC3E}">
        <p14:creationId xmlns:p14="http://schemas.microsoft.com/office/powerpoint/2010/main" val="878847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54AA1084-0903-3689-8EAA-86038AAC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9930DB8-46E2-C553-D7E5-52D2C2D68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Experiment: Efficiency and Performance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A9C54989-4370-20FD-46C1-012519872E4B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1" name="Google Shape;59;p13">
            <a:extLst>
              <a:ext uri="{FF2B5EF4-FFF2-40B4-BE49-F238E27FC236}">
                <a16:creationId xmlns:a16="http://schemas.microsoft.com/office/drawing/2014/main" id="{7274BE8F-9C6D-B412-D372-CA283C4BF9C6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808ACF-DA72-D324-136B-F43848704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864137"/>
            <a:ext cx="8781500" cy="17456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8FC8340-FCD4-DD79-1618-E6647D94EAE5}"/>
              </a:ext>
            </a:extLst>
          </p:cNvPr>
          <p:cNvSpPr txBox="1"/>
          <p:nvPr/>
        </p:nvSpPr>
        <p:spPr>
          <a:xfrm>
            <a:off x="412750" y="1345724"/>
            <a:ext cx="7626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Setting: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Fixed retriever: BM-25 (sparse retriever)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Corpus: Wikipedia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Classifier: T5-Large (training data size: 400 from 6 different datasets)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Table below: performance averaged over all benchmarks (single + multi)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841564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3C915FF9-58D6-7581-C5AA-C805CDE8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7E0BCC0A-8A98-FA28-0FAC-8869E99C1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Experiment: Efficiency and Performance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64D51C67-65FD-6F23-9736-EEF8B08FD373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1" name="Google Shape;59;p13">
            <a:extLst>
              <a:ext uri="{FF2B5EF4-FFF2-40B4-BE49-F238E27FC236}">
                <a16:creationId xmlns:a16="http://schemas.microsoft.com/office/drawing/2014/main" id="{18C8B119-EBA9-6E6A-F478-18E913BB18C0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55A22B-4AD3-AE11-ABB7-97DF97877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50" y="1283345"/>
            <a:ext cx="8197850" cy="321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7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Additional Experiments</a:t>
            </a:r>
            <a:endParaRPr sz="3200"/>
          </a:p>
        </p:txBody>
      </p:sp>
      <p:grpSp>
        <p:nvGrpSpPr>
          <p:cNvPr id="175" name="Google Shape;175;p25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76" name="Google Shape;176;p25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77" name="Google Shape;177;p25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E581A27-5D6E-4746-A6D1-2E7FAF3B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2936875"/>
            <a:ext cx="3903085" cy="1547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EB2F68-6D4B-06BD-C7F9-71E6069C3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185786"/>
            <a:ext cx="3450086" cy="1431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A15477-1AD1-7641-0096-AC0CDB252D0B}"/>
              </a:ext>
            </a:extLst>
          </p:cNvPr>
          <p:cNvSpPr txBox="1"/>
          <p:nvPr/>
        </p:nvSpPr>
        <p:spPr>
          <a:xfrm>
            <a:off x="311014" y="1732109"/>
            <a:ext cx="433070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US" sz="1600"/>
              <a:t>Much more efficient with adaptive method </a:t>
            </a:r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5F9F0-31E1-56E0-B86B-F8B2F32832E8}"/>
              </a:ext>
            </a:extLst>
          </p:cNvPr>
          <p:cNvSpPr txBox="1"/>
          <p:nvPr/>
        </p:nvSpPr>
        <p:spPr>
          <a:xfrm>
            <a:off x="311019" y="3567166"/>
            <a:ext cx="40915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US" sz="1600"/>
              <a:t>The size of the classifier doesn’t matter too much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Summary and Future work</a:t>
            </a:r>
            <a:endParaRPr sz="3200"/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Developing difficulty-aware methods could significantly balance the tradeoff between efficiency and performance.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</a:t>
            </a:r>
            <a:endParaRPr sz="2400">
              <a:solidFill>
                <a:srgbClr val="FF5F0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Further refinement of the difficulty classifier</a:t>
            </a: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to curate the “right” dataset for the classifier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26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85" name="Google Shape;185;p26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86" name="Google Shape;186;p26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2F82AE2-5827-F42C-386C-DDC456DB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866D646F-86F3-ACB9-3170-0880AA05A4B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3026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US" sz="3600">
                <a:solidFill>
                  <a:srgbClr val="FF5F05"/>
                </a:solidFill>
              </a:rPr>
              <a:t>Corrective Retrieval Augmented Generation</a:t>
            </a:r>
            <a:endParaRPr sz="3600" b="1">
              <a:solidFill>
                <a:srgbClr val="FF9900"/>
              </a:solidFill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30E65430-9281-7356-B513-2CFB452712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37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80000"/>
              </a:lnSpc>
            </a:pPr>
            <a:r>
              <a:rPr lang="en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Presenter: </a:t>
            </a:r>
            <a:r>
              <a:rPr lang="en" sz="3200" b="1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Xuying</a:t>
            </a:r>
            <a:r>
              <a:rPr lang="en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Ning, Ting-Wei Li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56" name="Google Shape;56;p13">
            <a:extLst>
              <a:ext uri="{FF2B5EF4-FFF2-40B4-BE49-F238E27FC236}">
                <a16:creationId xmlns:a16="http://schemas.microsoft.com/office/drawing/2014/main" id="{7B74184C-BC19-24E2-E75D-357A0811DD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975" y="2361437"/>
            <a:ext cx="945375" cy="9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6BA44ADD-282F-7683-9FA0-23F0A360E8F2}"/>
              </a:ext>
            </a:extLst>
          </p:cNvPr>
          <p:cNvSpPr txBox="1"/>
          <p:nvPr/>
        </p:nvSpPr>
        <p:spPr>
          <a:xfrm>
            <a:off x="1399650" y="3682370"/>
            <a:ext cx="634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CS598:  Topics in LLM Agents, 2025 Spring</a:t>
            </a:r>
            <a:endParaRPr sz="2800"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B2E873A1-156D-617A-FE05-CB13C5DAF9F0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EEF5102D-5EF5-BCCB-6598-FA967AF1D163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0931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7924F9C8-BEA0-D93F-B4CC-356AADAE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0BB119D2-46CD-944E-7C90-2A3DF2EFE9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Background</a:t>
            </a:r>
            <a:endParaRPr sz="3200"/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166AE66-80D2-9DC3-C03F-9F6B272D4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43154" cy="35420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" sz="3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sz="3000">
                <a:solidFill>
                  <a:srgbClr val="DF000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" sz="2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Retrieval-Augmented  Large Language Models</a:t>
            </a:r>
            <a:endParaRPr lang="zh-TW" altLang="en-US" sz="26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sz="22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-US" sz="3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1700" b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Motivation</a:t>
            </a:r>
            <a:r>
              <a:rPr lang="en-US" sz="17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: 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00000"/>
              </a:lnSpc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LLMs manifest hallucinations due to factual errors. </a:t>
            </a:r>
            <a:endParaRPr lang="en-US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00000"/>
              </a:lnSpc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Retrieval-augmented generation (RAG) incorporates relevant knowledge.</a:t>
            </a:r>
            <a:endParaRPr lang="en-US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00000"/>
              </a:lnSpc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However, RAG's effectiveness depends on the relevance and accuracy of retrieved documents.</a:t>
            </a:r>
            <a:endParaRPr lang="en-US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en" sz="2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70000"/>
              </a:lnSpc>
              <a:spcBef>
                <a:spcPts val="1200"/>
              </a:spcBef>
              <a:buNone/>
            </a:pPr>
            <a:endParaRPr lang="en-US" sz="2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70000"/>
              </a:lnSpc>
              <a:spcBef>
                <a:spcPts val="1200"/>
              </a:spcBef>
              <a:buNone/>
            </a:pPr>
            <a:endParaRPr lang="en-US" sz="2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endParaRPr lang="en-US" sz="2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endParaRPr lang="en-US" sz="2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80000"/>
              </a:lnSpc>
              <a:buNone/>
            </a:pPr>
            <a:endParaRPr lang="en" sz="2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A9C1B8BE-3B10-D17F-811F-4069B7091A6B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pic>
        <p:nvPicPr>
          <p:cNvPr id="4" name="图片 3" descr="图示, 文本&#10;&#10;AI 生成的内容可能不正确。">
            <a:extLst>
              <a:ext uri="{FF2B5EF4-FFF2-40B4-BE49-F238E27FC236}">
                <a16:creationId xmlns:a16="http://schemas.microsoft.com/office/drawing/2014/main" id="{68AC0CE6-3075-F560-A209-F8810A643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256" y="1152814"/>
            <a:ext cx="3492422" cy="346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01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D05B6B3A-CADF-CE25-98B3-C5CD2381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CF4ED888-7F2B-7474-1047-1A3F2E61C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CRAG Overview</a:t>
            </a:r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165F5D44-FD99-3EAF-32AE-547466EB7F36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pic>
        <p:nvPicPr>
          <p:cNvPr id="4" name="图片 3" descr="图示, 文本&#10;&#10;AI 生成的内容可能不正确。">
            <a:extLst>
              <a:ext uri="{FF2B5EF4-FFF2-40B4-BE49-F238E27FC236}">
                <a16:creationId xmlns:a16="http://schemas.microsoft.com/office/drawing/2014/main" id="{9133EF2F-5D3B-364E-CC14-FA1906D28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256" y="1152814"/>
            <a:ext cx="3492422" cy="3469532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87F557-0C91-2DFC-EECA-A77B34AA0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649803" cy="3416400"/>
          </a:xfrm>
        </p:spPr>
        <p:txBody>
          <a:bodyPr/>
          <a:lstStyle/>
          <a:p>
            <a:pPr marL="11430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 </a:t>
            </a:r>
            <a:r>
              <a:rPr lang="en" altLang="zh-CN" sz="2000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Calibri"/>
              </a:rPr>
              <a:t>Retrieval Evaluator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400050" indent="-285750">
              <a:lnSpc>
                <a:spcPct val="114999"/>
              </a:lnSpc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Aptos"/>
                <a:cs typeface="Calibri"/>
              </a:rPr>
              <a:t>A lightweight retrieval evaluator estimates the relevance score of retrieved documents.</a:t>
            </a:r>
            <a:endParaRPr lang="zh-CN" altLang="en-US" sz="1600">
              <a:solidFill>
                <a:srgbClr val="595959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sz="2000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Calibri"/>
              </a:rPr>
              <a:t> Large Scale Web Searches</a:t>
            </a:r>
          </a:p>
          <a:p>
            <a:pPr marL="400050" indent="-285750">
              <a:lnSpc>
                <a:spcPct val="114999"/>
              </a:lnSpc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Aptos"/>
                <a:cs typeface="Calibri"/>
              </a:rPr>
              <a:t>Large-scale web searches are integrated for Incorrect and Ambiguous actions.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sz="2000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Decompose-then-Recompose Algo</a:t>
            </a:r>
          </a:p>
          <a:p>
            <a:pPr marL="400050" indent="-285750">
              <a:lnSpc>
                <a:spcPct val="114999"/>
              </a:lnSpc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Aptos"/>
                <a:cs typeface="Calibri"/>
              </a:rPr>
              <a:t>A decompose-then-recompose algorithm eliminates redundant contexts.</a:t>
            </a:r>
          </a:p>
          <a:p>
            <a:pPr marL="114300" indent="0">
              <a:lnSpc>
                <a:spcPct val="114999"/>
              </a:lnSpc>
              <a:buNone/>
            </a:pPr>
            <a:endParaRPr lang="en" sz="1600">
              <a:solidFill>
                <a:srgbClr val="000000"/>
              </a:solidFill>
              <a:highlight>
                <a:srgbClr val="FFFFFF"/>
              </a:highlight>
              <a:latin typeface="Apto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453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F4AD230A-E027-6739-C97E-47968F99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F855B9-CA15-AD4A-677D-468543340E24}"/>
              </a:ext>
            </a:extLst>
          </p:cNvPr>
          <p:cNvSpPr/>
          <p:nvPr/>
        </p:nvSpPr>
        <p:spPr>
          <a:xfrm>
            <a:off x="4777551" y="3196346"/>
            <a:ext cx="2473015" cy="13751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Using the context provided below, please answer the subsequent question related to medical examinations.</a:t>
            </a:r>
          </a:p>
          <a:p>
            <a:r>
              <a:rPr lang="en-US" sz="1200">
                <a:solidFill>
                  <a:schemeClr val="tx1"/>
                </a:solidFill>
              </a:rPr>
              <a:t>Context:</a:t>
            </a:r>
          </a:p>
          <a:p>
            <a:r>
              <a:rPr lang="en-US" sz="1200">
                <a:solidFill>
                  <a:schemeClr val="tx1"/>
                </a:solidFill>
              </a:rPr>
              <a:t>Question:</a:t>
            </a: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0797784D-007E-9F25-944D-9B2F612B94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CRAG - Evaluator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0B61BE55-D5C1-36FF-49AD-5F9E1C3B7997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165B8-7336-9F8B-7055-C239EAB127AF}"/>
              </a:ext>
            </a:extLst>
          </p:cNvPr>
          <p:cNvSpPr/>
          <p:nvPr/>
        </p:nvSpPr>
        <p:spPr>
          <a:xfrm>
            <a:off x="2610709" y="1473200"/>
            <a:ext cx="3092450" cy="109855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Question: Which ipsilateral deficits are most likely to occur in a patient with a lesion compressing the facial nerve at the stylomastoid foramen?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BB53969-7F35-CE3D-5820-57C2988E508D}"/>
              </a:ext>
            </a:extLst>
          </p:cNvPr>
          <p:cNvSpPr/>
          <p:nvPr/>
        </p:nvSpPr>
        <p:spPr>
          <a:xfrm>
            <a:off x="4115629" y="3654212"/>
            <a:ext cx="607825" cy="289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1C944-513F-89C2-69D3-2E9BDFD7283C}"/>
              </a:ext>
            </a:extLst>
          </p:cNvPr>
          <p:cNvSpPr/>
          <p:nvPr/>
        </p:nvSpPr>
        <p:spPr>
          <a:xfrm>
            <a:off x="7479571" y="2620973"/>
            <a:ext cx="1197909" cy="3501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cs typeface="Arial"/>
              </a:rPr>
              <a:t>(a) Correct</a:t>
            </a:r>
          </a:p>
        </p:txBody>
      </p:sp>
      <p:pic>
        <p:nvPicPr>
          <p:cNvPr id="4" name="Picture 2" descr="The Sleuth and the Storyteller: The Dynamic Duo behind RAG | Determined AI">
            <a:extLst>
              <a:ext uri="{FF2B5EF4-FFF2-40B4-BE49-F238E27FC236}">
                <a16:creationId xmlns:a16="http://schemas.microsoft.com/office/drawing/2014/main" id="{7CC5684A-B696-952C-829C-6474BB2B20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3977" r="49121" b="-133"/>
          <a:stretch/>
        </p:blipFill>
        <p:spPr bwMode="auto">
          <a:xfrm>
            <a:off x="898229" y="3200399"/>
            <a:ext cx="3175577" cy="154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B82B876E-CDEA-58D9-CE86-0C96A522CACE}"/>
              </a:ext>
            </a:extLst>
          </p:cNvPr>
          <p:cNvSpPr/>
          <p:nvPr/>
        </p:nvSpPr>
        <p:spPr>
          <a:xfrm>
            <a:off x="2048779" y="2660650"/>
            <a:ext cx="516080" cy="7493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2" descr="The Sleuth and the Storyteller: The Dynamic Duo behind RAG | Determined AI">
            <a:extLst>
              <a:ext uri="{FF2B5EF4-FFF2-40B4-BE49-F238E27FC236}">
                <a16:creationId xmlns:a16="http://schemas.microsoft.com/office/drawing/2014/main" id="{B42A4D64-EF46-4C34-8C39-36B963909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3" t="31310" r="36478" b="51580"/>
          <a:stretch/>
        </p:blipFill>
        <p:spPr bwMode="auto">
          <a:xfrm>
            <a:off x="5792269" y="4066714"/>
            <a:ext cx="355544" cy="39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F4E4837A-560D-0D0B-AC0F-9CB27D0F2445}"/>
              </a:ext>
            </a:extLst>
          </p:cNvPr>
          <p:cNvSpPr/>
          <p:nvPr/>
        </p:nvSpPr>
        <p:spPr>
          <a:xfrm rot="18300781">
            <a:off x="6060890" y="2704168"/>
            <a:ext cx="607825" cy="289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C83F71A1-CC2F-C6DB-C8F6-2B33A0E94ABD}"/>
              </a:ext>
            </a:extLst>
          </p:cNvPr>
          <p:cNvSpPr/>
          <p:nvPr/>
        </p:nvSpPr>
        <p:spPr>
          <a:xfrm rot="10800000" flipH="1">
            <a:off x="7398420" y="2110746"/>
            <a:ext cx="708026" cy="350974"/>
          </a:xfrm>
          <a:prstGeom prst="bentUp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7F510E06-0E78-D4A9-A213-33C4DDD4D0E1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B86EE3-F1EE-DF5C-551D-307D8DEFA213}"/>
              </a:ext>
            </a:extLst>
          </p:cNvPr>
          <p:cNvSpPr/>
          <p:nvPr/>
        </p:nvSpPr>
        <p:spPr>
          <a:xfrm>
            <a:off x="6150733" y="1895751"/>
            <a:ext cx="1157388" cy="56836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b="1">
                <a:solidFill>
                  <a:srgbClr val="FF0000"/>
                </a:solidFill>
                <a:latin typeface="Arial"/>
                <a:cs typeface="Arial"/>
              </a:rPr>
              <a:t>T5-based Retrieval</a:t>
            </a:r>
            <a:endParaRPr lang="zh-CN" sz="1050" b="1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"/>
            </a:endParaRPr>
          </a:p>
          <a:p>
            <a:pPr algn="ctr"/>
            <a:r>
              <a:rPr lang="en-US" sz="1050" b="1">
                <a:solidFill>
                  <a:srgbClr val="FF0000"/>
                </a:solidFill>
                <a:cs typeface="Arial"/>
              </a:rPr>
              <a:t>Evaluator</a:t>
            </a:r>
            <a:endParaRPr lang="zh-CN" sz="1050" b="1">
              <a:ea typeface="宋体"/>
              <a:cs typeface="Arial"/>
            </a:endParaRPr>
          </a:p>
        </p:txBody>
      </p:sp>
      <p:sp>
        <p:nvSpPr>
          <p:cNvPr id="3" name="云形 2">
            <a:extLst>
              <a:ext uri="{FF2B5EF4-FFF2-40B4-BE49-F238E27FC236}">
                <a16:creationId xmlns:a16="http://schemas.microsoft.com/office/drawing/2014/main" id="{0BE54E75-6768-FFB9-4C9A-D8175EEE792E}"/>
              </a:ext>
            </a:extLst>
          </p:cNvPr>
          <p:cNvSpPr/>
          <p:nvPr/>
        </p:nvSpPr>
        <p:spPr>
          <a:xfrm>
            <a:off x="6409200" y="997122"/>
            <a:ext cx="1789483" cy="953458"/>
          </a:xfrm>
          <a:prstGeom prst="cloud">
            <a:avLst/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1000" b="1">
                <a:solidFill>
                  <a:srgbClr val="FF0000"/>
                </a:solidFill>
                <a:ea typeface="+mn-lt"/>
                <a:cs typeface="+mn-lt"/>
              </a:rPr>
              <a:t>Ask: If retrieved</a:t>
            </a:r>
            <a:r>
              <a:rPr lang="zh-CN" altLang="en-US" sz="1000" b="1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zh-CN" sz="1000" b="1">
                <a:solidFill>
                  <a:srgbClr val="FF0000"/>
                </a:solidFill>
                <a:ea typeface="+mn-lt"/>
                <a:cs typeface="+mn-lt"/>
              </a:rPr>
              <a:t>documents are</a:t>
            </a:r>
            <a:r>
              <a:rPr lang="zh-CN" altLang="en-US" sz="1000" b="1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zh-CN" sz="1000" b="1">
                <a:solidFill>
                  <a:srgbClr val="FF0000"/>
                </a:solidFill>
                <a:ea typeface="+mn-lt"/>
                <a:cs typeface="+mn-lt"/>
              </a:rPr>
              <a:t>correct to </a:t>
            </a:r>
            <a:r>
              <a:rPr lang="en-US" altLang="zh-CN" sz="1000" b="1" dirty="0">
                <a:solidFill>
                  <a:srgbClr val="FF0000"/>
                </a:solidFill>
                <a:ea typeface="+mn-lt"/>
                <a:cs typeface="+mn-lt"/>
              </a:rPr>
              <a:t>the question</a:t>
            </a:r>
            <a:r>
              <a:rPr lang="zh-CN" sz="1000" b="1">
                <a:solidFill>
                  <a:srgbClr val="FF0000"/>
                </a:solidFill>
                <a:ea typeface="+mn-lt"/>
                <a:cs typeface="+mn-lt"/>
              </a:rPr>
              <a:t>?</a:t>
            </a:r>
            <a:endParaRPr lang="zh-CN" sz="1000" b="1">
              <a:solidFill>
                <a:srgbClr val="FF0000"/>
              </a:solidFill>
              <a:ea typeface="宋体"/>
              <a:cs typeface="Arial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B7176273-44E7-E3D0-ACE5-D89001D2DB85}"/>
              </a:ext>
            </a:extLst>
          </p:cNvPr>
          <p:cNvSpPr/>
          <p:nvPr/>
        </p:nvSpPr>
        <p:spPr>
          <a:xfrm>
            <a:off x="7479570" y="3127621"/>
            <a:ext cx="1193855" cy="350144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cs typeface="Arial"/>
              </a:rPr>
              <a:t>(b) Incorrect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9D548505-7F2E-B055-9619-EEA060B02DAE}"/>
              </a:ext>
            </a:extLst>
          </p:cNvPr>
          <p:cNvSpPr/>
          <p:nvPr/>
        </p:nvSpPr>
        <p:spPr>
          <a:xfrm>
            <a:off x="7479569" y="3622110"/>
            <a:ext cx="1226281" cy="3501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cs typeface="Arial"/>
              </a:rPr>
              <a:t>(c) Ambiguous</a:t>
            </a:r>
          </a:p>
        </p:txBody>
      </p:sp>
    </p:spTree>
    <p:extLst>
      <p:ext uri="{BB962C8B-B14F-4D97-AF65-F5344CB8AC3E}">
        <p14:creationId xmlns:p14="http://schemas.microsoft.com/office/powerpoint/2010/main" val="2355028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2DFF0632-0B52-72EE-B78E-EFD029ED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597A2037-F6D8-2765-5787-5883C4556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CRAG - Evaluator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E429954E-8F00-CCE3-90DA-F1F7E5B52C99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4F8F4729-97D9-DAB7-38BF-BD23DDDDFF97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图片 18" descr="图示&#10;&#10;AI 生成的内容可能不正确。">
            <a:extLst>
              <a:ext uri="{FF2B5EF4-FFF2-40B4-BE49-F238E27FC236}">
                <a16:creationId xmlns:a16="http://schemas.microsoft.com/office/drawing/2014/main" id="{5514DABB-F88A-9D48-75A6-F9625CCB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175" t="1921" r="1490"/>
          <a:stretch/>
        </p:blipFill>
        <p:spPr>
          <a:xfrm>
            <a:off x="6230400" y="1437042"/>
            <a:ext cx="2325444" cy="301962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CDB7E86-5DB6-BDC3-1C54-CB901ABFFCCC}"/>
              </a:ext>
            </a:extLst>
          </p:cNvPr>
          <p:cNvSpPr/>
          <p:nvPr/>
        </p:nvSpPr>
        <p:spPr>
          <a:xfrm>
            <a:off x="8157756" y="2256664"/>
            <a:ext cx="713210" cy="2042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占位符 4">
            <a:extLst>
              <a:ext uri="{FF2B5EF4-FFF2-40B4-BE49-F238E27FC236}">
                <a16:creationId xmlns:a16="http://schemas.microsoft.com/office/drawing/2014/main" id="{A43D361D-538F-0DCA-FA78-90E2EF01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456" y="1286229"/>
            <a:ext cx="4897047" cy="3420453"/>
          </a:xfrm>
        </p:spPr>
        <p:txBody>
          <a:bodyPr>
            <a:normAutofit/>
          </a:bodyPr>
          <a:lstStyle/>
          <a:p>
            <a:pPr marL="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" sz="20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Importance of Retrieval Evaluation</a:t>
            </a:r>
            <a:endParaRPr lang="en" sz="2000">
              <a:solidFill>
                <a:schemeClr val="tx1"/>
              </a:solidFill>
              <a:highlight>
                <a:srgbClr val="FFFFFF"/>
              </a:highlight>
              <a:ea typeface="Calibri"/>
            </a:endParaRPr>
          </a:p>
          <a:p>
            <a:pPr marL="285750" indent="-285750">
              <a:lnSpc>
                <a:spcPct val="114999"/>
              </a:lnSpc>
            </a:pPr>
            <a:r>
              <a:rPr lang="en" sz="13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Ensures retrieved documents are accurate, filtering out irrelevant or misleading information to improve system performance.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en" sz="21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sz="17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T5-Large as Evaluator</a:t>
            </a:r>
            <a:endParaRPr lang="en" sz="1700">
              <a:solidFill>
                <a:schemeClr val="tx1"/>
              </a:solidFill>
              <a:highlight>
                <a:srgbClr val="FFFFFF"/>
              </a:highlight>
              <a:ea typeface="Calibri"/>
            </a:endParaRPr>
          </a:p>
          <a:p>
            <a:pPr marL="285750" indent="-285750">
              <a:lnSpc>
                <a:spcPct val="114999"/>
              </a:lnSpc>
            </a:pPr>
            <a:r>
              <a:rPr lang="en" sz="13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Fine-tuned on </a:t>
            </a:r>
            <a:r>
              <a:rPr lang="en" sz="1300" b="1" err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PopQA</a:t>
            </a:r>
            <a:r>
              <a:rPr lang="en" sz="13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 relevance signals and compared with </a:t>
            </a:r>
            <a:r>
              <a:rPr lang="en" sz="13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Self-RAG</a:t>
            </a:r>
            <a:r>
              <a:rPr lang="en" sz="13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 for consistency.</a:t>
            </a:r>
            <a:endParaRPr lang="en" sz="1300">
              <a:solidFill>
                <a:schemeClr val="tx1"/>
              </a:solidFill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" sz="21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 </a:t>
            </a:r>
            <a:r>
              <a:rPr lang="en" sz="17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Relevance Signals</a:t>
            </a:r>
            <a:endParaRPr lang="en" sz="700">
              <a:solidFill>
                <a:schemeClr val="tx1"/>
              </a:solidFill>
              <a:ea typeface="Calibri"/>
            </a:endParaRPr>
          </a:p>
          <a:p>
            <a:pPr marL="171450" indent="-171450">
              <a:lnSpc>
                <a:spcPct val="114999"/>
              </a:lnSpc>
            </a:pPr>
            <a:r>
              <a:rPr lang="en" sz="14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Positive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: High-quality Wikipedia-related passages.</a:t>
            </a:r>
            <a:endParaRPr lang="en" sz="1400">
              <a:solidFill>
                <a:schemeClr val="tx1"/>
              </a:solidFill>
              <a:ea typeface="Calibri"/>
            </a:endParaRPr>
          </a:p>
          <a:p>
            <a:pPr marL="171450" indent="-171450">
              <a:lnSpc>
                <a:spcPct val="114999"/>
              </a:lnSpc>
            </a:pPr>
            <a:r>
              <a:rPr lang="en" sz="14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Negative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: Randomly sampled, query-similar but irrelevant results.</a:t>
            </a:r>
            <a:endParaRPr lang="en" sz="1400">
              <a:solidFill>
                <a:schemeClr val="tx1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endParaRPr lang="en" sz="1100" b="1">
              <a:solidFill>
                <a:schemeClr val="tx1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" sz="1600">
              <a:solidFill>
                <a:schemeClr val="tx1"/>
              </a:solidFill>
              <a:highlight>
                <a:srgbClr val="FFFFFF"/>
              </a:highlight>
              <a:latin typeface="Aptos"/>
              <a:ea typeface="Calibri"/>
              <a:cs typeface="Calibr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84C700-556A-9189-CFBD-880DDED60F91}"/>
              </a:ext>
            </a:extLst>
          </p:cNvPr>
          <p:cNvSpPr/>
          <p:nvPr/>
        </p:nvSpPr>
        <p:spPr>
          <a:xfrm>
            <a:off x="8433372" y="2122907"/>
            <a:ext cx="320051" cy="575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178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4C84FB04-6F91-CA01-8FCC-3324A57A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57EB3F4E-7780-3780-A6CD-D10AB82DF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CRAG – Knowledge Refinement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C777F36E-C641-D439-CAB7-0034FE176F3F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C8E79B5B-10B0-5EEA-14F7-120ECB52E661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图片 20" descr="图示&#10;&#10;AI 生成的内容可能不正确。">
            <a:extLst>
              <a:ext uri="{FF2B5EF4-FFF2-40B4-BE49-F238E27FC236}">
                <a16:creationId xmlns:a16="http://schemas.microsoft.com/office/drawing/2014/main" id="{1807DC65-7736-B16D-67FE-D1FC154AC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26" y="1406152"/>
            <a:ext cx="3973042" cy="2898034"/>
          </a:xfrm>
          <a:prstGeom prst="rect">
            <a:avLst/>
          </a:prstGeom>
        </p:spPr>
      </p:pic>
      <p:pic>
        <p:nvPicPr>
          <p:cNvPr id="22" name="图片 21" descr="图示&#10;&#10;AI 生成的内容可能不正确。">
            <a:extLst>
              <a:ext uri="{FF2B5EF4-FFF2-40B4-BE49-F238E27FC236}">
                <a16:creationId xmlns:a16="http://schemas.microsoft.com/office/drawing/2014/main" id="{C292843D-6D9B-6964-C1B7-DB4DF10049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8"/>
          <a:stretch/>
        </p:blipFill>
        <p:spPr>
          <a:xfrm>
            <a:off x="311828" y="2985206"/>
            <a:ext cx="4305654" cy="1533132"/>
          </a:xfrm>
          <a:prstGeom prst="rect">
            <a:avLst/>
          </a:prstGeom>
        </p:spPr>
      </p:pic>
      <p:sp>
        <p:nvSpPr>
          <p:cNvPr id="24" name="文本占位符 4">
            <a:extLst>
              <a:ext uri="{FF2B5EF4-FFF2-40B4-BE49-F238E27FC236}">
                <a16:creationId xmlns:a16="http://schemas.microsoft.com/office/drawing/2014/main" id="{44332696-F72C-6EB1-163A-97FB6126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477" y="1265964"/>
            <a:ext cx="4135048" cy="3436665"/>
          </a:xfrm>
        </p:spPr>
        <p:txBody>
          <a:bodyPr/>
          <a:lstStyle/>
          <a:p>
            <a:pPr marL="11430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(a) Correct - Knowledge Refinement</a:t>
            </a:r>
            <a:endParaRPr lang="en" altLang="zh-CN" b="1">
              <a:solidFill>
                <a:schemeClr val="tx1"/>
              </a:solidFill>
              <a:highlight>
                <a:srgbClr val="FFFFFF"/>
              </a:highlight>
              <a:latin typeface="Calibri"/>
              <a:cs typeface="Calibri"/>
            </a:endParaRPr>
          </a:p>
          <a:p>
            <a:pPr marL="285750" indent="-171450">
              <a:lnSpc>
                <a:spcPct val="114999"/>
              </a:lnSpc>
            </a:pPr>
            <a:r>
              <a:rPr lang="en" sz="1200">
                <a:solidFill>
                  <a:schemeClr val="tx1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Retrieved results are segmented into internal strips.</a:t>
            </a:r>
            <a:endParaRPr lang="en" sz="1200">
              <a:solidFill>
                <a:schemeClr val="tx1"/>
              </a:solidFill>
            </a:endParaRPr>
          </a:p>
          <a:p>
            <a:pPr marL="285750" indent="-171450">
              <a:lnSpc>
                <a:spcPct val="114999"/>
              </a:lnSpc>
            </a:pPr>
            <a:r>
              <a:rPr lang="en" sz="1200">
                <a:solidFill>
                  <a:schemeClr val="tx1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The retrieval evaluator calculates the relevance score of each knowledge strip.</a:t>
            </a:r>
            <a:endParaRPr lang="en" sz="1200">
              <a:solidFill>
                <a:schemeClr val="tx1"/>
              </a:solidFill>
              <a:ea typeface="Calibri"/>
            </a:endParaRPr>
          </a:p>
          <a:p>
            <a:pPr marL="285750" indent="-171450">
              <a:lnSpc>
                <a:spcPct val="114999"/>
              </a:lnSpc>
            </a:pPr>
            <a:r>
              <a:rPr lang="en" sz="1200">
                <a:solidFill>
                  <a:schemeClr val="tx1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Irrelevant knowledge strips are filtered out, relevant ones are recomposed.</a:t>
            </a:r>
            <a:endParaRPr lang="en" sz="1200">
              <a:solidFill>
                <a:schemeClr val="tx1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endParaRPr lang="en" sz="2000" b="1">
              <a:solidFill>
                <a:schemeClr val="tx1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" sz="1600">
              <a:solidFill>
                <a:srgbClr val="000000"/>
              </a:solidFill>
              <a:highlight>
                <a:srgbClr val="FFFFFF"/>
              </a:highlight>
              <a:latin typeface="Apto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949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B5145768-FA4A-68D6-3E5C-D91754BB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C818EEA-C970-16EF-8948-87950B320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CRAG – Web Search</a:t>
            </a:r>
            <a:endParaRPr lang="zh-CN" altLang="en-US" sz="3200">
              <a:solidFill>
                <a:srgbClr val="000000"/>
              </a:solidFill>
            </a:endParaRPr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13676687-0702-2184-C040-45A94D9CD7CD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80ACD68D-CCCA-3862-A7DA-E8EC3F1E8761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图片 20" descr="图示&#10;&#10;AI 生成的内容可能不正确。">
            <a:extLst>
              <a:ext uri="{FF2B5EF4-FFF2-40B4-BE49-F238E27FC236}">
                <a16:creationId xmlns:a16="http://schemas.microsoft.com/office/drawing/2014/main" id="{551F317F-346B-FCAF-7110-D47A24B07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26" y="1620971"/>
            <a:ext cx="3973042" cy="2898034"/>
          </a:xfrm>
          <a:prstGeom prst="rect">
            <a:avLst/>
          </a:prstGeom>
        </p:spPr>
      </p:pic>
      <p:sp>
        <p:nvSpPr>
          <p:cNvPr id="24" name="文本占位符 4">
            <a:extLst>
              <a:ext uri="{FF2B5EF4-FFF2-40B4-BE49-F238E27FC236}">
                <a16:creationId xmlns:a16="http://schemas.microsoft.com/office/drawing/2014/main" id="{EEDCABAA-E05D-F672-AA7A-794B83680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477" y="1282176"/>
            <a:ext cx="4082357" cy="3420453"/>
          </a:xfrm>
        </p:spPr>
        <p:txBody>
          <a:bodyPr/>
          <a:lstStyle/>
          <a:p>
            <a:pPr marL="114300" indent="0">
              <a:lnSpc>
                <a:spcPct val="114999"/>
              </a:lnSpc>
              <a:buNone/>
            </a:pPr>
            <a:r>
              <a:rPr lang="en" sz="2000" dirty="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sz="200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" sz="20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(b) Incorrect – Web Search</a:t>
            </a:r>
          </a:p>
          <a:p>
            <a:pPr marL="285750" indent="-171450">
              <a:lnSpc>
                <a:spcPct val="114999"/>
              </a:lnSpc>
            </a:pPr>
            <a:r>
              <a:rPr lang="en" sz="1200" dirty="0">
                <a:solidFill>
                  <a:schemeClr val="tx1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Inputs are rewritten into queries composed of keywords by ChatGPT.</a:t>
            </a:r>
            <a:endParaRPr lang="en" sz="1200">
              <a:solidFill>
                <a:schemeClr val="tx1"/>
              </a:solidFill>
              <a:ea typeface="Calibri"/>
            </a:endParaRPr>
          </a:p>
          <a:p>
            <a:pPr marL="285750" indent="-171450">
              <a:lnSpc>
                <a:spcPct val="114999"/>
              </a:lnSpc>
            </a:pPr>
            <a:r>
              <a:rPr lang="en" sz="1200" dirty="0">
                <a:solidFill>
                  <a:schemeClr val="tx1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A public and accessible commercial web search API generates URL links.</a:t>
            </a:r>
            <a:endParaRPr lang="en" sz="1200">
              <a:solidFill>
                <a:schemeClr val="tx1"/>
              </a:solidFill>
              <a:ea typeface="Calibri"/>
            </a:endParaRPr>
          </a:p>
          <a:p>
            <a:pPr marL="285750" indent="-171450">
              <a:lnSpc>
                <a:spcPct val="114999"/>
              </a:lnSpc>
            </a:pPr>
            <a:r>
              <a:rPr lang="en" sz="1200" dirty="0">
                <a:solidFill>
                  <a:schemeClr val="tx1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Authoritative and regulated web pages like Wikipedia are preferred.</a:t>
            </a:r>
            <a:endParaRPr lang="en" sz="1100" dirty="0">
              <a:solidFill>
                <a:schemeClr val="tx1"/>
              </a:solidFill>
            </a:endParaRPr>
          </a:p>
          <a:p>
            <a:pPr marL="285750" indent="-171450">
              <a:lnSpc>
                <a:spcPct val="114999"/>
              </a:lnSpc>
            </a:pPr>
            <a:endParaRPr lang="en" sz="1200">
              <a:solidFill>
                <a:schemeClr val="tx1"/>
              </a:solidFill>
              <a:highlight>
                <a:srgbClr val="FFFFFF"/>
              </a:highlight>
              <a:latin typeface="Aptos"/>
              <a:ea typeface="Calibri"/>
              <a:cs typeface="Calibri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" sz="2000" b="1">
              <a:solidFill>
                <a:schemeClr val="tx1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" sz="1600">
              <a:solidFill>
                <a:srgbClr val="000000"/>
              </a:solidFill>
              <a:highlight>
                <a:srgbClr val="FFFFFF"/>
              </a:highlight>
              <a:latin typeface="Aptos"/>
              <a:cs typeface="Calibri"/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84EEA532-5876-05BA-77C0-ECB2862063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6" b="317"/>
          <a:stretch/>
        </p:blipFill>
        <p:spPr>
          <a:xfrm>
            <a:off x="485121" y="3030438"/>
            <a:ext cx="3620107" cy="127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54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9B01F0E-A6AF-211D-4660-ACEC2AB31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7B26EB85-9D31-701B-4BD4-8657395BED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Experiment</a:t>
            </a:r>
            <a:endParaRPr sz="3200"/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FA06F5C4-2FD5-808E-D4EF-0A362D526776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E1A7284D-E3CB-0E9B-7A10-B2B7496C8CD7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文本占位符 4">
            <a:extLst>
              <a:ext uri="{FF2B5EF4-FFF2-40B4-BE49-F238E27FC236}">
                <a16:creationId xmlns:a16="http://schemas.microsoft.com/office/drawing/2014/main" id="{04E0FD8A-D0DB-1FCD-ADB7-6A41DC5E6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26" y="949815"/>
            <a:ext cx="8802702" cy="2034861"/>
          </a:xfrm>
        </p:spPr>
        <p:txBody>
          <a:bodyPr/>
          <a:lstStyle/>
          <a:p>
            <a:pPr marL="11430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en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Setting:</a:t>
            </a:r>
            <a:endParaRPr lang="en" sz="2000" b="1">
              <a:solidFill>
                <a:schemeClr val="tx1"/>
              </a:solidFill>
              <a:highlight>
                <a:srgbClr val="FFFFFF"/>
              </a:highlight>
              <a:ea typeface="Calibri"/>
            </a:endParaRPr>
          </a:p>
          <a:p>
            <a:pPr>
              <a:lnSpc>
                <a:spcPct val="114999"/>
              </a:lnSpc>
            </a:pPr>
            <a:r>
              <a:rPr lang="en" sz="14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Datasets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: </a:t>
            </a:r>
            <a:r>
              <a:rPr lang="en" sz="1400" err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PopQA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 (short-form generation), Biography (long-form generation), </a:t>
            </a:r>
            <a:r>
              <a:rPr lang="en" sz="1400" err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PubHealth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 (true-or-false question), and Arc-Challenge (multiple-choice question)</a:t>
            </a:r>
            <a:endParaRPr lang="en" sz="1400">
              <a:solidFill>
                <a:schemeClr val="tx1"/>
              </a:solidFill>
              <a:ea typeface="Calibri"/>
            </a:endParaRPr>
          </a:p>
          <a:p>
            <a:pPr>
              <a:lnSpc>
                <a:spcPct val="114999"/>
              </a:lnSpc>
            </a:pPr>
            <a:r>
              <a:rPr lang="en" sz="14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Evaluation metrics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: accuracy for </a:t>
            </a:r>
            <a:r>
              <a:rPr lang="en" sz="1400" err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PopQA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, </a:t>
            </a:r>
            <a:r>
              <a:rPr lang="en" sz="1400" err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PubHealth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, Arc-Challenge and </a:t>
            </a:r>
            <a:r>
              <a:rPr lang="en" sz="1400" err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Factscore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 for Biography</a:t>
            </a:r>
          </a:p>
          <a:p>
            <a:pPr>
              <a:lnSpc>
                <a:spcPct val="114999"/>
              </a:lnSpc>
            </a:pPr>
            <a:r>
              <a:rPr lang="en" sz="1400" b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Baseline methods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: standard RAG, SAIL, Self-RAG, Ret-ChatGPT and </a:t>
            </a:r>
            <a:r>
              <a:rPr lang="en" sz="1400" err="1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RetLLaMA</a:t>
            </a:r>
            <a:r>
              <a:rPr lang="en" sz="1400">
                <a:solidFill>
                  <a:schemeClr val="tx1"/>
                </a:solidFill>
                <a:highlight>
                  <a:srgbClr val="FFFFFF"/>
                </a:highlight>
                <a:ea typeface="Calibri"/>
              </a:rPr>
              <a:t>-chat</a:t>
            </a:r>
          </a:p>
          <a:p>
            <a:pPr marL="596900" lvl="1" indent="0">
              <a:lnSpc>
                <a:spcPct val="114999"/>
              </a:lnSpc>
              <a:buNone/>
            </a:pPr>
            <a:endParaRPr lang="en" sz="1000">
              <a:solidFill>
                <a:schemeClr val="tx1"/>
              </a:solidFill>
              <a:highlight>
                <a:srgbClr val="FFFFFF"/>
              </a:highlight>
              <a:ea typeface="Calibri"/>
            </a:endParaRPr>
          </a:p>
          <a:p>
            <a:pPr marL="285750" indent="-285750">
              <a:lnSpc>
                <a:spcPct val="114999"/>
              </a:lnSpc>
            </a:pPr>
            <a:endParaRPr lang="en" sz="130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5871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01F6B6E1-C5C6-5DBF-04AE-8768E8AC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>
            <a:extLst>
              <a:ext uri="{FF2B5EF4-FFF2-40B4-BE49-F238E27FC236}">
                <a16:creationId xmlns:a16="http://schemas.microsoft.com/office/drawing/2014/main" id="{858D7279-209B-2BDA-84C9-CE0566C10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Experiments</a:t>
            </a:r>
            <a:endParaRPr sz="3200"/>
          </a:p>
        </p:txBody>
      </p:sp>
      <p:grpSp>
        <p:nvGrpSpPr>
          <p:cNvPr id="175" name="Google Shape;175;p25">
            <a:extLst>
              <a:ext uri="{FF2B5EF4-FFF2-40B4-BE49-F238E27FC236}">
                <a16:creationId xmlns:a16="http://schemas.microsoft.com/office/drawing/2014/main" id="{D1E8E0AC-ECA3-1C35-35E6-0C0FAE0D5691}"/>
              </a:ext>
            </a:extLst>
          </p:cNvPr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76" name="Google Shape;176;p25">
              <a:extLst>
                <a:ext uri="{FF2B5EF4-FFF2-40B4-BE49-F238E27FC236}">
                  <a16:creationId xmlns:a16="http://schemas.microsoft.com/office/drawing/2014/main" id="{A2DB2A69-CEC1-B4DD-453B-2600F19CF0C0}"/>
                </a:ext>
              </a:extLst>
            </p:cNvPr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77" name="Google Shape;177;p25">
              <a:extLst>
                <a:ext uri="{FF2B5EF4-FFF2-40B4-BE49-F238E27FC236}">
                  <a16:creationId xmlns:a16="http://schemas.microsoft.com/office/drawing/2014/main" id="{7E85A937-75A2-7214-2894-2DDE5A5E2A36}"/>
                </a:ext>
              </a:extLst>
            </p:cNvPr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圖片 1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145191AC-31F3-41BF-DC51-4BC155A34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556" y="1015092"/>
            <a:ext cx="3196487" cy="390252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F022C-272C-6BEB-0408-2F556B53C642}"/>
              </a:ext>
            </a:extLst>
          </p:cNvPr>
          <p:cNvSpPr>
            <a:spLocks noGrp="1"/>
          </p:cNvSpPr>
          <p:nvPr/>
        </p:nvSpPr>
        <p:spPr>
          <a:xfrm>
            <a:off x="628650" y="1179513"/>
            <a:ext cx="4540633" cy="3626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sz="1400" dirty="0"/>
              <a:t>CRAG </a:t>
            </a:r>
            <a:r>
              <a:rPr sz="1400" dirty="0" err="1"/>
              <a:t>significantly</a:t>
            </a:r>
            <a:r>
              <a:rPr sz="1400" dirty="0"/>
              <a:t> </a:t>
            </a:r>
            <a:r>
              <a:rPr sz="1400" dirty="0" err="1"/>
              <a:t>improves</a:t>
            </a:r>
            <a:r>
              <a:rPr sz="1400" dirty="0"/>
              <a:t> </a:t>
            </a:r>
            <a:r>
              <a:rPr sz="1400" dirty="0" err="1"/>
              <a:t>the</a:t>
            </a:r>
            <a:r>
              <a:rPr sz="1400" dirty="0"/>
              <a:t> </a:t>
            </a:r>
            <a:r>
              <a:rPr sz="1400" b="1" i="1" dirty="0" err="1"/>
              <a:t>performance</a:t>
            </a:r>
            <a:r>
              <a:rPr sz="1400" b="1" i="1" dirty="0"/>
              <a:t> </a:t>
            </a:r>
            <a:r>
              <a:rPr sz="1400" dirty="0"/>
              <a:t>of RAG </a:t>
            </a:r>
            <a:r>
              <a:rPr sz="1400" dirty="0" err="1"/>
              <a:t>and</a:t>
            </a:r>
            <a:r>
              <a:rPr sz="1400" dirty="0"/>
              <a:t> Self-RAG.</a:t>
            </a:r>
            <a:endParaRPr lang="af-ZA" altLang="zh-TW" sz="1400" dirty="0">
              <a:ea typeface="新細明體"/>
              <a:cs typeface="Arial"/>
            </a:endParaRPr>
          </a:p>
          <a:p>
            <a:pPr>
              <a:defRPr sz="1800"/>
            </a:pPr>
            <a:r>
              <a:rPr lang="af-ZA" sz="1400" dirty="0"/>
              <a:t>CRAG demonstrated </a:t>
            </a:r>
            <a:r>
              <a:rPr lang="af-ZA" sz="1400" dirty="0" err="1"/>
              <a:t>great</a:t>
            </a:r>
            <a:r>
              <a:rPr lang="af-ZA" sz="1400" dirty="0"/>
              <a:t> </a:t>
            </a:r>
            <a:r>
              <a:rPr lang="af-ZA" sz="1400" b="1" i="1" dirty="0" err="1"/>
              <a:t>generalizability</a:t>
            </a:r>
            <a:r>
              <a:rPr lang="af-ZA" sz="1400" b="1" i="1" dirty="0"/>
              <a:t> </a:t>
            </a:r>
            <a:r>
              <a:rPr lang="af-ZA" sz="1400" dirty="0" err="1"/>
              <a:t>across</a:t>
            </a:r>
            <a:r>
              <a:rPr lang="af-ZA" sz="1400" dirty="0"/>
              <a:t> a </a:t>
            </a:r>
            <a:r>
              <a:rPr lang="af-ZA" sz="1400" dirty="0" err="1"/>
              <a:t>variety</a:t>
            </a:r>
            <a:r>
              <a:rPr lang="af-ZA" sz="1400" dirty="0"/>
              <a:t> of </a:t>
            </a:r>
            <a:r>
              <a:rPr lang="af-ZA" sz="1400" dirty="0" err="1"/>
              <a:t>generation</a:t>
            </a:r>
            <a:r>
              <a:rPr lang="af-ZA" sz="1400" dirty="0"/>
              <a:t> </a:t>
            </a:r>
            <a:r>
              <a:rPr lang="af-ZA" sz="1400" dirty="0" err="1"/>
              <a:t>tasks</a:t>
            </a:r>
            <a:r>
              <a:rPr lang="af-ZA" sz="1400" dirty="0"/>
              <a:t>.</a:t>
            </a:r>
            <a:endParaRPr lang="af-ZA" sz="1400">
              <a:cs typeface="Arial"/>
            </a:endParaRPr>
          </a:p>
          <a:p>
            <a:pPr>
              <a:defRPr sz="1800"/>
            </a:pPr>
            <a:r>
              <a:rPr lang="af-ZA" sz="1400" dirty="0"/>
              <a:t>CRAG exhibited greater </a:t>
            </a:r>
            <a:r>
              <a:rPr lang="af-ZA" sz="1400" b="1" i="1" dirty="0"/>
              <a:t>flexibility </a:t>
            </a:r>
            <a:r>
              <a:rPr lang="af-ZA" sz="1400" dirty="0"/>
              <a:t>in replacing the underlying LLM.</a:t>
            </a:r>
            <a:endParaRPr lang="af-ZA" sz="1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532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CA1C2212-F54D-13AA-79BA-613FF1B9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>
            <a:extLst>
              <a:ext uri="{FF2B5EF4-FFF2-40B4-BE49-F238E27FC236}">
                <a16:creationId xmlns:a16="http://schemas.microsoft.com/office/drawing/2014/main" id="{EAB48BDE-75AA-B7C4-F66A-BB80FAA1F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Ablation</a:t>
            </a:r>
            <a:r>
              <a:rPr lang="en" altLang="zh-TW" sz="3200">
                <a:solidFill>
                  <a:srgbClr val="FF5F05"/>
                </a:solidFill>
              </a:rPr>
              <a:t> Study</a:t>
            </a:r>
            <a:endParaRPr sz="3200"/>
          </a:p>
        </p:txBody>
      </p:sp>
      <p:grpSp>
        <p:nvGrpSpPr>
          <p:cNvPr id="175" name="Google Shape;175;p25">
            <a:extLst>
              <a:ext uri="{FF2B5EF4-FFF2-40B4-BE49-F238E27FC236}">
                <a16:creationId xmlns:a16="http://schemas.microsoft.com/office/drawing/2014/main" id="{A985F86C-6E31-4DB8-11B2-A54513B4A07A}"/>
              </a:ext>
            </a:extLst>
          </p:cNvPr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76" name="Google Shape;176;p25">
              <a:extLst>
                <a:ext uri="{FF2B5EF4-FFF2-40B4-BE49-F238E27FC236}">
                  <a16:creationId xmlns:a16="http://schemas.microsoft.com/office/drawing/2014/main" id="{A716490C-C6EC-F522-BCF5-56F15BBD05D8}"/>
                </a:ext>
              </a:extLst>
            </p:cNvPr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77" name="Google Shape;177;p25">
              <a:extLst>
                <a:ext uri="{FF2B5EF4-FFF2-40B4-BE49-F238E27FC236}">
                  <a16:creationId xmlns:a16="http://schemas.microsoft.com/office/drawing/2014/main" id="{66030CA9-DF21-4745-6D96-536FF85CAE5C}"/>
                </a:ext>
              </a:extLst>
            </p:cNvPr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755C9-489C-B00F-082D-1021E316FBD1}"/>
              </a:ext>
            </a:extLst>
          </p:cNvPr>
          <p:cNvSpPr>
            <a:spLocks noGrp="1"/>
          </p:cNvSpPr>
          <p:nvPr/>
        </p:nvSpPr>
        <p:spPr>
          <a:xfrm>
            <a:off x="649508" y="1183685"/>
            <a:ext cx="7971263" cy="36269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af-ZA" sz="1400" b="1" err="1">
                <a:ea typeface="新細明體"/>
                <a:cs typeface="Arial"/>
              </a:rPr>
              <a:t>Impact</a:t>
            </a:r>
            <a:r>
              <a:rPr lang="af-ZA" sz="1400" b="1" dirty="0">
                <a:ea typeface="新細明體"/>
                <a:cs typeface="Arial"/>
              </a:rPr>
              <a:t> of </a:t>
            </a:r>
            <a:r>
              <a:rPr lang="af-ZA" sz="1400" b="1" err="1">
                <a:ea typeface="新細明體"/>
                <a:cs typeface="Arial"/>
              </a:rPr>
              <a:t>each</a:t>
            </a:r>
            <a:r>
              <a:rPr lang="af-ZA" sz="1400" b="1" dirty="0">
                <a:ea typeface="新細明體"/>
                <a:cs typeface="Arial"/>
              </a:rPr>
              <a:t> </a:t>
            </a:r>
            <a:r>
              <a:rPr lang="af-ZA" sz="1400" b="1" err="1">
                <a:ea typeface="新細明體"/>
                <a:cs typeface="Arial"/>
              </a:rPr>
              <a:t>triggered</a:t>
            </a:r>
            <a:r>
              <a:rPr lang="af-ZA" sz="1400" b="1" dirty="0">
                <a:ea typeface="新細明體"/>
                <a:cs typeface="Arial"/>
              </a:rPr>
              <a:t> </a:t>
            </a:r>
            <a:r>
              <a:rPr lang="af-ZA" sz="1400" b="1" err="1">
                <a:ea typeface="新細明體"/>
                <a:cs typeface="Arial"/>
              </a:rPr>
              <a:t>action</a:t>
            </a:r>
            <a:r>
              <a:rPr lang="af-ZA" sz="1400" dirty="0">
                <a:ea typeface="新細明體"/>
                <a:cs typeface="Arial"/>
              </a:rPr>
              <a:t>: </a:t>
            </a:r>
            <a:r>
              <a:rPr lang="af-ZA" sz="1400" err="1">
                <a:ea typeface="新細明體"/>
                <a:cs typeface="Arial"/>
              </a:rPr>
              <a:t>removing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any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single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action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from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the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retrieval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evaluator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led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to</a:t>
            </a:r>
            <a:r>
              <a:rPr lang="af-ZA" sz="1400" dirty="0">
                <a:ea typeface="新細明體"/>
                <a:cs typeface="Arial"/>
              </a:rPr>
              <a:t> a </a:t>
            </a:r>
            <a:r>
              <a:rPr lang="af-ZA" sz="1400" err="1">
                <a:ea typeface="新細明體"/>
                <a:cs typeface="Arial"/>
              </a:rPr>
              <a:t>performance</a:t>
            </a:r>
            <a:r>
              <a:rPr lang="af-ZA" sz="1400" dirty="0">
                <a:ea typeface="新細明體"/>
                <a:cs typeface="Arial"/>
              </a:rPr>
              <a:t> drop, </a:t>
            </a:r>
            <a:r>
              <a:rPr lang="af-ZA" sz="1400" err="1">
                <a:ea typeface="新細明體"/>
                <a:cs typeface="Arial"/>
              </a:rPr>
              <a:t>highlighting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their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collective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importance</a:t>
            </a:r>
            <a:r>
              <a:rPr lang="af-ZA" sz="1400" dirty="0">
                <a:ea typeface="新細明體"/>
                <a:cs typeface="Arial"/>
              </a:rPr>
              <a:t> in </a:t>
            </a:r>
            <a:r>
              <a:rPr lang="af-ZA" sz="1400" err="1">
                <a:ea typeface="新細明體"/>
                <a:cs typeface="Arial"/>
              </a:rPr>
              <a:t>improving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generation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robustness</a:t>
            </a:r>
            <a:r>
              <a:rPr lang="af-ZA" sz="1400" dirty="0">
                <a:ea typeface="新細明體"/>
                <a:cs typeface="Arial"/>
              </a:rPr>
              <a:t>. </a:t>
            </a:r>
            <a:endParaRPr lang="zh-TW" sz="1400">
              <a:ea typeface="新細明體"/>
              <a:cs typeface="Arial"/>
            </a:endParaRPr>
          </a:p>
          <a:p>
            <a:pPr>
              <a:defRPr sz="1800"/>
            </a:pPr>
            <a:r>
              <a:rPr lang="af-ZA" sz="1400" b="1" err="1">
                <a:ea typeface="新細明體"/>
                <a:cs typeface="Arial"/>
              </a:rPr>
              <a:t>Impact</a:t>
            </a:r>
            <a:r>
              <a:rPr lang="af-ZA" sz="1400" b="1" dirty="0">
                <a:ea typeface="新細明體"/>
                <a:cs typeface="Arial"/>
              </a:rPr>
              <a:t> of </a:t>
            </a:r>
            <a:r>
              <a:rPr lang="af-ZA" sz="1400" b="1" err="1">
                <a:ea typeface="新細明體"/>
                <a:cs typeface="Arial"/>
              </a:rPr>
              <a:t>each</a:t>
            </a:r>
            <a:r>
              <a:rPr lang="af-ZA" sz="1400" b="1" dirty="0">
                <a:ea typeface="新細明體"/>
                <a:cs typeface="Arial"/>
              </a:rPr>
              <a:t> </a:t>
            </a:r>
            <a:r>
              <a:rPr lang="af-ZA" sz="1400" b="1" err="1">
                <a:ea typeface="新細明體"/>
                <a:cs typeface="Arial"/>
              </a:rPr>
              <a:t>knowledge</a:t>
            </a:r>
            <a:r>
              <a:rPr lang="af-ZA" sz="1400" b="1" dirty="0">
                <a:ea typeface="新細明體"/>
                <a:cs typeface="Arial"/>
              </a:rPr>
              <a:t> </a:t>
            </a:r>
            <a:r>
              <a:rPr lang="af-ZA" sz="1400" b="1" err="1">
                <a:ea typeface="新細明體"/>
                <a:cs typeface="Arial"/>
              </a:rPr>
              <a:t>utilization</a:t>
            </a:r>
            <a:r>
              <a:rPr lang="af-ZA" sz="1400" b="1" dirty="0">
                <a:ea typeface="新細明體"/>
                <a:cs typeface="Arial"/>
              </a:rPr>
              <a:t> </a:t>
            </a:r>
            <a:r>
              <a:rPr lang="af-ZA" sz="1400" b="1" err="1">
                <a:ea typeface="新細明體"/>
                <a:cs typeface="Arial"/>
              </a:rPr>
              <a:t>operation</a:t>
            </a:r>
            <a:r>
              <a:rPr lang="af-ZA" sz="1400" dirty="0">
                <a:ea typeface="新細明體"/>
                <a:cs typeface="Arial"/>
              </a:rPr>
              <a:t>: </a:t>
            </a:r>
            <a:r>
              <a:rPr lang="af-ZA" sz="1400" err="1">
                <a:ea typeface="新細明體"/>
                <a:cs typeface="Arial"/>
              </a:rPr>
              <a:t>removing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any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key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operation</a:t>
            </a:r>
            <a:r>
              <a:rPr lang="af-ZA" sz="1400" b="1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led</a:t>
            </a:r>
            <a:r>
              <a:rPr lang="af-ZA" sz="1400" dirty="0">
                <a:ea typeface="新細明體"/>
                <a:cs typeface="Arial"/>
              </a:rPr>
              <a:t> </a:t>
            </a:r>
            <a:r>
              <a:rPr lang="af-ZA" sz="1400" err="1">
                <a:ea typeface="新細明體"/>
                <a:cs typeface="Arial"/>
              </a:rPr>
              <a:t>to</a:t>
            </a:r>
            <a:r>
              <a:rPr lang="af-ZA" sz="1400" dirty="0">
                <a:ea typeface="新細明體"/>
                <a:cs typeface="Arial"/>
              </a:rPr>
              <a:t> a </a:t>
            </a:r>
            <a:r>
              <a:rPr lang="af-ZA" sz="1400" err="1">
                <a:ea typeface="新細明體"/>
                <a:cs typeface="Arial"/>
              </a:rPr>
              <a:t>performance</a:t>
            </a:r>
            <a:r>
              <a:rPr lang="af-ZA" sz="1400" dirty="0">
                <a:ea typeface="新細明體"/>
                <a:cs typeface="Arial"/>
              </a:rPr>
              <a:t> drop.</a:t>
            </a:r>
            <a:endParaRPr lang="af-ZA" sz="1400">
              <a:cs typeface="Arial"/>
            </a:endParaRPr>
          </a:p>
        </p:txBody>
      </p:sp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97FCDDF-4E60-539D-FF71-539F9309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646" y="2551706"/>
            <a:ext cx="3028413" cy="2252221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4AE7FE4-E69F-AA3A-A2D0-B39A8D5A3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335" y="2573278"/>
            <a:ext cx="2963347" cy="223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7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2873567D-0DC6-5429-B8C6-BA9D603AF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>
            <a:extLst>
              <a:ext uri="{FF2B5EF4-FFF2-40B4-BE49-F238E27FC236}">
                <a16:creationId xmlns:a16="http://schemas.microsoft.com/office/drawing/2014/main" id="{AA3EB4F9-D4D9-7911-21D1-46C5C46D1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ts val="990"/>
            </a:pPr>
            <a:r>
              <a:rPr lang="en" sz="3200">
                <a:solidFill>
                  <a:srgbClr val="FF5F05"/>
                </a:solidFill>
              </a:rPr>
              <a:t>Ablation</a:t>
            </a:r>
            <a:r>
              <a:rPr lang="en" altLang="zh-TW" sz="3200">
                <a:solidFill>
                  <a:srgbClr val="FF5F05"/>
                </a:solidFill>
              </a:rPr>
              <a:t> Study</a:t>
            </a:r>
            <a:endParaRPr sz="3200"/>
          </a:p>
        </p:txBody>
      </p:sp>
      <p:grpSp>
        <p:nvGrpSpPr>
          <p:cNvPr id="175" name="Google Shape;175;p25">
            <a:extLst>
              <a:ext uri="{FF2B5EF4-FFF2-40B4-BE49-F238E27FC236}">
                <a16:creationId xmlns:a16="http://schemas.microsoft.com/office/drawing/2014/main" id="{F28246FC-1D51-B7B2-1E99-7D829C3C5BFC}"/>
              </a:ext>
            </a:extLst>
          </p:cNvPr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76" name="Google Shape;176;p25">
              <a:extLst>
                <a:ext uri="{FF2B5EF4-FFF2-40B4-BE49-F238E27FC236}">
                  <a16:creationId xmlns:a16="http://schemas.microsoft.com/office/drawing/2014/main" id="{95067EE9-56A3-CDB2-527F-E8F6679A71CA}"/>
                </a:ext>
              </a:extLst>
            </p:cNvPr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77" name="Google Shape;177;p25">
              <a:extLst>
                <a:ext uri="{FF2B5EF4-FFF2-40B4-BE49-F238E27FC236}">
                  <a16:creationId xmlns:a16="http://schemas.microsoft.com/office/drawing/2014/main" id="{DFC77858-260B-8F23-92C4-4935A2FA2BAD}"/>
                </a:ext>
              </a:extLst>
            </p:cNvPr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3C3CD-14A3-004C-7CE2-D5538B7FE12E}"/>
              </a:ext>
            </a:extLst>
          </p:cNvPr>
          <p:cNvSpPr>
            <a:spLocks noGrp="1"/>
          </p:cNvSpPr>
          <p:nvPr/>
        </p:nvSpPr>
        <p:spPr>
          <a:xfrm>
            <a:off x="841398" y="1179513"/>
            <a:ext cx="4394233" cy="3626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en" sz="2000" dirty="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af-ZA" sz="1600" b="1" err="1">
                <a:ea typeface="+mn-lt"/>
                <a:cs typeface="+mn-lt"/>
              </a:rPr>
              <a:t>Robustness</a:t>
            </a:r>
            <a:r>
              <a:rPr lang="af-ZA" sz="1600" b="1" dirty="0">
                <a:ea typeface="+mn-lt"/>
                <a:cs typeface="+mn-lt"/>
              </a:rPr>
              <a:t> </a:t>
            </a:r>
            <a:r>
              <a:rPr lang="af-ZA" sz="1600" b="1" err="1">
                <a:ea typeface="+mn-lt"/>
                <a:cs typeface="+mn-lt"/>
              </a:rPr>
              <a:t>to</a:t>
            </a:r>
            <a:r>
              <a:rPr lang="af-ZA" sz="1600" b="1" dirty="0">
                <a:ea typeface="+mn-lt"/>
                <a:cs typeface="+mn-lt"/>
              </a:rPr>
              <a:t> </a:t>
            </a:r>
            <a:r>
              <a:rPr lang="af-ZA" sz="1600" b="1" err="1">
                <a:ea typeface="+mn-lt"/>
                <a:cs typeface="+mn-lt"/>
              </a:rPr>
              <a:t>retrieval</a:t>
            </a:r>
            <a:r>
              <a:rPr lang="af-ZA" sz="1600" b="1" dirty="0">
                <a:ea typeface="+mn-lt"/>
                <a:cs typeface="+mn-lt"/>
              </a:rPr>
              <a:t> </a:t>
            </a:r>
            <a:r>
              <a:rPr lang="af-ZA" sz="1600" b="1" err="1">
                <a:ea typeface="+mn-lt"/>
                <a:cs typeface="+mn-lt"/>
              </a:rPr>
              <a:t>performance</a:t>
            </a:r>
            <a:r>
              <a:rPr lang="af-ZA" altLang="zh-TW" sz="1600">
                <a:ea typeface="新細明體"/>
                <a:cs typeface="Arial"/>
              </a:rPr>
              <a:t>: </a:t>
            </a:r>
            <a:endParaRPr lang="zh-TW" altLang="en-US" sz="1800">
              <a:ea typeface="新細明體"/>
              <a:cs typeface="+mn-lt"/>
            </a:endParaRPr>
          </a:p>
          <a:p>
            <a:pPr marL="0" indent="0">
              <a:buNone/>
              <a:defRPr sz="1800"/>
            </a:pPr>
            <a:r>
              <a:rPr lang="af-ZA" sz="1600" dirty="0">
                <a:ea typeface="+mn-lt"/>
                <a:cs typeface="+mn-lt"/>
              </a:rPr>
              <a:t>Self-CRAG </a:t>
            </a:r>
            <a:r>
              <a:rPr lang="af-ZA" sz="1600" dirty="0" err="1">
                <a:ea typeface="+mn-lt"/>
                <a:cs typeface="+mn-lt"/>
              </a:rPr>
              <a:t>demonstrated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greater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robustness</a:t>
            </a:r>
            <a:r>
              <a:rPr lang="af-ZA" sz="1600" dirty="0">
                <a:ea typeface="+mn-lt"/>
                <a:cs typeface="+mn-lt"/>
              </a:rPr>
              <a:t>, </a:t>
            </a:r>
            <a:r>
              <a:rPr lang="af-ZA" sz="1600" dirty="0" err="1">
                <a:ea typeface="+mn-lt"/>
                <a:cs typeface="+mn-lt"/>
              </a:rPr>
              <a:t>proving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its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superiority</a:t>
            </a:r>
            <a:r>
              <a:rPr lang="af-ZA" sz="1600" dirty="0">
                <a:ea typeface="+mn-lt"/>
                <a:cs typeface="+mn-lt"/>
              </a:rPr>
              <a:t> in </a:t>
            </a:r>
            <a:r>
              <a:rPr lang="af-ZA" sz="1600" dirty="0" err="1">
                <a:ea typeface="+mn-lt"/>
                <a:cs typeface="+mn-lt"/>
              </a:rPr>
              <a:t>handling</a:t>
            </a:r>
            <a:r>
              <a:rPr lang="af-ZA" sz="1600" dirty="0">
                <a:ea typeface="+mn-lt"/>
                <a:cs typeface="+mn-lt"/>
              </a:rPr>
              <a:t> lower-</a:t>
            </a:r>
            <a:r>
              <a:rPr lang="af-ZA" sz="1600" dirty="0" err="1">
                <a:ea typeface="+mn-lt"/>
                <a:cs typeface="+mn-lt"/>
              </a:rPr>
              <a:t>quality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retrieval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results</a:t>
            </a:r>
            <a:r>
              <a:rPr lang="af-ZA" sz="1600" dirty="0">
                <a:ea typeface="+mn-lt"/>
                <a:cs typeface="+mn-lt"/>
              </a:rPr>
              <a:t>. </a:t>
            </a:r>
            <a:endParaRPr lang="zh-TW" altLang="en-US">
              <a:ea typeface="新細明體"/>
              <a:cs typeface="Arial"/>
            </a:endParaRPr>
          </a:p>
          <a:p>
            <a:pPr marL="0" indent="0">
              <a:buNone/>
              <a:defRPr sz="1800"/>
            </a:pPr>
            <a:r>
              <a:rPr lang="en" sz="2000" dirty="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</a:t>
            </a:r>
            <a:r>
              <a:rPr lang="af-ZA" sz="1600" b="1" err="1">
                <a:ea typeface="+mn-lt"/>
                <a:cs typeface="+mn-lt"/>
              </a:rPr>
              <a:t>Consistent</a:t>
            </a:r>
            <a:r>
              <a:rPr lang="af-ZA" sz="1600" b="1" dirty="0">
                <a:ea typeface="+mn-lt"/>
                <a:cs typeface="+mn-lt"/>
              </a:rPr>
              <a:t> </a:t>
            </a:r>
            <a:r>
              <a:rPr lang="af-ZA" sz="1600" b="1" err="1">
                <a:ea typeface="+mn-lt"/>
                <a:cs typeface="+mn-lt"/>
              </a:rPr>
              <a:t>Supplementation</a:t>
            </a:r>
            <a:r>
              <a:rPr lang="af-ZA" sz="1600" b="1" dirty="0">
                <a:ea typeface="+mn-lt"/>
                <a:cs typeface="+mn-lt"/>
              </a:rPr>
              <a:t> of Web </a:t>
            </a:r>
            <a:r>
              <a:rPr lang="af-ZA" sz="1600" b="1" err="1">
                <a:ea typeface="+mn-lt"/>
                <a:cs typeface="+mn-lt"/>
              </a:rPr>
              <a:t>Search</a:t>
            </a:r>
            <a:r>
              <a:rPr lang="af-ZA" sz="1600" b="1" dirty="0">
                <a:ea typeface="+mn-lt"/>
                <a:cs typeface="+mn-lt"/>
              </a:rPr>
              <a:t> </a:t>
            </a:r>
            <a:r>
              <a:rPr lang="af-ZA" sz="1600" b="1" err="1">
                <a:ea typeface="+mn-lt"/>
                <a:cs typeface="+mn-lt"/>
              </a:rPr>
              <a:t>Knowledge</a:t>
            </a:r>
            <a:r>
              <a:rPr lang="af-ZA" sz="1600" dirty="0">
                <a:ea typeface="+mn-lt"/>
                <a:cs typeface="+mn-lt"/>
              </a:rPr>
              <a:t>: </a:t>
            </a:r>
            <a:endParaRPr lang="af-ZA" sz="1800">
              <a:ea typeface="+mn-lt"/>
              <a:cs typeface="+mn-lt"/>
            </a:endParaRPr>
          </a:p>
          <a:p>
            <a:pPr marL="0" indent="0">
              <a:buNone/>
              <a:defRPr sz="1800"/>
            </a:pPr>
            <a:r>
              <a:rPr lang="af-ZA" sz="1600" dirty="0">
                <a:ea typeface="+mn-lt"/>
                <a:cs typeface="+mn-lt"/>
              </a:rPr>
              <a:t>Web </a:t>
            </a:r>
            <a:r>
              <a:rPr lang="af-ZA" sz="1600" dirty="0" err="1">
                <a:ea typeface="+mn-lt"/>
                <a:cs typeface="+mn-lt"/>
              </a:rPr>
              <a:t>search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knowledge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improved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performance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but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the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gains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were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limited</a:t>
            </a:r>
            <a:r>
              <a:rPr lang="af-ZA" sz="1600" dirty="0">
                <a:ea typeface="+mn-lt"/>
                <a:cs typeface="+mn-lt"/>
              </a:rPr>
              <a:t>. </a:t>
            </a:r>
            <a:r>
              <a:rPr lang="af-ZA" sz="1600" dirty="0" err="1">
                <a:ea typeface="+mn-lt"/>
                <a:cs typeface="+mn-lt"/>
              </a:rPr>
              <a:t>Integrating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the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b="1" dirty="0">
                <a:ea typeface="+mn-lt"/>
                <a:cs typeface="+mn-lt"/>
              </a:rPr>
              <a:t>self-</a:t>
            </a:r>
            <a:r>
              <a:rPr lang="af-ZA" sz="1600" b="1" dirty="0" err="1">
                <a:ea typeface="+mn-lt"/>
                <a:cs typeface="+mn-lt"/>
              </a:rPr>
              <a:t>correction</a:t>
            </a:r>
            <a:r>
              <a:rPr lang="af-ZA" sz="1600" b="1" dirty="0">
                <a:ea typeface="+mn-lt"/>
                <a:cs typeface="+mn-lt"/>
              </a:rPr>
              <a:t> </a:t>
            </a:r>
            <a:r>
              <a:rPr lang="af-ZA" sz="1600" b="1" dirty="0" err="1">
                <a:ea typeface="+mn-lt"/>
                <a:cs typeface="+mn-lt"/>
              </a:rPr>
              <a:t>mechanism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led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to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significantly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better</a:t>
            </a:r>
            <a:r>
              <a:rPr lang="af-ZA" sz="1600" dirty="0">
                <a:ea typeface="+mn-lt"/>
                <a:cs typeface="+mn-lt"/>
              </a:rPr>
              <a:t> </a:t>
            </a:r>
            <a:r>
              <a:rPr lang="af-ZA" sz="1600" dirty="0" err="1">
                <a:ea typeface="+mn-lt"/>
                <a:cs typeface="+mn-lt"/>
              </a:rPr>
              <a:t>results</a:t>
            </a:r>
            <a:r>
              <a:rPr lang="af-ZA" sz="1600" dirty="0">
                <a:ea typeface="+mn-lt"/>
                <a:cs typeface="+mn-lt"/>
              </a:rPr>
              <a:t>.</a:t>
            </a:r>
            <a:endParaRPr lang="af-ZA">
              <a:cs typeface="Arial"/>
            </a:endParaRPr>
          </a:p>
        </p:txBody>
      </p:sp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2006506-9ABC-BDA8-0983-B82F063BA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013" y="2846614"/>
            <a:ext cx="2481943" cy="1860097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2B624BA-1A77-5553-3E08-956EFAD53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771" y="1099457"/>
            <a:ext cx="2341790" cy="17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66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C4B5808C-78A4-86B7-84C4-366A51E4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AEB30211-3185-96AE-F68B-6C384BDFCA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200">
                <a:solidFill>
                  <a:srgbClr val="FF5F05"/>
                </a:solidFill>
              </a:rPr>
              <a:t>Summary and Future work</a:t>
            </a:r>
            <a:endParaRPr lang="en" sz="3200">
              <a:solidFill>
                <a:srgbClr val="000000"/>
              </a:solidFill>
            </a:endParaRPr>
          </a:p>
          <a:p>
            <a:pPr algn="ctr">
              <a:buSzPts val="990"/>
            </a:pPr>
            <a:endParaRPr lang="en" sz="3200">
              <a:solidFill>
                <a:srgbClr val="FF5F05"/>
              </a:solidFill>
            </a:endParaRPr>
          </a:p>
        </p:txBody>
      </p:sp>
      <p:sp>
        <p:nvSpPr>
          <p:cNvPr id="2" name="Google Shape;58;p13">
            <a:extLst>
              <a:ext uri="{FF2B5EF4-FFF2-40B4-BE49-F238E27FC236}">
                <a16:creationId xmlns:a16="http://schemas.microsoft.com/office/drawing/2014/main" id="{BAABF700-C67C-37E8-FF4F-B9F8BD399D16}"/>
              </a:ext>
            </a:extLst>
          </p:cNvPr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3/4/25</a:t>
            </a:r>
            <a:endParaRPr/>
          </a:p>
        </p:txBody>
      </p:sp>
      <p:sp>
        <p:nvSpPr>
          <p:cNvPr id="18" name="Google Shape;59;p13">
            <a:extLst>
              <a:ext uri="{FF2B5EF4-FFF2-40B4-BE49-F238E27FC236}">
                <a16:creationId xmlns:a16="http://schemas.microsoft.com/office/drawing/2014/main" id="{B9DA46CE-22DF-B8F0-FEC4-DFFF71A3F723}"/>
              </a:ext>
            </a:extLst>
          </p:cNvPr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文本占位符 4">
            <a:extLst>
              <a:ext uri="{FF2B5EF4-FFF2-40B4-BE49-F238E27FC236}">
                <a16:creationId xmlns:a16="http://schemas.microsoft.com/office/drawing/2014/main" id="{D2BEFAE7-06A2-8F04-68FD-5BF654BAE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26" y="949815"/>
            <a:ext cx="8715617" cy="3488103"/>
          </a:xfrm>
        </p:spPr>
        <p:txBody>
          <a:bodyPr>
            <a:normAutofit/>
          </a:bodyPr>
          <a:lstStyle/>
          <a:p>
            <a:pPr marL="11430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 </a:t>
            </a:r>
            <a:r>
              <a:rPr lang="en" altLang="zh-CN" sz="2000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Calibri"/>
              </a:rPr>
              <a:t>Summary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400050" indent="-285750">
              <a:lnSpc>
                <a:spcPct val="114999"/>
              </a:lnSpc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Improve the robustness of RAG systems by </a:t>
            </a:r>
            <a:r>
              <a:rPr lang="en" sz="1600" i="1">
                <a:solidFill>
                  <a:srgbClr val="000000"/>
                </a:solidFill>
                <a:highlight>
                  <a:srgbClr val="FFFFFF"/>
                </a:highlight>
              </a:rPr>
              <a:t>evaluating retrieved documents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 and </a:t>
            </a:r>
            <a:r>
              <a:rPr lang="en" sz="1600" i="1">
                <a:solidFill>
                  <a:srgbClr val="000000"/>
                </a:solidFill>
                <a:highlight>
                  <a:srgbClr val="FFFFFF"/>
                </a:highlight>
              </a:rPr>
              <a:t>incorporating large-scale web searches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.</a:t>
            </a:r>
            <a:endParaRPr lang="zh-CN" altLang="en-US" sz="1600">
              <a:solidFill>
                <a:srgbClr val="595959"/>
              </a:solidFill>
            </a:endParaRPr>
          </a:p>
          <a:p>
            <a:pPr marL="400050" indent="-285750">
              <a:lnSpc>
                <a:spcPct val="114999"/>
              </a:lnSpc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Employ a </a:t>
            </a: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</a:rPr>
              <a:t>retrieval evaluator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 to assess knowledge relevance and a </a:t>
            </a: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</a:rPr>
              <a:t>decompose-then-recompose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 strategy to refine information extraction</a:t>
            </a:r>
            <a:endParaRPr lang="zh-CN" altLang="en-US" sz="1600">
              <a:solidFill>
                <a:srgbClr val="595959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en" sz="2000">
                <a:solidFill>
                  <a:srgbClr val="FF5F0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■ </a:t>
            </a:r>
            <a:r>
              <a:rPr lang="en" sz="2000" b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Calibri"/>
              </a:rPr>
              <a:t>Future Work</a:t>
            </a:r>
          </a:p>
          <a:p>
            <a:pPr marL="400050" indent="-285750">
              <a:lnSpc>
                <a:spcPct val="114999"/>
              </a:lnSpc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eliminate the external evaluator</a:t>
            </a:r>
          </a:p>
          <a:p>
            <a:pPr marL="400050" indent="-285750">
              <a:lnSpc>
                <a:spcPct val="114999"/>
              </a:lnSpc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equip LLMs with better retrieval evaluation capabilities</a:t>
            </a:r>
            <a:endParaRPr lang="en"/>
          </a:p>
          <a:p>
            <a:pPr marL="114300" indent="0">
              <a:lnSpc>
                <a:spcPct val="114999"/>
              </a:lnSpc>
              <a:buNone/>
            </a:pPr>
            <a:endParaRPr lang="en" sz="2000" b="1">
              <a:solidFill>
                <a:schemeClr val="tx1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" sz="1600">
              <a:solidFill>
                <a:srgbClr val="000000"/>
              </a:solidFill>
              <a:highlight>
                <a:srgbClr val="FFFFFF"/>
              </a:highlight>
              <a:latin typeface="Apto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012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>
            <a:spLocks noGrp="1"/>
          </p:cNvSpPr>
          <p:nvPr>
            <p:ph type="ctrTitle"/>
          </p:nvPr>
        </p:nvSpPr>
        <p:spPr>
          <a:xfrm>
            <a:off x="311708" y="3026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af-ZA" sz="4000" b="1" err="1">
                <a:solidFill>
                  <a:srgbClr val="FF5F05"/>
                </a:solidFill>
              </a:rPr>
              <a:t>Thanks</a:t>
            </a:r>
            <a:r>
              <a:rPr lang="af-ZA" sz="4000" b="1">
                <a:solidFill>
                  <a:srgbClr val="FF5F05"/>
                </a:solidFill>
              </a:rPr>
              <a:t>!</a:t>
            </a:r>
            <a:endParaRPr lang="zh-CN" altLang="en-US" sz="4000" b="1">
              <a:solidFill>
                <a:srgbClr val="FF5F05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200">
                <a:solidFill>
                  <a:srgbClr val="FF5F05"/>
                </a:solidFill>
              </a:rPr>
              <a:t>Q &amp; A </a:t>
            </a:r>
            <a:endParaRPr sz="3200">
              <a:solidFill>
                <a:srgbClr val="FF9900"/>
              </a:solidFill>
            </a:endParaRPr>
          </a:p>
        </p:txBody>
      </p:sp>
      <p:pic>
        <p:nvPicPr>
          <p:cNvPr id="365" name="Google Shape;3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975" y="2757738"/>
            <a:ext cx="945375" cy="9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3"/>
          <p:cNvSpPr txBox="1"/>
          <p:nvPr/>
        </p:nvSpPr>
        <p:spPr>
          <a:xfrm>
            <a:off x="1399650" y="3688650"/>
            <a:ext cx="634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CS598:  Topics in LLM Agents, 2025 Spring</a:t>
            </a:r>
            <a:endParaRPr sz="2800"/>
          </a:p>
        </p:txBody>
      </p:sp>
      <p:sp>
        <p:nvSpPr>
          <p:cNvPr id="367" name="Google Shape;367;p43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2/25/25</a:t>
            </a:r>
            <a:endParaRPr/>
          </a:p>
        </p:txBody>
      </p:sp>
      <p:sp>
        <p:nvSpPr>
          <p:cNvPr id="368" name="Google Shape;368;p43"/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sz="1000" i="1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1782D5-5C15-2F70-E068-9D94923534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" altLang="zh-CN" sz="2400" b="1">
                <a:solidFill>
                  <a:schemeClr val="tx1"/>
                </a:solidFill>
              </a:rPr>
              <a:t>RAG-based Agent </a:t>
            </a:r>
            <a:endParaRPr lang="zh-CN" sz="2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F13D34A64DFD4D9A7EAF68858B61AB" ma:contentTypeVersion="10" ma:contentTypeDescription="Create a new document." ma:contentTypeScope="" ma:versionID="dafc2f1fad14c6ee4d212bdb4b56e0e1">
  <xsd:schema xmlns:xsd="http://www.w3.org/2001/XMLSchema" xmlns:xs="http://www.w3.org/2001/XMLSchema" xmlns:p="http://schemas.microsoft.com/office/2006/metadata/properties" xmlns:ns3="1a25fafe-a726-4584-9f4d-ab7909839b43" targetNamespace="http://schemas.microsoft.com/office/2006/metadata/properties" ma:root="true" ma:fieldsID="8709b7040b321b9e129265fb9491b805" ns3:_="">
    <xsd:import namespace="1a25fafe-a726-4584-9f4d-ab7909839b4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5fafe-a726-4584-9f4d-ab7909839b4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25fafe-a726-4584-9f4d-ab7909839b43" xsi:nil="true"/>
  </documentManagement>
</p:properties>
</file>

<file path=customXml/itemProps1.xml><?xml version="1.0" encoding="utf-8"?>
<ds:datastoreItem xmlns:ds="http://schemas.openxmlformats.org/officeDocument/2006/customXml" ds:itemID="{C97CA777-6D19-47E0-B691-D4DFC4F51FF5}">
  <ds:schemaRefs>
    <ds:schemaRef ds:uri="1a25fafe-a726-4584-9f4d-ab7909839b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DC44D8-9C84-4E24-AD1E-B73ADE6229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878D4B-20E8-4095-AD57-B5E60AB42DA7}">
  <ds:schemaRefs>
    <ds:schemaRef ds:uri="1a25fafe-a726-4584-9f4d-ab7909839b4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1287</Words>
  <Application>Microsoft Macintosh PowerPoint</Application>
  <PresentationFormat>全屏显示(16:9)</PresentationFormat>
  <Paragraphs>196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宋体</vt:lpstr>
      <vt:lpstr>Roboto</vt:lpstr>
      <vt:lpstr>Aptos</vt:lpstr>
      <vt:lpstr>新細明體</vt:lpstr>
      <vt:lpstr>Arial</vt:lpstr>
      <vt:lpstr>Calibri</vt:lpstr>
      <vt:lpstr>Simple Light</vt:lpstr>
      <vt:lpstr>Adaptive-RAG: Learning to Adapt Retrieval-Augmented Large Language Models through Question Complexity</vt:lpstr>
      <vt:lpstr>Background</vt:lpstr>
      <vt:lpstr>Prior Settings</vt:lpstr>
      <vt:lpstr>Prior Settings</vt:lpstr>
      <vt:lpstr>Prior Settings</vt:lpstr>
      <vt:lpstr>Motivations</vt:lpstr>
      <vt:lpstr>Problem Statement</vt:lpstr>
      <vt:lpstr>Method: Training a Small “Difficulty Classifier”</vt:lpstr>
      <vt:lpstr>Method: Training a Small “Difficulty Classifier”</vt:lpstr>
      <vt:lpstr>Experiment: Efficiency and Performance</vt:lpstr>
      <vt:lpstr>Experiment: Efficiency and Performance</vt:lpstr>
      <vt:lpstr>Additional Experiments</vt:lpstr>
      <vt:lpstr>Summary and Future work</vt:lpstr>
      <vt:lpstr>Corrective Retrieval Augmented Generation</vt:lpstr>
      <vt:lpstr>Background</vt:lpstr>
      <vt:lpstr>CRAG Overview</vt:lpstr>
      <vt:lpstr>CRAG - Evaluator</vt:lpstr>
      <vt:lpstr>CRAG - Evaluator</vt:lpstr>
      <vt:lpstr>CRAG – Knowledge Refinement</vt:lpstr>
      <vt:lpstr>CRAG – Web Search</vt:lpstr>
      <vt:lpstr>Experiment</vt:lpstr>
      <vt:lpstr>Experiments</vt:lpstr>
      <vt:lpstr>Ablation Study</vt:lpstr>
      <vt:lpstr>Ablation Study</vt:lpstr>
      <vt:lpstr>Summary and Future work </vt:lpstr>
      <vt:lpstr>Thanks! Q &amp; 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Ning, Xuying</cp:lastModifiedBy>
  <cp:revision>55</cp:revision>
  <dcterms:modified xsi:type="dcterms:W3CDTF">2025-03-03T06:43:22Z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0x01010009F13D34A64DFD4D9A7EAF68858B61AB</vt:lpwstr>
  </property>
</Properties>
</file>