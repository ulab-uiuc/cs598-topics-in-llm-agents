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embeddedFontLst>
    <p:embeddedFont>
      <p:font typeface="Roboto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Roboto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Roboto-italic.fntdata"/><Relationship Id="rId16" Type="http://schemas.openxmlformats.org/officeDocument/2006/relationships/slide" Target="slides/slide11.xml"/><Relationship Id="rId38" Type="http://schemas.openxmlformats.org/officeDocument/2006/relationships/font" Target="fonts/Roboto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36ffd0a7c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36ffd0a7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1b9f7ceb0_2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31b9f7ceb0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31b9f7ceb0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31b9f7ceb0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31b9f7ceb0_2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31b9f7ceb0_2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31b9f7ceb0_2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31b9f7ceb0_2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31b9f7ceb0_2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31b9f7ceb0_2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31b9f7ceb0_2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31b9f7ceb0_2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31b9f7ceb0_2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31b9f7ceb0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31b9f7ceb0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31b9f7ceb0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31b9f7ceb0_2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31b9f7ceb0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31b9f7ceb0_2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31b9f7ceb0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31b9f7ceb0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31b9f7ceb0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31b9f7ceb0_2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31b9f7ceb0_2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36ffd0a7c2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36ffd0a7c2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31b2d712fd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31b2d712fd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36ffd0a7c2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36ffd0a7c2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31b2d712fd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31b2d712fd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31b2d712f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31b2d712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31b2d712fd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31b2d712fd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Rank (UB): model’s ranking (upper-bound)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Rank</a:t>
            </a:r>
            <a:r>
              <a:rPr lang="en"/>
              <a:t> (Style control): another paper, how to cancel out the effect of lengths and styles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31b2d712f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31b2d712f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31b2d712fd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31b2d712fd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31b2d712fd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31b2d712fd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unbias sampling should suffice, but some can have more certainty for models with similar performances</a:t>
            </a:r>
            <a:br>
              <a:rPr lang="en"/>
            </a:br>
            <a:r>
              <a:rPr lang="en"/>
              <a:t>The score function is reweighted accordingly to reflect the actual score under random sampling scenarios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31b2d712fd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31b2d712fd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31b2d712fd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31b2d712fd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ranking here is the non-ovestated version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31b2d712fd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31b2d712fd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ranking here is the non-ovestated version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31b2d712f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31b2d712f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31b2d712fd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31b2d712fd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31b2d712fd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31b2d712fd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31b2d712f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31b2d712f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36ffd0a7c2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36ffd0a7c2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Relationship Id="rId4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0.png"/><Relationship Id="rId4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png"/><Relationship Id="rId4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png"/><Relationship Id="rId4" Type="http://schemas.openxmlformats.org/officeDocument/2006/relationships/image" Target="../media/image2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png"/><Relationship Id="rId4" Type="http://schemas.openxmlformats.org/officeDocument/2006/relationships/image" Target="../media/image2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3026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3600">
                <a:solidFill>
                  <a:srgbClr val="FF5F05"/>
                </a:solidFill>
              </a:rPr>
              <a:t>Autonomous Evaluation and Refinement of Digital Agents</a:t>
            </a:r>
            <a:endParaRPr b="1" sz="3600">
              <a:solidFill>
                <a:srgbClr val="FF9900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Presenter: Rui Yang</a:t>
            </a:r>
            <a:endParaRPr sz="3200"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0975" y="2242725"/>
            <a:ext cx="945375" cy="94537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1399650" y="3688650"/>
            <a:ext cx="6344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CS598:  Topics in LLM Agents, 2025 Spring</a:t>
            </a:r>
            <a:endParaRPr sz="2800"/>
          </a:p>
        </p:txBody>
      </p:sp>
      <p:sp>
        <p:nvSpPr>
          <p:cNvPr id="58" name="Google Shape;58;p13"/>
          <p:cNvSpPr txBox="1"/>
          <p:nvPr/>
        </p:nvSpPr>
        <p:spPr>
          <a:xfrm>
            <a:off x="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2/25/25</a:t>
            </a:r>
            <a:endParaRPr/>
          </a:p>
        </p:txBody>
      </p:sp>
      <p:sp>
        <p:nvSpPr>
          <p:cNvPr id="59" name="Google Shape;59;p13"/>
          <p:cNvSpPr txBox="1"/>
          <p:nvPr/>
        </p:nvSpPr>
        <p:spPr>
          <a:xfrm>
            <a:off x="307200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CS598: Topics in LLM Agents, Jiaxuan You</a:t>
            </a:r>
            <a:endParaRPr i="1" sz="1000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>
                <a:solidFill>
                  <a:srgbClr val="FF5F05"/>
                </a:solidFill>
              </a:rPr>
              <a:t>Background</a:t>
            </a:r>
            <a:endParaRPr sz="3200"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F5F0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■ </a:t>
            </a:r>
            <a:r>
              <a:rPr lang="en" sz="3200">
                <a:solidFill>
                  <a:srgbClr val="DF00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Background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■</a:t>
            </a: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3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Digital agents are AI-driven programs that interact with web interfaces to perform tasks for human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■</a:t>
            </a: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E.g., virtual assistants navigating websites and summarizing retrieved information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14"/>
          <p:cNvGrpSpPr/>
          <p:nvPr/>
        </p:nvGrpSpPr>
        <p:grpSpPr>
          <a:xfrm>
            <a:off x="0" y="4804800"/>
            <a:ext cx="6072000" cy="338700"/>
            <a:chOff x="0" y="4804800"/>
            <a:chExt cx="6072000" cy="338700"/>
          </a:xfrm>
        </p:grpSpPr>
        <p:sp>
          <p:nvSpPr>
            <p:cNvPr id="67" name="Google Shape;67;p14"/>
            <p:cNvSpPr txBox="1"/>
            <p:nvPr/>
          </p:nvSpPr>
          <p:spPr>
            <a:xfrm>
              <a:off x="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2/25/25</a:t>
              </a:r>
              <a:endParaRPr/>
            </a:p>
          </p:txBody>
        </p:sp>
        <p:sp>
          <p:nvSpPr>
            <p:cNvPr id="68" name="Google Shape;68;p14"/>
            <p:cNvSpPr txBox="1"/>
            <p:nvPr/>
          </p:nvSpPr>
          <p:spPr>
            <a:xfrm>
              <a:off x="307200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CS598: Topics in LLM Agents, Jiaxuan You</a:t>
              </a:r>
              <a:endParaRPr i="1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9" name="Google Shape;69;p14"/>
          <p:cNvPicPr preferRelativeResize="0"/>
          <p:nvPr/>
        </p:nvPicPr>
        <p:blipFill rotWithShape="1">
          <a:blip r:embed="rId3">
            <a:alphaModFix/>
          </a:blip>
          <a:srcRect b="0" l="0" r="0" t="12141"/>
          <a:stretch/>
        </p:blipFill>
        <p:spPr>
          <a:xfrm>
            <a:off x="3275600" y="3053950"/>
            <a:ext cx="5914326" cy="208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>
                <a:solidFill>
                  <a:srgbClr val="FF5F05"/>
                </a:solidFill>
              </a:rPr>
              <a:t>Problem Statement</a:t>
            </a:r>
            <a:endParaRPr sz="3200"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F5F0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■ </a:t>
            </a:r>
            <a:r>
              <a:rPr lang="en" sz="3200">
                <a:solidFill>
                  <a:srgbClr val="DF00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■</a:t>
            </a: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3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Digital agents for web navigation and device control often fail simple tasks, requiring robust evaluation and refinement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■</a:t>
            </a: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Existing evaluation methods depend on human supervision or task-specific metrics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■ </a:t>
            </a:r>
            <a:r>
              <a:rPr lang="en" sz="3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■</a:t>
            </a: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3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 domain-general, automated evaluators to assess and improve agent performance without extra supervision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6" name="Google Shape;76;p15"/>
          <p:cNvGrpSpPr/>
          <p:nvPr/>
        </p:nvGrpSpPr>
        <p:grpSpPr>
          <a:xfrm>
            <a:off x="0" y="4804800"/>
            <a:ext cx="6072000" cy="338700"/>
            <a:chOff x="0" y="4804800"/>
            <a:chExt cx="6072000" cy="338700"/>
          </a:xfrm>
        </p:grpSpPr>
        <p:sp>
          <p:nvSpPr>
            <p:cNvPr id="77" name="Google Shape;77;p15"/>
            <p:cNvSpPr txBox="1"/>
            <p:nvPr/>
          </p:nvSpPr>
          <p:spPr>
            <a:xfrm>
              <a:off x="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2/25/25</a:t>
              </a:r>
              <a:endParaRPr/>
            </a:p>
          </p:txBody>
        </p:sp>
        <p:sp>
          <p:nvSpPr>
            <p:cNvPr id="78" name="Google Shape;78;p15"/>
            <p:cNvSpPr txBox="1"/>
            <p:nvPr/>
          </p:nvSpPr>
          <p:spPr>
            <a:xfrm>
              <a:off x="307200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CS598: Topics in LLM Agents, Jiaxuan You</a:t>
              </a:r>
              <a:endParaRPr i="1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>
                <a:solidFill>
                  <a:srgbClr val="FF5F05"/>
                </a:solidFill>
              </a:rPr>
              <a:t>Prior Evaluations</a:t>
            </a:r>
            <a:endParaRPr sz="3200"/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311700" y="1152475"/>
            <a:ext cx="8520600" cy="37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F5F0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■ </a:t>
            </a:r>
            <a:r>
              <a:rPr lang="en" sz="3200">
                <a:solidFill>
                  <a:srgbClr val="DF00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Simulator-based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■</a:t>
            </a: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3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WebShop, Androidenv, WebArena, and VisualWebArena, …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■</a:t>
            </a: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Handcrafting evaluation functions are limited in the diversity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■ </a:t>
            </a:r>
            <a:r>
              <a:rPr lang="en" sz="3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Demonstration-based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■</a:t>
            </a: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3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Mind2Web, AitW, …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■</a:t>
            </a: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3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Reference-based metrics like action matching score (correct actions divided by the episode length)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■</a:t>
            </a: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3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They cannot reflect real performance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5" name="Google Shape;85;p16"/>
          <p:cNvGrpSpPr/>
          <p:nvPr/>
        </p:nvGrpSpPr>
        <p:grpSpPr>
          <a:xfrm>
            <a:off x="0" y="4804800"/>
            <a:ext cx="6072000" cy="338700"/>
            <a:chOff x="0" y="4804800"/>
            <a:chExt cx="6072000" cy="338700"/>
          </a:xfrm>
        </p:grpSpPr>
        <p:sp>
          <p:nvSpPr>
            <p:cNvPr id="86" name="Google Shape;86;p16"/>
            <p:cNvSpPr txBox="1"/>
            <p:nvPr/>
          </p:nvSpPr>
          <p:spPr>
            <a:xfrm>
              <a:off x="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2/25/25</a:t>
              </a:r>
              <a:endParaRPr/>
            </a:p>
          </p:txBody>
        </p:sp>
        <p:sp>
          <p:nvSpPr>
            <p:cNvPr id="87" name="Google Shape;87;p16"/>
            <p:cNvSpPr txBox="1"/>
            <p:nvPr/>
          </p:nvSpPr>
          <p:spPr>
            <a:xfrm>
              <a:off x="307200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CS598: Topics in LLM Agents, Jiaxuan You</a:t>
              </a:r>
              <a:endParaRPr i="1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>
                <a:solidFill>
                  <a:srgbClr val="FF5F05"/>
                </a:solidFill>
              </a:rPr>
              <a:t>Method</a:t>
            </a:r>
            <a:endParaRPr sz="3200"/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311700" y="1152475"/>
            <a:ext cx="8520600" cy="37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F5F0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■ </a:t>
            </a:r>
            <a:r>
              <a:rPr lang="en" sz="3200">
                <a:solidFill>
                  <a:srgbClr val="DF00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Domain-general Evaluators：Formulation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■</a:t>
            </a: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3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Prompt: textual instruction, e.g., “check the weather”</a:t>
            </a:r>
            <a:endParaRPr sz="2400">
              <a:solidFill>
                <a:srgbClr val="FF5F05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■</a:t>
            </a: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3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State: screenshot image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■</a:t>
            </a: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action: text format, e.g., &lt;Click id&gt;, &lt;Type: “password”&gt;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■</a:t>
            </a: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reward: r(x,s,a)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   </a:t>
            </a: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Trajectory-level: 1 for successful in the last step else 0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   Step-level: p≥0 indicates progress, d&lt;0 indicates negative impact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4" name="Google Shape;94;p17"/>
          <p:cNvGrpSpPr/>
          <p:nvPr/>
        </p:nvGrpSpPr>
        <p:grpSpPr>
          <a:xfrm>
            <a:off x="0" y="4804800"/>
            <a:ext cx="6072000" cy="338700"/>
            <a:chOff x="0" y="4804800"/>
            <a:chExt cx="6072000" cy="338700"/>
          </a:xfrm>
        </p:grpSpPr>
        <p:sp>
          <p:nvSpPr>
            <p:cNvPr id="95" name="Google Shape;95;p17"/>
            <p:cNvSpPr txBox="1"/>
            <p:nvPr/>
          </p:nvSpPr>
          <p:spPr>
            <a:xfrm>
              <a:off x="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2/25/25</a:t>
              </a:r>
              <a:endParaRPr/>
            </a:p>
          </p:txBody>
        </p:sp>
        <p:sp>
          <p:nvSpPr>
            <p:cNvPr id="96" name="Google Shape;96;p17"/>
            <p:cNvSpPr txBox="1"/>
            <p:nvPr/>
          </p:nvSpPr>
          <p:spPr>
            <a:xfrm>
              <a:off x="307200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CS598: Topics in LLM Agents, Jiaxuan You</a:t>
              </a:r>
              <a:endParaRPr i="1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>
                <a:solidFill>
                  <a:srgbClr val="FF5F05"/>
                </a:solidFill>
              </a:rPr>
              <a:t>Method</a:t>
            </a:r>
            <a:endParaRPr sz="3200"/>
          </a:p>
        </p:txBody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311700" y="1053513"/>
            <a:ext cx="8520600" cy="37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F5F0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■ </a:t>
            </a:r>
            <a:r>
              <a:rPr lang="en" sz="3200">
                <a:solidFill>
                  <a:srgbClr val="DF00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End-to-end Approach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■</a:t>
            </a: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3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Prompt a VLM (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GPT-4V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to produce reasoning and final      evaluation</a:t>
            </a:r>
            <a:endParaRPr sz="2400">
              <a:solidFill>
                <a:srgbClr val="FF5F05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■</a:t>
            </a: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3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Advantage: high performance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■</a:t>
            </a: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Disadvantage: expensive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3" name="Google Shape;103;p18"/>
          <p:cNvGrpSpPr/>
          <p:nvPr/>
        </p:nvGrpSpPr>
        <p:grpSpPr>
          <a:xfrm>
            <a:off x="0" y="4804800"/>
            <a:ext cx="6072000" cy="338700"/>
            <a:chOff x="0" y="4804800"/>
            <a:chExt cx="6072000" cy="338700"/>
          </a:xfrm>
        </p:grpSpPr>
        <p:sp>
          <p:nvSpPr>
            <p:cNvPr id="104" name="Google Shape;104;p18"/>
            <p:cNvSpPr txBox="1"/>
            <p:nvPr/>
          </p:nvSpPr>
          <p:spPr>
            <a:xfrm>
              <a:off x="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2/25/25</a:t>
              </a:r>
              <a:endParaRPr/>
            </a:p>
          </p:txBody>
        </p:sp>
        <p:sp>
          <p:nvSpPr>
            <p:cNvPr id="105" name="Google Shape;105;p18"/>
            <p:cNvSpPr txBox="1"/>
            <p:nvPr/>
          </p:nvSpPr>
          <p:spPr>
            <a:xfrm>
              <a:off x="307200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CS598: Topics in LLM Agents, Jiaxuan You</a:t>
              </a:r>
              <a:endParaRPr i="1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6" name="Google Shape;10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425" y="3496925"/>
            <a:ext cx="3541250" cy="1646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8"/>
          <p:cNvPicPr preferRelativeResize="0"/>
          <p:nvPr/>
        </p:nvPicPr>
        <p:blipFill rotWithShape="1">
          <a:blip r:embed="rId4">
            <a:alphaModFix/>
          </a:blip>
          <a:srcRect b="0" l="0" r="1127" t="0"/>
          <a:stretch/>
        </p:blipFill>
        <p:spPr>
          <a:xfrm>
            <a:off x="4200675" y="3459313"/>
            <a:ext cx="4943327" cy="1684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type="title"/>
          </p:nvPr>
        </p:nvSpPr>
        <p:spPr>
          <a:xfrm>
            <a:off x="311700" y="406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>
                <a:solidFill>
                  <a:srgbClr val="FF5F05"/>
                </a:solidFill>
              </a:rPr>
              <a:t>Method</a:t>
            </a:r>
            <a:endParaRPr sz="3200"/>
          </a:p>
        </p:txBody>
      </p:sp>
      <p:sp>
        <p:nvSpPr>
          <p:cNvPr id="113" name="Google Shape;113;p19"/>
          <p:cNvSpPr txBox="1"/>
          <p:nvPr>
            <p:ph idx="1" type="body"/>
          </p:nvPr>
        </p:nvSpPr>
        <p:spPr>
          <a:xfrm>
            <a:off x="311700" y="1089300"/>
            <a:ext cx="8520600" cy="37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F5F0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■ </a:t>
            </a:r>
            <a:r>
              <a:rPr lang="en" sz="3200">
                <a:solidFill>
                  <a:srgbClr val="DF00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Modular Caption-then-Reason Approach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■ </a:t>
            </a:r>
            <a:r>
              <a:rPr lang="en" sz="2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Generate a description of observations from a finetuned open-source VLM (Qwen-VL-Chat)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■ </a:t>
            </a:r>
            <a:r>
              <a:rPr lang="en" sz="2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Then evaluation (s,a,x) by a LLM, such as Mixtral and GPT-4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■ </a:t>
            </a: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Advantage: explainability and low-cost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■ </a:t>
            </a:r>
            <a:r>
              <a:rPr lang="en" sz="2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Disadvantage: potentially weaker performance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4" name="Google Shape;114;p19"/>
          <p:cNvGrpSpPr/>
          <p:nvPr/>
        </p:nvGrpSpPr>
        <p:grpSpPr>
          <a:xfrm>
            <a:off x="0" y="4804800"/>
            <a:ext cx="6072000" cy="338700"/>
            <a:chOff x="0" y="4804800"/>
            <a:chExt cx="6072000" cy="338700"/>
          </a:xfrm>
        </p:grpSpPr>
        <p:sp>
          <p:nvSpPr>
            <p:cNvPr id="115" name="Google Shape;115;p19"/>
            <p:cNvSpPr txBox="1"/>
            <p:nvPr/>
          </p:nvSpPr>
          <p:spPr>
            <a:xfrm>
              <a:off x="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2/25/25</a:t>
              </a:r>
              <a:endParaRPr/>
            </a:p>
          </p:txBody>
        </p:sp>
        <p:sp>
          <p:nvSpPr>
            <p:cNvPr id="116" name="Google Shape;116;p19"/>
            <p:cNvSpPr txBox="1"/>
            <p:nvPr/>
          </p:nvSpPr>
          <p:spPr>
            <a:xfrm>
              <a:off x="307200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CS598: Topics in LLM Agents, Jiaxuan You</a:t>
              </a:r>
              <a:endParaRPr i="1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>
                <a:solidFill>
                  <a:srgbClr val="FF5F05"/>
                </a:solidFill>
              </a:rPr>
              <a:t>Method</a:t>
            </a:r>
            <a:endParaRPr sz="3200"/>
          </a:p>
        </p:txBody>
      </p:sp>
      <p:sp>
        <p:nvSpPr>
          <p:cNvPr id="122" name="Google Shape;122;p20"/>
          <p:cNvSpPr txBox="1"/>
          <p:nvPr>
            <p:ph idx="1" type="body"/>
          </p:nvPr>
        </p:nvSpPr>
        <p:spPr>
          <a:xfrm>
            <a:off x="311700" y="1152475"/>
            <a:ext cx="8520600" cy="37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F5F0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■ </a:t>
            </a:r>
            <a:r>
              <a:rPr lang="en" sz="3200">
                <a:solidFill>
                  <a:srgbClr val="DF00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Comparison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p20"/>
          <p:cNvGrpSpPr/>
          <p:nvPr/>
        </p:nvGrpSpPr>
        <p:grpSpPr>
          <a:xfrm>
            <a:off x="0" y="4804800"/>
            <a:ext cx="6072000" cy="338700"/>
            <a:chOff x="0" y="4804800"/>
            <a:chExt cx="6072000" cy="338700"/>
          </a:xfrm>
        </p:grpSpPr>
        <p:sp>
          <p:nvSpPr>
            <p:cNvPr id="124" name="Google Shape;124;p20"/>
            <p:cNvSpPr txBox="1"/>
            <p:nvPr/>
          </p:nvSpPr>
          <p:spPr>
            <a:xfrm>
              <a:off x="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2/25/25</a:t>
              </a:r>
              <a:endParaRPr/>
            </a:p>
          </p:txBody>
        </p:sp>
        <p:sp>
          <p:nvSpPr>
            <p:cNvPr id="125" name="Google Shape;125;p20"/>
            <p:cNvSpPr txBox="1"/>
            <p:nvPr/>
          </p:nvSpPr>
          <p:spPr>
            <a:xfrm>
              <a:off x="307200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CS598: Topics in LLM Agents, Jiaxuan You</a:t>
              </a:r>
              <a:endParaRPr i="1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6" name="Google Shape;126;p20"/>
          <p:cNvPicPr preferRelativeResize="0"/>
          <p:nvPr/>
        </p:nvPicPr>
        <p:blipFill rotWithShape="1">
          <a:blip r:embed="rId3">
            <a:alphaModFix/>
          </a:blip>
          <a:srcRect b="1320" l="2318" r="1877" t="1582"/>
          <a:stretch/>
        </p:blipFill>
        <p:spPr>
          <a:xfrm>
            <a:off x="2732475" y="1075950"/>
            <a:ext cx="4032387" cy="4067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>
                <a:solidFill>
                  <a:srgbClr val="FF5F05"/>
                </a:solidFill>
              </a:rPr>
              <a:t>Experiment</a:t>
            </a:r>
            <a:endParaRPr sz="3200"/>
          </a:p>
        </p:txBody>
      </p:sp>
      <p:sp>
        <p:nvSpPr>
          <p:cNvPr id="132" name="Google Shape;132;p21"/>
          <p:cNvSpPr txBox="1"/>
          <p:nvPr>
            <p:ph idx="1" type="body"/>
          </p:nvPr>
        </p:nvSpPr>
        <p:spPr>
          <a:xfrm>
            <a:off x="311700" y="1152475"/>
            <a:ext cx="8520600" cy="37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F5F0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■ </a:t>
            </a:r>
            <a:r>
              <a:rPr lang="en" sz="3200">
                <a:solidFill>
                  <a:srgbClr val="DF00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Environments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■</a:t>
            </a: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3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WebArena: an offline web emulation, 812 instructions, each with a test case that verifies success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■</a:t>
            </a: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3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Android-in-the-Wild (AitW) : using only 120 tasks sampled from its large test set. Additionally, implementing an Android emulator and use human judgements as the oracle evaluation.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■</a:t>
            </a: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3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iOS: curating 132 tasks in iOS based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an iOS emulator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3" name="Google Shape;133;p21"/>
          <p:cNvGrpSpPr/>
          <p:nvPr/>
        </p:nvGrpSpPr>
        <p:grpSpPr>
          <a:xfrm>
            <a:off x="0" y="4804800"/>
            <a:ext cx="6072000" cy="338700"/>
            <a:chOff x="0" y="4804800"/>
            <a:chExt cx="6072000" cy="338700"/>
          </a:xfrm>
        </p:grpSpPr>
        <p:sp>
          <p:nvSpPr>
            <p:cNvPr id="134" name="Google Shape;134;p21"/>
            <p:cNvSpPr txBox="1"/>
            <p:nvPr/>
          </p:nvSpPr>
          <p:spPr>
            <a:xfrm>
              <a:off x="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2/25/25</a:t>
              </a:r>
              <a:endParaRPr/>
            </a:p>
          </p:txBody>
        </p:sp>
        <p:sp>
          <p:nvSpPr>
            <p:cNvPr id="135" name="Google Shape;135;p21"/>
            <p:cNvSpPr txBox="1"/>
            <p:nvPr/>
          </p:nvSpPr>
          <p:spPr>
            <a:xfrm>
              <a:off x="307200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CS598: Topics in LLM Agents, Jiaxuan You</a:t>
              </a:r>
              <a:endParaRPr i="1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36" name="Google Shape;13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1325" y="256000"/>
            <a:ext cx="1980976" cy="145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1725" y="3696125"/>
            <a:ext cx="3145976" cy="135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>
                <a:solidFill>
                  <a:srgbClr val="FF5F05"/>
                </a:solidFill>
              </a:rPr>
              <a:t>Experiment</a:t>
            </a:r>
            <a:endParaRPr sz="3200"/>
          </a:p>
        </p:txBody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311700" y="1152475"/>
            <a:ext cx="8520600" cy="37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F5F0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■ </a:t>
            </a:r>
            <a:r>
              <a:rPr lang="en" sz="3200">
                <a:solidFill>
                  <a:srgbClr val="DF00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Automatic Evaluation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■</a:t>
            </a: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3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End-to-end method with GPT-4V aligns with human judgements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■</a:t>
            </a: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3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modular method is comparable to the end-to-end method with GPT-4V and better than Qwen-VL-Chat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p22"/>
          <p:cNvGrpSpPr/>
          <p:nvPr/>
        </p:nvGrpSpPr>
        <p:grpSpPr>
          <a:xfrm>
            <a:off x="0" y="4804800"/>
            <a:ext cx="6072000" cy="338700"/>
            <a:chOff x="0" y="4804800"/>
            <a:chExt cx="6072000" cy="338700"/>
          </a:xfrm>
        </p:grpSpPr>
        <p:sp>
          <p:nvSpPr>
            <p:cNvPr id="145" name="Google Shape;145;p22"/>
            <p:cNvSpPr txBox="1"/>
            <p:nvPr/>
          </p:nvSpPr>
          <p:spPr>
            <a:xfrm>
              <a:off x="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2/25/25</a:t>
              </a:r>
              <a:endParaRPr/>
            </a:p>
          </p:txBody>
        </p:sp>
        <p:sp>
          <p:nvSpPr>
            <p:cNvPr id="146" name="Google Shape;146;p22"/>
            <p:cNvSpPr txBox="1"/>
            <p:nvPr/>
          </p:nvSpPr>
          <p:spPr>
            <a:xfrm>
              <a:off x="307200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CS598: Topics in LLM Agents, Jiaxuan You</a:t>
              </a:r>
              <a:endParaRPr i="1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47" name="Google Shape;14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475" y="3482000"/>
            <a:ext cx="8092851" cy="116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>
                <a:solidFill>
                  <a:srgbClr val="FF5F05"/>
                </a:solidFill>
              </a:rPr>
              <a:t>Experiment</a:t>
            </a:r>
            <a:endParaRPr sz="3200"/>
          </a:p>
        </p:txBody>
      </p:sp>
      <p:sp>
        <p:nvSpPr>
          <p:cNvPr id="153" name="Google Shape;153;p23"/>
          <p:cNvSpPr txBox="1"/>
          <p:nvPr>
            <p:ph idx="1" type="body"/>
          </p:nvPr>
        </p:nvSpPr>
        <p:spPr>
          <a:xfrm>
            <a:off x="311700" y="1152475"/>
            <a:ext cx="8520600" cy="37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F5F0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■ </a:t>
            </a:r>
            <a:r>
              <a:rPr lang="en" sz="3200">
                <a:solidFill>
                  <a:srgbClr val="DF00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Automatic Evaluation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■</a:t>
            </a: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3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Human reference trajectories are the best on all metrics, with still 36% unsuccessful trajectories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■</a:t>
            </a: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3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Real success rate lag behind reference-based single-step evaluation score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4" name="Google Shape;154;p23"/>
          <p:cNvGrpSpPr/>
          <p:nvPr/>
        </p:nvGrpSpPr>
        <p:grpSpPr>
          <a:xfrm>
            <a:off x="0" y="4804800"/>
            <a:ext cx="6072000" cy="338700"/>
            <a:chOff x="0" y="4804800"/>
            <a:chExt cx="6072000" cy="338700"/>
          </a:xfrm>
        </p:grpSpPr>
        <p:sp>
          <p:nvSpPr>
            <p:cNvPr id="155" name="Google Shape;155;p23"/>
            <p:cNvSpPr txBox="1"/>
            <p:nvPr/>
          </p:nvSpPr>
          <p:spPr>
            <a:xfrm>
              <a:off x="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2/25/25</a:t>
              </a:r>
              <a:endParaRPr/>
            </a:p>
          </p:txBody>
        </p:sp>
        <p:sp>
          <p:nvSpPr>
            <p:cNvPr id="156" name="Google Shape;156;p23"/>
            <p:cNvSpPr txBox="1"/>
            <p:nvPr/>
          </p:nvSpPr>
          <p:spPr>
            <a:xfrm>
              <a:off x="307200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CS598: Topics in LLM Agents, Jiaxuan You</a:t>
              </a:r>
              <a:endParaRPr i="1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57" name="Google Shape;157;p23"/>
          <p:cNvPicPr preferRelativeResize="0"/>
          <p:nvPr/>
        </p:nvPicPr>
        <p:blipFill rotWithShape="1">
          <a:blip r:embed="rId3">
            <a:alphaModFix/>
          </a:blip>
          <a:srcRect b="0" l="0" r="0" t="4452"/>
          <a:stretch/>
        </p:blipFill>
        <p:spPr>
          <a:xfrm>
            <a:off x="3025250" y="3331826"/>
            <a:ext cx="3046749" cy="1811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>
                <a:solidFill>
                  <a:srgbClr val="FF5F05"/>
                </a:solidFill>
              </a:rPr>
              <a:t>Experiment</a:t>
            </a:r>
            <a:endParaRPr sz="3200"/>
          </a:p>
        </p:txBody>
      </p:sp>
      <p:sp>
        <p:nvSpPr>
          <p:cNvPr id="163" name="Google Shape;163;p24"/>
          <p:cNvSpPr txBox="1"/>
          <p:nvPr>
            <p:ph idx="1" type="body"/>
          </p:nvPr>
        </p:nvSpPr>
        <p:spPr>
          <a:xfrm>
            <a:off x="311700" y="1152475"/>
            <a:ext cx="8520600" cy="37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F5F0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■ </a:t>
            </a:r>
            <a:r>
              <a:rPr lang="en" sz="3200">
                <a:solidFill>
                  <a:srgbClr val="DF00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Automatic Refinement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■</a:t>
            </a: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3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Reflexion on WebArena: guide the agent to reflect and retry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■</a:t>
            </a: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3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Filtered BC for iOS and Android: filter collected data (according to step-wise evaluation) for behavior cloning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4" name="Google Shape;164;p24"/>
          <p:cNvGrpSpPr/>
          <p:nvPr/>
        </p:nvGrpSpPr>
        <p:grpSpPr>
          <a:xfrm>
            <a:off x="0" y="4804800"/>
            <a:ext cx="6072000" cy="338700"/>
            <a:chOff x="0" y="4804800"/>
            <a:chExt cx="6072000" cy="338700"/>
          </a:xfrm>
        </p:grpSpPr>
        <p:sp>
          <p:nvSpPr>
            <p:cNvPr id="165" name="Google Shape;165;p24"/>
            <p:cNvSpPr txBox="1"/>
            <p:nvPr/>
          </p:nvSpPr>
          <p:spPr>
            <a:xfrm>
              <a:off x="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2/25/25</a:t>
              </a:r>
              <a:endParaRPr/>
            </a:p>
          </p:txBody>
        </p:sp>
        <p:sp>
          <p:nvSpPr>
            <p:cNvPr id="166" name="Google Shape;166;p24"/>
            <p:cNvSpPr txBox="1"/>
            <p:nvPr/>
          </p:nvSpPr>
          <p:spPr>
            <a:xfrm>
              <a:off x="307200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CS598: Topics in LLM Agents, Jiaxuan You</a:t>
              </a:r>
              <a:endParaRPr i="1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67" name="Google Shape;16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75" y="3103000"/>
            <a:ext cx="3220274" cy="2040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9550" y="3482600"/>
            <a:ext cx="5528748" cy="116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>
                <a:solidFill>
                  <a:srgbClr val="FF5F05"/>
                </a:solidFill>
              </a:rPr>
              <a:t>Experiment</a:t>
            </a:r>
            <a:endParaRPr sz="3200"/>
          </a:p>
        </p:txBody>
      </p:sp>
      <p:sp>
        <p:nvSpPr>
          <p:cNvPr id="174" name="Google Shape;174;p25"/>
          <p:cNvSpPr txBox="1"/>
          <p:nvPr>
            <p:ph idx="1" type="body"/>
          </p:nvPr>
        </p:nvSpPr>
        <p:spPr>
          <a:xfrm>
            <a:off x="342325" y="1121850"/>
            <a:ext cx="8520600" cy="37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F5F0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■ </a:t>
            </a:r>
            <a:r>
              <a:rPr lang="en" sz="3200">
                <a:solidFill>
                  <a:srgbClr val="DF00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Error Analysis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■</a:t>
            </a: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3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Reasoning error (main part): 50% for GPT-4V and GPT-4-based method; 70% for Mixtral-Captioner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■</a:t>
            </a: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3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Information lost from captions (10%); Screenshot understanding error in GPT-4V (5%)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■</a:t>
            </a: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3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Ambiguities in task specification and success criteria: 30% for GPT-4V/GPT-4-based methods and 10% for Mixtral-Captioner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■</a:t>
            </a: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3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False positive: 10% incorrect reasoning from correct trajectories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5" name="Google Shape;175;p25"/>
          <p:cNvGrpSpPr/>
          <p:nvPr/>
        </p:nvGrpSpPr>
        <p:grpSpPr>
          <a:xfrm>
            <a:off x="0" y="4804800"/>
            <a:ext cx="6072000" cy="338700"/>
            <a:chOff x="0" y="4804800"/>
            <a:chExt cx="6072000" cy="338700"/>
          </a:xfrm>
        </p:grpSpPr>
        <p:sp>
          <p:nvSpPr>
            <p:cNvPr id="176" name="Google Shape;176;p25"/>
            <p:cNvSpPr txBox="1"/>
            <p:nvPr/>
          </p:nvSpPr>
          <p:spPr>
            <a:xfrm>
              <a:off x="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2/25/25</a:t>
              </a:r>
              <a:endParaRPr/>
            </a:p>
          </p:txBody>
        </p:sp>
        <p:sp>
          <p:nvSpPr>
            <p:cNvPr id="177" name="Google Shape;177;p25"/>
            <p:cNvSpPr txBox="1"/>
            <p:nvPr/>
          </p:nvSpPr>
          <p:spPr>
            <a:xfrm>
              <a:off x="307200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CS598: Topics in LLM Agents, Jiaxuan You</a:t>
              </a:r>
              <a:endParaRPr i="1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>
                <a:solidFill>
                  <a:srgbClr val="FF5F05"/>
                </a:solidFill>
              </a:rPr>
              <a:t>Summary and Future work</a:t>
            </a:r>
            <a:endParaRPr sz="3200"/>
          </a:p>
        </p:txBody>
      </p:sp>
      <p:sp>
        <p:nvSpPr>
          <p:cNvPr id="183" name="Google Shape;183;p26"/>
          <p:cNvSpPr txBox="1"/>
          <p:nvPr>
            <p:ph idx="1" type="body"/>
          </p:nvPr>
        </p:nvSpPr>
        <p:spPr>
          <a:xfrm>
            <a:off x="311700" y="1152475"/>
            <a:ext cx="8520600" cy="37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F5F0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■ </a:t>
            </a:r>
            <a:r>
              <a:rPr lang="en" sz="3200">
                <a:solidFill>
                  <a:srgbClr val="DF00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■</a:t>
            </a: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3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Autonomous evaluation of digital agents is achievable and aligns with human evaluation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■</a:t>
            </a: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3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Autonomous refinement contributes to the agent performance</a:t>
            </a: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</a:t>
            </a:r>
            <a:endParaRPr sz="2400">
              <a:solidFill>
                <a:srgbClr val="FF5F05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■ </a:t>
            </a:r>
            <a:r>
              <a:rPr lang="en" sz="3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■</a:t>
            </a: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3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Improve the robustness of autonomous evaluation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■</a:t>
            </a: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3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Leverage the language critic rather than the evaluation score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4" name="Google Shape;184;p26"/>
          <p:cNvGrpSpPr/>
          <p:nvPr/>
        </p:nvGrpSpPr>
        <p:grpSpPr>
          <a:xfrm>
            <a:off x="0" y="4804800"/>
            <a:ext cx="6072000" cy="338700"/>
            <a:chOff x="0" y="4804800"/>
            <a:chExt cx="6072000" cy="338700"/>
          </a:xfrm>
        </p:grpSpPr>
        <p:sp>
          <p:nvSpPr>
            <p:cNvPr id="185" name="Google Shape;185;p26"/>
            <p:cNvSpPr txBox="1"/>
            <p:nvPr/>
          </p:nvSpPr>
          <p:spPr>
            <a:xfrm>
              <a:off x="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2/25/25</a:t>
              </a:r>
              <a:endParaRPr/>
            </a:p>
          </p:txBody>
        </p:sp>
        <p:sp>
          <p:nvSpPr>
            <p:cNvPr id="186" name="Google Shape;186;p26"/>
            <p:cNvSpPr txBox="1"/>
            <p:nvPr/>
          </p:nvSpPr>
          <p:spPr>
            <a:xfrm>
              <a:off x="307200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CS598: Topics in LLM Agents, Jiaxuan You</a:t>
              </a:r>
              <a:endParaRPr i="1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 txBox="1"/>
          <p:nvPr>
            <p:ph type="ctrTitle"/>
          </p:nvPr>
        </p:nvSpPr>
        <p:spPr>
          <a:xfrm>
            <a:off x="311708" y="3026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b="1" lang="en" sz="3600">
                <a:solidFill>
                  <a:srgbClr val="FF5F05"/>
                </a:solidFill>
              </a:rPr>
              <a:t>Chatbot Arena</a:t>
            </a:r>
            <a:r>
              <a:rPr lang="en" sz="3600">
                <a:solidFill>
                  <a:srgbClr val="FF5F05"/>
                </a:solidFill>
              </a:rPr>
              <a:t>: An Open Platform for Evaluating LLMs by Human Preference</a:t>
            </a:r>
            <a:endParaRPr b="1" sz="3600">
              <a:solidFill>
                <a:srgbClr val="FF9900"/>
              </a:solidFill>
            </a:endParaRPr>
          </a:p>
        </p:txBody>
      </p:sp>
      <p:sp>
        <p:nvSpPr>
          <p:cNvPr id="192" name="Google Shape;192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Rui Pan</a:t>
            </a:r>
            <a:endParaRPr sz="3200"/>
          </a:p>
        </p:txBody>
      </p:sp>
      <p:pic>
        <p:nvPicPr>
          <p:cNvPr id="193" name="Google Shape;19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0975" y="2757738"/>
            <a:ext cx="945375" cy="94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7"/>
          <p:cNvSpPr txBox="1"/>
          <p:nvPr/>
        </p:nvSpPr>
        <p:spPr>
          <a:xfrm>
            <a:off x="1399650" y="3688650"/>
            <a:ext cx="6344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CS598:  Topics in LLM Agents, 2025 Spring</a:t>
            </a:r>
            <a:endParaRPr sz="2800"/>
          </a:p>
        </p:txBody>
      </p:sp>
      <p:sp>
        <p:nvSpPr>
          <p:cNvPr id="195" name="Google Shape;195;p27"/>
          <p:cNvSpPr txBox="1"/>
          <p:nvPr/>
        </p:nvSpPr>
        <p:spPr>
          <a:xfrm>
            <a:off x="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2/25/25</a:t>
            </a:r>
            <a:endParaRPr/>
          </a:p>
        </p:txBody>
      </p:sp>
      <p:sp>
        <p:nvSpPr>
          <p:cNvPr id="196" name="Google Shape;196;p27"/>
          <p:cNvSpPr txBox="1"/>
          <p:nvPr/>
        </p:nvSpPr>
        <p:spPr>
          <a:xfrm>
            <a:off x="307200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CS598: Topics in LLM Agents, Jiaxuan You</a:t>
            </a:r>
            <a:endParaRPr i="1" sz="1000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>
                <a:solidFill>
                  <a:srgbClr val="FF5F05"/>
                </a:solidFill>
              </a:rPr>
              <a:t>Introduction &amp; Background</a:t>
            </a:r>
            <a:endParaRPr sz="3200"/>
          </a:p>
        </p:txBody>
      </p:sp>
      <p:sp>
        <p:nvSpPr>
          <p:cNvPr id="202" name="Google Shape;202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■ </a:t>
            </a:r>
            <a:r>
              <a:rPr lang="en" sz="24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Static: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Data contamination, overfitting, saturation, …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■ </a:t>
            </a:r>
            <a:r>
              <a:rPr lang="en" sz="24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Ground Truth</a:t>
            </a: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 to certain domains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3" name="Google Shape;203;p28"/>
          <p:cNvGrpSpPr/>
          <p:nvPr/>
        </p:nvGrpSpPr>
        <p:grpSpPr>
          <a:xfrm>
            <a:off x="0" y="4804800"/>
            <a:ext cx="6072000" cy="338700"/>
            <a:chOff x="0" y="4804800"/>
            <a:chExt cx="6072000" cy="338700"/>
          </a:xfrm>
        </p:grpSpPr>
        <p:sp>
          <p:nvSpPr>
            <p:cNvPr id="204" name="Google Shape;204;p28"/>
            <p:cNvSpPr txBox="1"/>
            <p:nvPr/>
          </p:nvSpPr>
          <p:spPr>
            <a:xfrm>
              <a:off x="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2/25/25</a:t>
              </a:r>
              <a:endParaRPr/>
            </a:p>
          </p:txBody>
        </p:sp>
        <p:sp>
          <p:nvSpPr>
            <p:cNvPr id="205" name="Google Shape;205;p28"/>
            <p:cNvSpPr txBox="1"/>
            <p:nvPr/>
          </p:nvSpPr>
          <p:spPr>
            <a:xfrm>
              <a:off x="307200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CS598: Topics in LLM Agents, Jiaxuan You</a:t>
              </a:r>
              <a:endParaRPr i="1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06" name="Google Shape;206;p28"/>
          <p:cNvPicPr preferRelativeResize="0"/>
          <p:nvPr/>
        </p:nvPicPr>
        <p:blipFill rotWithShape="1">
          <a:blip r:embed="rId3">
            <a:alphaModFix/>
          </a:blip>
          <a:srcRect b="47824" l="0" r="0" t="0"/>
          <a:stretch/>
        </p:blipFill>
        <p:spPr>
          <a:xfrm>
            <a:off x="919125" y="2800350"/>
            <a:ext cx="7305750" cy="148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>
                <a:solidFill>
                  <a:srgbClr val="FF5F05"/>
                </a:solidFill>
              </a:rPr>
              <a:t>Introduction &amp; Background</a:t>
            </a:r>
            <a:endParaRPr sz="3200"/>
          </a:p>
        </p:txBody>
      </p:sp>
      <p:sp>
        <p:nvSpPr>
          <p:cNvPr id="212" name="Google Shape;212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■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 users &amp; models</a:t>
            </a:r>
            <a:endParaRPr sz="2400">
              <a:solidFill>
                <a:srgbClr val="FF5F05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■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Multi-lingual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■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Long conversations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200">
              <a:solidFill>
                <a:srgbClr val="FF5F0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13" name="Google Shape;213;p29"/>
          <p:cNvGrpSpPr/>
          <p:nvPr/>
        </p:nvGrpSpPr>
        <p:grpSpPr>
          <a:xfrm>
            <a:off x="0" y="4804800"/>
            <a:ext cx="6072000" cy="338700"/>
            <a:chOff x="0" y="4804800"/>
            <a:chExt cx="6072000" cy="338700"/>
          </a:xfrm>
        </p:grpSpPr>
        <p:sp>
          <p:nvSpPr>
            <p:cNvPr id="214" name="Google Shape;214;p29"/>
            <p:cNvSpPr txBox="1"/>
            <p:nvPr/>
          </p:nvSpPr>
          <p:spPr>
            <a:xfrm>
              <a:off x="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2/25/25</a:t>
              </a:r>
              <a:endParaRPr/>
            </a:p>
          </p:txBody>
        </p:sp>
        <p:sp>
          <p:nvSpPr>
            <p:cNvPr id="215" name="Google Shape;215;p29"/>
            <p:cNvSpPr txBox="1"/>
            <p:nvPr/>
          </p:nvSpPr>
          <p:spPr>
            <a:xfrm>
              <a:off x="307200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CS598: Topics in LLM Agents, Jiaxuan You</a:t>
              </a:r>
              <a:endParaRPr i="1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16" name="Google Shape;21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150" y="2945117"/>
            <a:ext cx="9144001" cy="1810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>
                <a:solidFill>
                  <a:srgbClr val="FF5F05"/>
                </a:solidFill>
              </a:rPr>
              <a:t>Methods - Basics</a:t>
            </a:r>
            <a:endParaRPr sz="3200"/>
          </a:p>
        </p:txBody>
      </p:sp>
      <p:sp>
        <p:nvSpPr>
          <p:cNvPr id="222" name="Google Shape;222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F5F0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■ </a:t>
            </a: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Battle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pairwise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model comparison via </a:t>
            </a:r>
            <a:r>
              <a:rPr lang="en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human voting</a:t>
            </a:r>
            <a:endParaRPr sz="24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5F0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■ </a:t>
            </a:r>
            <a:r>
              <a:rPr lang="en" sz="2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Free-to-use platform</a:t>
            </a:r>
            <a:endParaRPr sz="2200">
              <a:solidFill>
                <a:srgbClr val="FF5F0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5F0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   ■ </a:t>
            </a:r>
            <a:r>
              <a:rPr lang="en" sz="2200">
                <a:solidFill>
                  <a:srgbClr val="DF00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Anonymous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■ </a:t>
            </a:r>
            <a:r>
              <a:rPr lang="en" sz="2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Randomized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■ </a:t>
            </a:r>
            <a:r>
              <a:rPr lang="en" sz="2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identity is unknown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3" name="Google Shape;223;p30"/>
          <p:cNvGrpSpPr/>
          <p:nvPr/>
        </p:nvGrpSpPr>
        <p:grpSpPr>
          <a:xfrm>
            <a:off x="0" y="4804800"/>
            <a:ext cx="6072000" cy="338700"/>
            <a:chOff x="0" y="4804800"/>
            <a:chExt cx="6072000" cy="338700"/>
          </a:xfrm>
        </p:grpSpPr>
        <p:sp>
          <p:nvSpPr>
            <p:cNvPr id="224" name="Google Shape;224;p30"/>
            <p:cNvSpPr txBox="1"/>
            <p:nvPr/>
          </p:nvSpPr>
          <p:spPr>
            <a:xfrm>
              <a:off x="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2/25/25</a:t>
              </a:r>
              <a:endParaRPr/>
            </a:p>
          </p:txBody>
        </p:sp>
        <p:sp>
          <p:nvSpPr>
            <p:cNvPr id="225" name="Google Shape;225;p30"/>
            <p:cNvSpPr txBox="1"/>
            <p:nvPr/>
          </p:nvSpPr>
          <p:spPr>
            <a:xfrm>
              <a:off x="307200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CS598: Topics in LLM Agents, Jiaxuan You</a:t>
              </a:r>
              <a:endParaRPr i="1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31"/>
          <p:cNvGrpSpPr/>
          <p:nvPr/>
        </p:nvGrpSpPr>
        <p:grpSpPr>
          <a:xfrm>
            <a:off x="0" y="4804800"/>
            <a:ext cx="6072000" cy="338700"/>
            <a:chOff x="0" y="4804800"/>
            <a:chExt cx="6072000" cy="338700"/>
          </a:xfrm>
        </p:grpSpPr>
        <p:sp>
          <p:nvSpPr>
            <p:cNvPr id="231" name="Google Shape;231;p31"/>
            <p:cNvSpPr txBox="1"/>
            <p:nvPr/>
          </p:nvSpPr>
          <p:spPr>
            <a:xfrm>
              <a:off x="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2/25/25</a:t>
              </a:r>
              <a:endParaRPr/>
            </a:p>
          </p:txBody>
        </p:sp>
        <p:sp>
          <p:nvSpPr>
            <p:cNvPr id="232" name="Google Shape;232;p31"/>
            <p:cNvSpPr txBox="1"/>
            <p:nvPr/>
          </p:nvSpPr>
          <p:spPr>
            <a:xfrm>
              <a:off x="307200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CS598: Topics in LLM Agents, Jiaxuan You</a:t>
              </a:r>
              <a:endParaRPr i="1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33" name="Google Shape;23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2199" y="141430"/>
            <a:ext cx="6072000" cy="4663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oogle Shape;238;p32"/>
          <p:cNvGrpSpPr/>
          <p:nvPr/>
        </p:nvGrpSpPr>
        <p:grpSpPr>
          <a:xfrm>
            <a:off x="0" y="4804800"/>
            <a:ext cx="6072000" cy="338700"/>
            <a:chOff x="0" y="4804800"/>
            <a:chExt cx="6072000" cy="338700"/>
          </a:xfrm>
        </p:grpSpPr>
        <p:sp>
          <p:nvSpPr>
            <p:cNvPr id="239" name="Google Shape;239;p32"/>
            <p:cNvSpPr txBox="1"/>
            <p:nvPr/>
          </p:nvSpPr>
          <p:spPr>
            <a:xfrm>
              <a:off x="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2/25/25</a:t>
              </a:r>
              <a:endParaRPr/>
            </a:p>
          </p:txBody>
        </p:sp>
        <p:sp>
          <p:nvSpPr>
            <p:cNvPr id="240" name="Google Shape;240;p32"/>
            <p:cNvSpPr txBox="1"/>
            <p:nvPr/>
          </p:nvSpPr>
          <p:spPr>
            <a:xfrm>
              <a:off x="307200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CS598: Topics in LLM Agents, Jiaxuan You</a:t>
              </a:r>
              <a:endParaRPr i="1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1" name="Google Shape;241;p32"/>
          <p:cNvSpPr txBox="1"/>
          <p:nvPr>
            <p:ph idx="1" type="body"/>
          </p:nvPr>
        </p:nvSpPr>
        <p:spPr>
          <a:xfrm>
            <a:off x="311700" y="4067375"/>
            <a:ext cx="8520600" cy="13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5F0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■</a:t>
            </a:r>
            <a:r>
              <a:rPr lang="en" sz="3200">
                <a:solidFill>
                  <a:srgbClr val="FF5F0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3200">
                <a:solidFill>
                  <a:srgbClr val="DF00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Rankings until Feb. 22, 2025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6704"/>
            <a:ext cx="9144003" cy="377279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2"/>
          <p:cNvSpPr/>
          <p:nvPr/>
        </p:nvSpPr>
        <p:spPr>
          <a:xfrm rot="199839">
            <a:off x="1618707" y="3855496"/>
            <a:ext cx="7259966" cy="51530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EA9999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DF000F"/>
                </a:solidFill>
                <a:latin typeface="Caveat"/>
              </a:rPr>
              <a:t>How to compute the Rank and Score?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>
                <a:solidFill>
                  <a:srgbClr val="FF5F05"/>
                </a:solidFill>
              </a:rPr>
              <a:t>Methods - Algorithm</a:t>
            </a:r>
            <a:endParaRPr sz="3200"/>
          </a:p>
        </p:txBody>
      </p:sp>
      <p:sp>
        <p:nvSpPr>
          <p:cNvPr id="249" name="Google Shape;249;p33"/>
          <p:cNvSpPr txBox="1"/>
          <p:nvPr>
            <p:ph idx="1" type="body"/>
          </p:nvPr>
        </p:nvSpPr>
        <p:spPr>
          <a:xfrm>
            <a:off x="311700" y="1152475"/>
            <a:ext cx="8520600" cy="393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■ </a:t>
            </a:r>
            <a:r>
              <a:rPr lang="en" sz="3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Assumptions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5F0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   ■</a:t>
            </a:r>
            <a:r>
              <a:rPr lang="en" sz="3200">
                <a:solidFill>
                  <a:srgbClr val="FF5F0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3200">
                <a:solidFill>
                  <a:srgbClr val="DF00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There is a score 𝝃</a:t>
            </a:r>
            <a:r>
              <a:rPr baseline="-25000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for each model m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■</a:t>
            </a: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3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Win-rate of m against m’ satisfies Bradley-Terry (BT) model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with human voting H</a:t>
            </a:r>
            <a:r>
              <a:rPr baseline="-25000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0, 1</a:t>
            </a:r>
            <a:endParaRPr baseline="-25000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0" name="Google Shape;250;p33"/>
          <p:cNvGrpSpPr/>
          <p:nvPr/>
        </p:nvGrpSpPr>
        <p:grpSpPr>
          <a:xfrm>
            <a:off x="0" y="4804800"/>
            <a:ext cx="6072000" cy="338700"/>
            <a:chOff x="0" y="4804800"/>
            <a:chExt cx="6072000" cy="338700"/>
          </a:xfrm>
        </p:grpSpPr>
        <p:sp>
          <p:nvSpPr>
            <p:cNvPr id="251" name="Google Shape;251;p33"/>
            <p:cNvSpPr txBox="1"/>
            <p:nvPr/>
          </p:nvSpPr>
          <p:spPr>
            <a:xfrm>
              <a:off x="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2/25/25</a:t>
              </a:r>
              <a:endParaRPr/>
            </a:p>
          </p:txBody>
        </p:sp>
        <p:sp>
          <p:nvSpPr>
            <p:cNvPr id="252" name="Google Shape;252;p33"/>
            <p:cNvSpPr txBox="1"/>
            <p:nvPr/>
          </p:nvSpPr>
          <p:spPr>
            <a:xfrm>
              <a:off x="307200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CS598: Topics in LLM Agents, Jiaxuan You</a:t>
              </a:r>
              <a:endParaRPr i="1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53" name="Google Shape;25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9125" y="2792175"/>
            <a:ext cx="4991100" cy="8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>
                <a:solidFill>
                  <a:srgbClr val="FF5F05"/>
                </a:solidFill>
              </a:rPr>
              <a:t>Methods -</a:t>
            </a:r>
            <a:r>
              <a:rPr lang="en" sz="3200">
                <a:solidFill>
                  <a:srgbClr val="FF5F05"/>
                </a:solidFill>
              </a:rPr>
              <a:t> </a:t>
            </a:r>
            <a:r>
              <a:rPr lang="en" sz="3200">
                <a:solidFill>
                  <a:srgbClr val="FF5F05"/>
                </a:solidFill>
              </a:rPr>
              <a:t>Algorithm</a:t>
            </a:r>
            <a:endParaRPr sz="3200"/>
          </a:p>
        </p:txBody>
      </p:sp>
      <p:sp>
        <p:nvSpPr>
          <p:cNvPr id="259" name="Google Shape;259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■ </a:t>
            </a:r>
            <a:r>
              <a:rPr lang="en" sz="3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Scoring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0" name="Google Shape;260;p34"/>
          <p:cNvGrpSpPr/>
          <p:nvPr/>
        </p:nvGrpSpPr>
        <p:grpSpPr>
          <a:xfrm>
            <a:off x="0" y="4804800"/>
            <a:ext cx="6072000" cy="338700"/>
            <a:chOff x="0" y="4804800"/>
            <a:chExt cx="6072000" cy="338700"/>
          </a:xfrm>
        </p:grpSpPr>
        <p:sp>
          <p:nvSpPr>
            <p:cNvPr id="261" name="Google Shape;261;p34"/>
            <p:cNvSpPr txBox="1"/>
            <p:nvPr/>
          </p:nvSpPr>
          <p:spPr>
            <a:xfrm>
              <a:off x="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2/25/25</a:t>
              </a:r>
              <a:endParaRPr/>
            </a:p>
          </p:txBody>
        </p:sp>
        <p:sp>
          <p:nvSpPr>
            <p:cNvPr id="262" name="Google Shape;262;p34"/>
            <p:cNvSpPr txBox="1"/>
            <p:nvPr/>
          </p:nvSpPr>
          <p:spPr>
            <a:xfrm>
              <a:off x="307200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CS598: Topics in LLM Agents, Jiaxuan You</a:t>
              </a:r>
              <a:endParaRPr i="1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3" name="Google Shape;263;p34"/>
          <p:cNvSpPr/>
          <p:nvPr/>
        </p:nvSpPr>
        <p:spPr>
          <a:xfrm rot="199839">
            <a:off x="384192" y="3997534"/>
            <a:ext cx="6093247" cy="42150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B6D7A8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6AA84F"/>
                </a:solidFill>
                <a:latin typeface="Caveat"/>
              </a:rPr>
              <a:t>Maximum Likelihood Estimation</a:t>
            </a:r>
          </a:p>
        </p:txBody>
      </p:sp>
      <p:pic>
        <p:nvPicPr>
          <p:cNvPr id="264" name="Google Shape;26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4475" y="1847850"/>
            <a:ext cx="6419850" cy="17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>
                <a:solidFill>
                  <a:srgbClr val="FF5F05"/>
                </a:solidFill>
              </a:rPr>
              <a:t>Methods - Algorithm</a:t>
            </a:r>
            <a:endParaRPr sz="3200"/>
          </a:p>
        </p:txBody>
      </p:sp>
      <p:sp>
        <p:nvSpPr>
          <p:cNvPr id="270" name="Google Shape;270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■ </a:t>
            </a:r>
            <a:r>
              <a:rPr lang="en" sz="3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Efficient Sampling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1" name="Google Shape;271;p35"/>
          <p:cNvGrpSpPr/>
          <p:nvPr/>
        </p:nvGrpSpPr>
        <p:grpSpPr>
          <a:xfrm>
            <a:off x="0" y="4804800"/>
            <a:ext cx="6072000" cy="338700"/>
            <a:chOff x="0" y="4804800"/>
            <a:chExt cx="6072000" cy="338700"/>
          </a:xfrm>
        </p:grpSpPr>
        <p:sp>
          <p:nvSpPr>
            <p:cNvPr id="272" name="Google Shape;272;p35"/>
            <p:cNvSpPr txBox="1"/>
            <p:nvPr/>
          </p:nvSpPr>
          <p:spPr>
            <a:xfrm>
              <a:off x="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2/25/25</a:t>
              </a:r>
              <a:endParaRPr/>
            </a:p>
          </p:txBody>
        </p:sp>
        <p:sp>
          <p:nvSpPr>
            <p:cNvPr id="273" name="Google Shape;273;p35"/>
            <p:cNvSpPr txBox="1"/>
            <p:nvPr/>
          </p:nvSpPr>
          <p:spPr>
            <a:xfrm>
              <a:off x="307200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CS598: Topics in LLM Agents, Jiaxuan You</a:t>
              </a:r>
              <a:endParaRPr i="1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74" name="Google Shape;27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0725" y="1659000"/>
            <a:ext cx="67056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35"/>
          <p:cNvPicPr preferRelativeResize="0"/>
          <p:nvPr/>
        </p:nvPicPr>
        <p:blipFill rotWithShape="1">
          <a:blip r:embed="rId4">
            <a:alphaModFix/>
          </a:blip>
          <a:srcRect b="22015" l="0" r="0" t="0"/>
          <a:stretch/>
        </p:blipFill>
        <p:spPr>
          <a:xfrm>
            <a:off x="2781300" y="3841500"/>
            <a:ext cx="6362700" cy="90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5"/>
          <p:cNvSpPr/>
          <p:nvPr/>
        </p:nvSpPr>
        <p:spPr>
          <a:xfrm rot="199839">
            <a:off x="3549518" y="1310769"/>
            <a:ext cx="5461274" cy="42951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B6D7A8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6AA84F"/>
                </a:solidFill>
                <a:latin typeface="Caveat"/>
              </a:rPr>
              <a:t>Main Idea: Reduce Variance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>
                <a:solidFill>
                  <a:srgbClr val="FF5F05"/>
                </a:solidFill>
              </a:rPr>
              <a:t>Methods - Algorithm</a:t>
            </a:r>
            <a:endParaRPr sz="3200"/>
          </a:p>
        </p:txBody>
      </p:sp>
      <p:sp>
        <p:nvSpPr>
          <p:cNvPr id="282" name="Google Shape;282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■ </a:t>
            </a:r>
            <a:r>
              <a:rPr lang="en" sz="3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Ranking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3" name="Google Shape;283;p36"/>
          <p:cNvGrpSpPr/>
          <p:nvPr/>
        </p:nvGrpSpPr>
        <p:grpSpPr>
          <a:xfrm>
            <a:off x="0" y="4804800"/>
            <a:ext cx="6072000" cy="338700"/>
            <a:chOff x="0" y="4804800"/>
            <a:chExt cx="6072000" cy="338700"/>
          </a:xfrm>
        </p:grpSpPr>
        <p:sp>
          <p:nvSpPr>
            <p:cNvPr id="284" name="Google Shape;284;p36"/>
            <p:cNvSpPr txBox="1"/>
            <p:nvPr/>
          </p:nvSpPr>
          <p:spPr>
            <a:xfrm>
              <a:off x="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2/25/25</a:t>
              </a:r>
              <a:endParaRPr/>
            </a:p>
          </p:txBody>
        </p:sp>
        <p:sp>
          <p:nvSpPr>
            <p:cNvPr id="285" name="Google Shape;285;p36"/>
            <p:cNvSpPr txBox="1"/>
            <p:nvPr/>
          </p:nvSpPr>
          <p:spPr>
            <a:xfrm>
              <a:off x="307200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CS598: Topics in LLM Agents, Jiaxuan You</a:t>
              </a:r>
              <a:endParaRPr i="1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86" name="Google Shape;28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5200" y="1843775"/>
            <a:ext cx="6438900" cy="211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6"/>
          <p:cNvPicPr preferRelativeResize="0"/>
          <p:nvPr/>
        </p:nvPicPr>
        <p:blipFill rotWithShape="1">
          <a:blip r:embed="rId4">
            <a:alphaModFix/>
          </a:blip>
          <a:srcRect b="82926" l="45304" r="21131" t="0"/>
          <a:stretch/>
        </p:blipFill>
        <p:spPr>
          <a:xfrm>
            <a:off x="4999925" y="3958325"/>
            <a:ext cx="3528202" cy="740501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6"/>
          <p:cNvSpPr/>
          <p:nvPr/>
        </p:nvSpPr>
        <p:spPr>
          <a:xfrm>
            <a:off x="6295325" y="4080975"/>
            <a:ext cx="691200" cy="338700"/>
          </a:xfrm>
          <a:prstGeom prst="rect">
            <a:avLst/>
          </a:prstGeom>
          <a:noFill/>
          <a:ln cap="flat" cmpd="sng" w="9525">
            <a:solidFill>
              <a:srgbClr val="DF00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6"/>
          <p:cNvSpPr/>
          <p:nvPr/>
        </p:nvSpPr>
        <p:spPr>
          <a:xfrm rot="199839">
            <a:off x="798761" y="3442762"/>
            <a:ext cx="1778103" cy="32771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 cap="flat" cmpd="sng" w="9525">
                  <a:solidFill>
                    <a:srgbClr val="B6D7A8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6AA84F"/>
                </a:solidFill>
                <a:latin typeface="Caveat"/>
              </a:rPr>
              <a:t>α = 0.05</a:t>
            </a:r>
          </a:p>
        </p:txBody>
      </p:sp>
      <p:sp>
        <p:nvSpPr>
          <p:cNvPr id="290" name="Google Shape;290;p36"/>
          <p:cNvSpPr/>
          <p:nvPr/>
        </p:nvSpPr>
        <p:spPr>
          <a:xfrm rot="199839">
            <a:off x="631027" y="4128836"/>
            <a:ext cx="3507592" cy="52388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 cap="flat" cmpd="sng" w="9525">
                  <a:solidFill>
                    <a:srgbClr val="FCE5CD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9900"/>
                </a:solidFill>
                <a:latin typeface="Caveat"/>
              </a:rPr>
              <a:t>C = [1397, 1409]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>
                <a:solidFill>
                  <a:srgbClr val="FF5F05"/>
                </a:solidFill>
              </a:rPr>
              <a:t>Methods - Algorithm</a:t>
            </a:r>
            <a:endParaRPr sz="3200"/>
          </a:p>
        </p:txBody>
      </p:sp>
      <p:sp>
        <p:nvSpPr>
          <p:cNvPr id="296" name="Google Shape;296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■ </a:t>
            </a:r>
            <a:r>
              <a:rPr lang="en" sz="3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Ranking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7" name="Google Shape;297;p37"/>
          <p:cNvGrpSpPr/>
          <p:nvPr/>
        </p:nvGrpSpPr>
        <p:grpSpPr>
          <a:xfrm>
            <a:off x="0" y="4804800"/>
            <a:ext cx="6072000" cy="338700"/>
            <a:chOff x="0" y="4804800"/>
            <a:chExt cx="6072000" cy="338700"/>
          </a:xfrm>
        </p:grpSpPr>
        <p:sp>
          <p:nvSpPr>
            <p:cNvPr id="298" name="Google Shape;298;p37"/>
            <p:cNvSpPr txBox="1"/>
            <p:nvPr/>
          </p:nvSpPr>
          <p:spPr>
            <a:xfrm>
              <a:off x="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2/25/25</a:t>
              </a:r>
              <a:endParaRPr/>
            </a:p>
          </p:txBody>
        </p:sp>
        <p:sp>
          <p:nvSpPr>
            <p:cNvPr id="299" name="Google Shape;299;p37"/>
            <p:cNvSpPr txBox="1"/>
            <p:nvPr/>
          </p:nvSpPr>
          <p:spPr>
            <a:xfrm>
              <a:off x="307200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CS598: Topics in LLM Agents, Jiaxuan You</a:t>
              </a:r>
              <a:endParaRPr i="1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0" name="Google Shape;300;p37"/>
          <p:cNvPicPr preferRelativeResize="0"/>
          <p:nvPr/>
        </p:nvPicPr>
        <p:blipFill rotWithShape="1">
          <a:blip r:embed="rId3">
            <a:alphaModFix/>
          </a:blip>
          <a:srcRect b="764" l="0" r="0" t="0"/>
          <a:stretch/>
        </p:blipFill>
        <p:spPr>
          <a:xfrm>
            <a:off x="1032775" y="1676400"/>
            <a:ext cx="6343650" cy="226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37"/>
          <p:cNvPicPr preferRelativeResize="0"/>
          <p:nvPr/>
        </p:nvPicPr>
        <p:blipFill rotWithShape="1">
          <a:blip r:embed="rId4">
            <a:alphaModFix/>
          </a:blip>
          <a:srcRect b="72546" l="0" r="80141" t="0"/>
          <a:stretch/>
        </p:blipFill>
        <p:spPr>
          <a:xfrm>
            <a:off x="6477025" y="3944828"/>
            <a:ext cx="1815849" cy="1035776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7"/>
          <p:cNvSpPr/>
          <p:nvPr/>
        </p:nvSpPr>
        <p:spPr>
          <a:xfrm>
            <a:off x="6518475" y="4040150"/>
            <a:ext cx="794700" cy="338700"/>
          </a:xfrm>
          <a:prstGeom prst="rect">
            <a:avLst/>
          </a:prstGeom>
          <a:noFill/>
          <a:ln cap="flat" cmpd="sng" w="9525">
            <a:solidFill>
              <a:srgbClr val="DF00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>
                <a:solidFill>
                  <a:srgbClr val="FF5F05"/>
                </a:solidFill>
              </a:rPr>
              <a:t>Methods - Algorithm</a:t>
            </a:r>
            <a:endParaRPr sz="3200"/>
          </a:p>
        </p:txBody>
      </p:sp>
      <p:sp>
        <p:nvSpPr>
          <p:cNvPr id="308" name="Google Shape;308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■ </a:t>
            </a:r>
            <a:r>
              <a:rPr lang="en" sz="3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Anomalous User Filtering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9" name="Google Shape;309;p38"/>
          <p:cNvGrpSpPr/>
          <p:nvPr/>
        </p:nvGrpSpPr>
        <p:grpSpPr>
          <a:xfrm>
            <a:off x="0" y="4804800"/>
            <a:ext cx="6072000" cy="338700"/>
            <a:chOff x="0" y="4804800"/>
            <a:chExt cx="6072000" cy="338700"/>
          </a:xfrm>
        </p:grpSpPr>
        <p:sp>
          <p:nvSpPr>
            <p:cNvPr id="310" name="Google Shape;310;p38"/>
            <p:cNvSpPr txBox="1"/>
            <p:nvPr/>
          </p:nvSpPr>
          <p:spPr>
            <a:xfrm>
              <a:off x="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2/25/25</a:t>
              </a:r>
              <a:endParaRPr/>
            </a:p>
          </p:txBody>
        </p:sp>
        <p:sp>
          <p:nvSpPr>
            <p:cNvPr id="311" name="Google Shape;311;p38"/>
            <p:cNvSpPr txBox="1"/>
            <p:nvPr/>
          </p:nvSpPr>
          <p:spPr>
            <a:xfrm>
              <a:off x="307200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CS598: Topics in LLM Agents, Jiaxuan You</a:t>
              </a:r>
              <a:endParaRPr i="1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12" name="Google Shape;31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13125"/>
            <a:ext cx="5320918" cy="118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000" y="3026225"/>
            <a:ext cx="24384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8000" y="3799175"/>
            <a:ext cx="2256725" cy="42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66350" y="2680600"/>
            <a:ext cx="3967350" cy="20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8"/>
          <p:cNvSpPr/>
          <p:nvPr/>
        </p:nvSpPr>
        <p:spPr>
          <a:xfrm rot="199825">
            <a:off x="4200065" y="1709050"/>
            <a:ext cx="4735828" cy="45746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B6D7A8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6AA84F"/>
                </a:solidFill>
                <a:latin typeface="Caveat"/>
              </a:rPr>
              <a:t>Heuristic Null Hypothesis Test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>
                <a:solidFill>
                  <a:srgbClr val="FF5F05"/>
                </a:solidFill>
              </a:rPr>
              <a:t>Experiments</a:t>
            </a:r>
            <a:endParaRPr sz="3200"/>
          </a:p>
        </p:txBody>
      </p:sp>
      <p:grpSp>
        <p:nvGrpSpPr>
          <p:cNvPr id="322" name="Google Shape;322;p39"/>
          <p:cNvGrpSpPr/>
          <p:nvPr/>
        </p:nvGrpSpPr>
        <p:grpSpPr>
          <a:xfrm>
            <a:off x="0" y="4804800"/>
            <a:ext cx="6072000" cy="338700"/>
            <a:chOff x="0" y="4804800"/>
            <a:chExt cx="6072000" cy="338700"/>
          </a:xfrm>
        </p:grpSpPr>
        <p:sp>
          <p:nvSpPr>
            <p:cNvPr id="323" name="Google Shape;323;p39"/>
            <p:cNvSpPr txBox="1"/>
            <p:nvPr/>
          </p:nvSpPr>
          <p:spPr>
            <a:xfrm>
              <a:off x="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2/25/25</a:t>
              </a:r>
              <a:endParaRPr/>
            </a:p>
          </p:txBody>
        </p:sp>
        <p:sp>
          <p:nvSpPr>
            <p:cNvPr id="324" name="Google Shape;324;p39"/>
            <p:cNvSpPr txBox="1"/>
            <p:nvPr/>
          </p:nvSpPr>
          <p:spPr>
            <a:xfrm>
              <a:off x="307200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CS598: Topics in LLM Agents, Jiaxuan You</a:t>
              </a:r>
              <a:endParaRPr i="1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25" name="Google Shape;32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625" y="1090550"/>
            <a:ext cx="4316567" cy="3714249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9"/>
          <p:cNvSpPr txBox="1"/>
          <p:nvPr>
            <p:ph idx="1" type="body"/>
          </p:nvPr>
        </p:nvSpPr>
        <p:spPr>
          <a:xfrm>
            <a:off x="4256975" y="1279275"/>
            <a:ext cx="5061900" cy="16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■ </a:t>
            </a:r>
            <a:r>
              <a:rPr b="1" lang="en" sz="24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Larger gaps across models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■ </a:t>
            </a:r>
            <a:r>
              <a:rPr b="1" lang="en" sz="24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Discover models’ diverse strengths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7" name="Google Shape;327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0697" y="2536500"/>
            <a:ext cx="3524579" cy="208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75" y="1279275"/>
            <a:ext cx="4034875" cy="272562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>
                <a:solidFill>
                  <a:srgbClr val="FF5F05"/>
                </a:solidFill>
              </a:rPr>
              <a:t>Experiments</a:t>
            </a:r>
            <a:endParaRPr sz="3200"/>
          </a:p>
        </p:txBody>
      </p:sp>
      <p:grpSp>
        <p:nvGrpSpPr>
          <p:cNvPr id="334" name="Google Shape;334;p40"/>
          <p:cNvGrpSpPr/>
          <p:nvPr/>
        </p:nvGrpSpPr>
        <p:grpSpPr>
          <a:xfrm>
            <a:off x="0" y="4804800"/>
            <a:ext cx="6072000" cy="338700"/>
            <a:chOff x="0" y="4804800"/>
            <a:chExt cx="6072000" cy="338700"/>
          </a:xfrm>
        </p:grpSpPr>
        <p:sp>
          <p:nvSpPr>
            <p:cNvPr id="335" name="Google Shape;335;p40"/>
            <p:cNvSpPr txBox="1"/>
            <p:nvPr/>
          </p:nvSpPr>
          <p:spPr>
            <a:xfrm>
              <a:off x="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2/25/25</a:t>
              </a:r>
              <a:endParaRPr/>
            </a:p>
          </p:txBody>
        </p:sp>
        <p:sp>
          <p:nvSpPr>
            <p:cNvPr id="336" name="Google Shape;336;p40"/>
            <p:cNvSpPr txBox="1"/>
            <p:nvPr/>
          </p:nvSpPr>
          <p:spPr>
            <a:xfrm>
              <a:off x="307200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CS598: Topics in LLM Agents, Jiaxuan You</a:t>
              </a:r>
              <a:endParaRPr i="1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37" name="Google Shape;337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4000" y="2909900"/>
            <a:ext cx="4034875" cy="1392153"/>
          </a:xfrm>
          <a:prstGeom prst="rect">
            <a:avLst/>
          </a:prstGeom>
          <a:solidFill>
            <a:srgbClr val="6AA84F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38" name="Google Shape;338;p40"/>
          <p:cNvSpPr txBox="1"/>
          <p:nvPr>
            <p:ph idx="1" type="body"/>
          </p:nvPr>
        </p:nvSpPr>
        <p:spPr>
          <a:xfrm>
            <a:off x="4082100" y="1372175"/>
            <a:ext cx="5061900" cy="16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■ </a:t>
            </a:r>
            <a:r>
              <a:rPr b="1" lang="en" sz="24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Mostly agrees with human judges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■ </a:t>
            </a:r>
            <a:r>
              <a:rPr b="1" lang="en" sz="24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Better than GPT-4 and human judges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33050"/>
            <a:ext cx="4419600" cy="3164481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>
                <a:solidFill>
                  <a:srgbClr val="FF5F05"/>
                </a:solidFill>
              </a:rPr>
              <a:t>Experiments</a:t>
            </a:r>
            <a:endParaRPr sz="3200"/>
          </a:p>
        </p:txBody>
      </p:sp>
      <p:grpSp>
        <p:nvGrpSpPr>
          <p:cNvPr id="345" name="Google Shape;345;p41"/>
          <p:cNvGrpSpPr/>
          <p:nvPr/>
        </p:nvGrpSpPr>
        <p:grpSpPr>
          <a:xfrm>
            <a:off x="0" y="4804800"/>
            <a:ext cx="6072000" cy="338700"/>
            <a:chOff x="0" y="4804800"/>
            <a:chExt cx="6072000" cy="338700"/>
          </a:xfrm>
        </p:grpSpPr>
        <p:sp>
          <p:nvSpPr>
            <p:cNvPr id="346" name="Google Shape;346;p41"/>
            <p:cNvSpPr txBox="1"/>
            <p:nvPr/>
          </p:nvSpPr>
          <p:spPr>
            <a:xfrm>
              <a:off x="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2/25/25</a:t>
              </a:r>
              <a:endParaRPr/>
            </a:p>
          </p:txBody>
        </p:sp>
        <p:sp>
          <p:nvSpPr>
            <p:cNvPr id="347" name="Google Shape;347;p41"/>
            <p:cNvSpPr txBox="1"/>
            <p:nvPr/>
          </p:nvSpPr>
          <p:spPr>
            <a:xfrm>
              <a:off x="307200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CS598: Topics in LLM Agents, Jiaxuan You</a:t>
              </a:r>
              <a:endParaRPr i="1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8" name="Google Shape;348;p41"/>
          <p:cNvSpPr txBox="1"/>
          <p:nvPr>
            <p:ph idx="1" type="body"/>
          </p:nvPr>
        </p:nvSpPr>
        <p:spPr>
          <a:xfrm>
            <a:off x="4256975" y="1279275"/>
            <a:ext cx="5061900" cy="16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■ </a:t>
            </a:r>
            <a:r>
              <a:rPr b="1" lang="en" sz="24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High-quality vote data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■ </a:t>
            </a:r>
            <a:r>
              <a:rPr b="1" lang="en" sz="24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Efficient sampling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9" name="Google Shape;349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8003" y="2852600"/>
            <a:ext cx="4246746" cy="163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>
                <a:solidFill>
                  <a:srgbClr val="FF5F05"/>
                </a:solidFill>
              </a:rPr>
              <a:t>Takeaways</a:t>
            </a:r>
            <a:endParaRPr sz="3200"/>
          </a:p>
        </p:txBody>
      </p:sp>
      <p:sp>
        <p:nvSpPr>
          <p:cNvPr id="355" name="Google Shape;355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F5F0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■ </a:t>
            </a:r>
            <a:r>
              <a:rPr lang="en" sz="3200">
                <a:solidFill>
                  <a:srgbClr val="DF00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Contribution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5F0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   ■</a:t>
            </a:r>
            <a:r>
              <a:rPr lang="en" sz="3200">
                <a:solidFill>
                  <a:srgbClr val="FF5F0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3200">
                <a:solidFill>
                  <a:srgbClr val="DF00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Open-ended live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benchmark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■</a:t>
            </a: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3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Free-platform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SOTA models (Yeah!)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■</a:t>
            </a: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3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High-quality dataset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for/from human preference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■ </a:t>
            </a:r>
            <a:r>
              <a:rPr lang="en" sz="3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■</a:t>
            </a:r>
            <a:r>
              <a:rPr lang="en" sz="3200">
                <a:solidFill>
                  <a:srgbClr val="FF5F0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3200">
                <a:solidFill>
                  <a:srgbClr val="DF000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community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mostly LLM hobbyist or researchers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6" name="Google Shape;356;p42"/>
          <p:cNvGrpSpPr/>
          <p:nvPr/>
        </p:nvGrpSpPr>
        <p:grpSpPr>
          <a:xfrm>
            <a:off x="0" y="4804800"/>
            <a:ext cx="6072000" cy="338700"/>
            <a:chOff x="0" y="4804800"/>
            <a:chExt cx="6072000" cy="338700"/>
          </a:xfrm>
        </p:grpSpPr>
        <p:sp>
          <p:nvSpPr>
            <p:cNvPr id="357" name="Google Shape;357;p42"/>
            <p:cNvSpPr txBox="1"/>
            <p:nvPr/>
          </p:nvSpPr>
          <p:spPr>
            <a:xfrm>
              <a:off x="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2/25/25</a:t>
              </a:r>
              <a:endParaRPr/>
            </a:p>
          </p:txBody>
        </p:sp>
        <p:sp>
          <p:nvSpPr>
            <p:cNvPr id="358" name="Google Shape;358;p42"/>
            <p:cNvSpPr txBox="1"/>
            <p:nvPr/>
          </p:nvSpPr>
          <p:spPr>
            <a:xfrm>
              <a:off x="3072000" y="4804800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98989"/>
                  </a:solidFill>
                  <a:latin typeface="Calibri"/>
                  <a:ea typeface="Calibri"/>
                  <a:cs typeface="Calibri"/>
                  <a:sym typeface="Calibri"/>
                </a:rPr>
                <a:t>CS598: Topics in LLM Agents, Jiaxuan You</a:t>
              </a:r>
              <a:endParaRPr i="1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3"/>
          <p:cNvSpPr txBox="1"/>
          <p:nvPr>
            <p:ph type="ctrTitle"/>
          </p:nvPr>
        </p:nvSpPr>
        <p:spPr>
          <a:xfrm>
            <a:off x="311708" y="3026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t/>
            </a:r>
            <a:endParaRPr sz="4000">
              <a:solidFill>
                <a:srgbClr val="FF5F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4000">
                <a:solidFill>
                  <a:srgbClr val="FF5F05"/>
                </a:solidFill>
              </a:rPr>
              <a:t>Q &amp; A</a:t>
            </a:r>
            <a:endParaRPr sz="4000">
              <a:solidFill>
                <a:srgbClr val="FF5F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t/>
            </a:r>
            <a:endParaRPr sz="4000">
              <a:solidFill>
                <a:srgbClr val="FF5F0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4000">
                <a:solidFill>
                  <a:srgbClr val="FF5F05"/>
                </a:solidFill>
              </a:rPr>
              <a:t>Also</a:t>
            </a:r>
            <a:r>
              <a:rPr lang="en" sz="4000">
                <a:solidFill>
                  <a:srgbClr val="FF5F05"/>
                </a:solidFill>
              </a:rPr>
              <a:t>...</a:t>
            </a:r>
            <a:r>
              <a:rPr lang="en" sz="4000">
                <a:solidFill>
                  <a:srgbClr val="FF5F05"/>
                </a:solidFill>
              </a:rPr>
              <a:t>AI Agents That Matter</a:t>
            </a:r>
            <a:endParaRPr sz="4000">
              <a:solidFill>
                <a:srgbClr val="FF9900"/>
              </a:solidFill>
            </a:endParaRPr>
          </a:p>
        </p:txBody>
      </p:sp>
      <p:sp>
        <p:nvSpPr>
          <p:cNvPr id="364" name="Google Shape;364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Vincent Han</a:t>
            </a:r>
            <a:endParaRPr sz="3200"/>
          </a:p>
        </p:txBody>
      </p:sp>
      <p:pic>
        <p:nvPicPr>
          <p:cNvPr id="365" name="Google Shape;36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0975" y="2757738"/>
            <a:ext cx="945375" cy="945375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43"/>
          <p:cNvSpPr txBox="1"/>
          <p:nvPr/>
        </p:nvSpPr>
        <p:spPr>
          <a:xfrm>
            <a:off x="1399650" y="3688650"/>
            <a:ext cx="6344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CS598:  Topics in LLM Agents, 2025 Spring</a:t>
            </a:r>
            <a:endParaRPr sz="2800"/>
          </a:p>
        </p:txBody>
      </p:sp>
      <p:sp>
        <p:nvSpPr>
          <p:cNvPr id="367" name="Google Shape;367;p43"/>
          <p:cNvSpPr txBox="1"/>
          <p:nvPr/>
        </p:nvSpPr>
        <p:spPr>
          <a:xfrm>
            <a:off x="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2/25/25</a:t>
            </a:r>
            <a:endParaRPr/>
          </a:p>
        </p:txBody>
      </p:sp>
      <p:sp>
        <p:nvSpPr>
          <p:cNvPr id="368" name="Google Shape;368;p43"/>
          <p:cNvSpPr txBox="1"/>
          <p:nvPr/>
        </p:nvSpPr>
        <p:spPr>
          <a:xfrm>
            <a:off x="307200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CS598: Topics in LLM Agents, Jiaxuan You</a:t>
            </a:r>
            <a:endParaRPr i="1" sz="1000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