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b="def" i="def"/>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b="def" i="def"/>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b="def" i="def"/>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b="def" i="def"/>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b="def" i="def"/>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9" name="Shape 189"/>
          <p:cNvSpPr/>
          <p:nvPr>
            <p:ph type="sldImg"/>
          </p:nvPr>
        </p:nvSpPr>
        <p:spPr>
          <a:prstGeom prst="rect">
            <a:avLst/>
          </a:prstGeom>
        </p:spPr>
        <p:txBody>
          <a:bodyPr/>
          <a:lstStyle/>
          <a:p>
            <a:pPr/>
          </a:p>
        </p:txBody>
      </p:sp>
      <p:sp>
        <p:nvSpPr>
          <p:cNvPr id="190" name="Shape 190"/>
          <p:cNvSpPr/>
          <p:nvPr>
            <p:ph type="body" sz="quarter" idx="1"/>
          </p:nvPr>
        </p:nvSpPr>
        <p:spPr>
          <a:prstGeom prst="rect">
            <a:avLst/>
          </a:prstGeom>
        </p:spPr>
        <p:txBody>
          <a:bodyPr/>
          <a:lstStyle/>
          <a:p>
            <a:pPr/>
            <a:r>
              <a:t>1) because chat-optimized LLMs (e.g., GPT-4) show the ability to incorporate feedback,</a:t>
            </a:r>
          </a:p>
          <a:p>
            <a:pPr/>
            <a:r>
              <a:t>2) a single LLM can exhibit a broad range of capabilities (especially when configured with the correct prompt and inference settings)</a:t>
            </a:r>
          </a:p>
          <a:p>
            <a:pPr/>
            <a:r>
              <a:t>3) LLMs have demonstrated ability to solve complex tasks when the tasks are broken into simpler subtasks.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6" name="Shape 216"/>
          <p:cNvSpPr/>
          <p:nvPr>
            <p:ph type="sldImg"/>
          </p:nvPr>
        </p:nvSpPr>
        <p:spPr>
          <a:prstGeom prst="rect">
            <a:avLst/>
          </a:prstGeom>
        </p:spPr>
        <p:txBody>
          <a:bodyPr/>
          <a:lstStyle/>
          <a:p>
            <a:pPr/>
          </a:p>
        </p:txBody>
      </p:sp>
      <p:sp>
        <p:nvSpPr>
          <p:cNvPr id="217" name="Shape 217"/>
          <p:cNvSpPr/>
          <p:nvPr>
            <p:ph type="body" sz="quarter" idx="1"/>
          </p:nvPr>
        </p:nvSpPr>
        <p:spPr>
          <a:prstGeom prst="rect">
            <a:avLst/>
          </a:prstGeom>
        </p:spPr>
        <p:txBody>
          <a:bodyPr/>
          <a:lstStyle/>
          <a:p>
            <a:pPr/>
            <a:r>
              <a:t>LLM-backed agents exploit many capabilities of advanced LLMs such as role playing, implicit state inference and progress making conditioned on conversation history, providing feedback, adapting from feedback, and coding. These capabilities can be combined in different ways via novel prompting techniques4 to increase an agent’s skill and autonomy. AutoGen also offers</a:t>
            </a:r>
          </a:p>
          <a:p>
            <a:pPr/>
            <a:r>
              <a:t>enhanced LLM inference features such as result caching, error handling, message templating, etc., via an enhanced LLM inference layer.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3" name="Shape 223"/>
          <p:cNvSpPr/>
          <p:nvPr>
            <p:ph type="sldImg"/>
          </p:nvPr>
        </p:nvSpPr>
        <p:spPr>
          <a:prstGeom prst="rect">
            <a:avLst/>
          </a:prstGeom>
        </p:spPr>
        <p:txBody>
          <a:bodyPr/>
          <a:lstStyle/>
          <a:p>
            <a:pPr/>
          </a:p>
        </p:txBody>
      </p:sp>
      <p:sp>
        <p:nvSpPr>
          <p:cNvPr id="224" name="Shape 224"/>
          <p:cNvSpPr/>
          <p:nvPr>
            <p:ph type="body" sz="quarter" idx="1"/>
          </p:nvPr>
        </p:nvSpPr>
        <p:spPr>
          <a:prstGeom prst="rect">
            <a:avLst/>
          </a:prstGeom>
        </p:spPr>
        <p:txBody>
          <a:bodyPr/>
          <a:lstStyle/>
          <a:p>
            <a:pPr/>
            <a:r>
              <a:t>Human involvement is desired or even essential in many LLM applications. AutoGen lets a human participate in agent  conversation via humanbacked agents, which could solicit human inputs at certain rounds of a conversation depending on the agent configuration. The default user proxy agent allows configurable human involvement levels and patterns, e.g., frequency and conditions for requesting human input including the option for humans to skip providing input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8" name="Shape 238"/>
          <p:cNvSpPr/>
          <p:nvPr>
            <p:ph type="sldImg"/>
          </p:nvPr>
        </p:nvSpPr>
        <p:spPr>
          <a:prstGeom prst="rect">
            <a:avLst/>
          </a:prstGeom>
        </p:spPr>
        <p:txBody>
          <a:bodyPr/>
          <a:lstStyle/>
          <a:p>
            <a:pPr/>
          </a:p>
        </p:txBody>
      </p:sp>
      <p:sp>
        <p:nvSpPr>
          <p:cNvPr id="239" name="Shape 239"/>
          <p:cNvSpPr/>
          <p:nvPr>
            <p:ph type="body" sz="quarter" idx="1"/>
          </p:nvPr>
        </p:nvSpPr>
        <p:spPr>
          <a:prstGeom prst="rect">
            <a:avLst/>
          </a:prstGeom>
        </p:spPr>
        <p:txBody>
          <a:bodyPr/>
          <a:lstStyle/>
          <a:p>
            <a:pPr/>
            <a:r>
              <a:t>The ConversableAgent class is the highest-level agent abstraction and, by default, can use LLMs, humans, and tools. The AssistantAgent and UserProxyAgent are two pre-configured ConversableAgent subclasses, each representing a common usage mode, i.e., acting as an AI assistant (backed by LLMs) and acting as a human proxy to solicit human input or execute code/function calls (backed by humans and/or tools).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hape 254"/>
          <p:cNvSpPr/>
          <p:nvPr>
            <p:ph type="sldImg"/>
          </p:nvPr>
        </p:nvSpPr>
        <p:spPr>
          <a:prstGeom prst="rect">
            <a:avLst/>
          </a:prstGeom>
        </p:spPr>
        <p:txBody>
          <a:bodyPr/>
          <a:lstStyle/>
          <a:p>
            <a:pPr/>
          </a:p>
        </p:txBody>
      </p:sp>
      <p:sp>
        <p:nvSpPr>
          <p:cNvPr id="255" name="Shape 255"/>
          <p:cNvSpPr/>
          <p:nvPr>
            <p:ph type="body" sz="quarter" idx="1"/>
          </p:nvPr>
        </p:nvSpPr>
        <p:spPr>
          <a:prstGeom prst="rect">
            <a:avLst/>
          </a:prstGeom>
        </p:spPr>
        <p:txBody>
          <a:bodyPr/>
          <a:lstStyle/>
          <a:p>
            <a:pPr/>
            <a:r>
              <a:t>LLM-backed assistant agent and a tool- and human-backed user proxy agent are deployed together to tackle a task. Here, the assistant agent generates a solution with the help of LLMs and passes the solution to the user proxy agent. Then, the user proxy agent solicits human inputs or executes the assistant’s code and passes the results as feedback back to the assistant.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Computations are conversation-centric, an agent takes actions relevant to the conversations it is involved in and its actions result in message passing for consequent conversations (unless a termination condition is satisfied)</a:t>
            </a:r>
          </a:p>
          <a:p>
            <a:pPr/>
          </a:p>
          <a:p>
            <a:pPr/>
            <a:r>
              <a:t>Control flow is conversation-driven – the participating agents’ decisions on which agents to send messages to and the procedure of computation are functions of the inter-agent conversation. This paradigm helps one to reason intuitively about a complex workflow as agent action taking and conversation message-passing between agents.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8" name="Shape 268"/>
          <p:cNvSpPr/>
          <p:nvPr>
            <p:ph type="sldImg"/>
          </p:nvPr>
        </p:nvSpPr>
        <p:spPr>
          <a:prstGeom prst="rect">
            <a:avLst/>
          </a:prstGeom>
        </p:spPr>
        <p:txBody>
          <a:bodyPr/>
          <a:lstStyle/>
          <a:p>
            <a:pPr/>
          </a:p>
        </p:txBody>
      </p:sp>
      <p:sp>
        <p:nvSpPr>
          <p:cNvPr id="269" name="Shape 269"/>
          <p:cNvSpPr/>
          <p:nvPr>
            <p:ph type="body" sz="quarter" idx="1"/>
          </p:nvPr>
        </p:nvSpPr>
        <p:spPr>
          <a:prstGeom prst="rect">
            <a:avLst/>
          </a:prstGeom>
        </p:spPr>
        <p:txBody>
          <a:bodyPr/>
          <a:lstStyle/>
          <a:p>
            <a:pPr/>
            <a:r>
              <a:t>AutoGen also introduces and by default adopts an agent auto-reply mechanism to realize conversation-driven control: Once an agent receives a message from another agent, it automatically invokes generate reply and sends the reply back to the sender unless a termination condition is satisfied. AutoGen provides built-in reply functions based on LLM inference, code</a:t>
            </a:r>
          </a:p>
          <a:p>
            <a:pPr/>
            <a:r>
              <a:t>or function execution, or human input.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Shape 285"/>
          <p:cNvSpPr/>
          <p:nvPr>
            <p:ph type="sldImg"/>
          </p:nvPr>
        </p:nvSpPr>
        <p:spPr>
          <a:prstGeom prst="rect">
            <a:avLst/>
          </a:prstGeom>
        </p:spPr>
        <p:txBody>
          <a:bodyPr/>
          <a:lstStyle/>
          <a:p>
            <a:pPr/>
          </a:p>
        </p:txBody>
      </p:sp>
      <p:sp>
        <p:nvSpPr>
          <p:cNvPr id="286" name="Shape 286"/>
          <p:cNvSpPr/>
          <p:nvPr>
            <p:ph type="body" sz="quarter" idx="1"/>
          </p:nvPr>
        </p:nvSpPr>
        <p:spPr>
          <a:prstGeom prst="rect">
            <a:avLst/>
          </a:prstGeom>
        </p:spPr>
        <p:txBody>
          <a:bodyPr/>
          <a:lstStyle/>
          <a:p>
            <a:pPr/>
            <a:r>
              <a:t>The middle sub-figure shows an example of using AutoGen to develop a two-agent system with a custom reply function. The bottom sub-figure illustrates the resulting automated agent chat from the two-agent system during program execution</a:t>
            </a:r>
          </a:p>
          <a:p>
            <a:pPr/>
          </a:p>
          <a:p>
            <a:pPr/>
            <a:r>
              <a:t>The bottom sub-figure shows how individual agents perform their role-specific, conversation-centric computations to generate responses (e.g., via LLM inference calls and code execution). The task progresses through conversations displayed in the dialog box. The middle sub-figure demonstrates a conversation-based control flow. When the assistant receives</a:t>
            </a:r>
          </a:p>
          <a:p>
            <a:pPr/>
            <a:r>
              <a:t>a message, the user proxy agent typically sends the human input as a reply. If there is no input, it executes any code in the assistant’s message instead.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2" name="Shape 292"/>
          <p:cNvSpPr/>
          <p:nvPr>
            <p:ph type="sldImg"/>
          </p:nvPr>
        </p:nvSpPr>
        <p:spPr>
          <a:prstGeom prst="rect">
            <a:avLst/>
          </a:prstGeom>
        </p:spPr>
        <p:txBody>
          <a:bodyPr/>
          <a:lstStyle/>
          <a:p>
            <a:pPr/>
          </a:p>
        </p:txBody>
      </p:sp>
      <p:sp>
        <p:nvSpPr>
          <p:cNvPr id="293" name="Shape 293"/>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1" name="Shape 301"/>
          <p:cNvSpPr/>
          <p:nvPr>
            <p:ph type="sldImg"/>
          </p:nvPr>
        </p:nvSpPr>
        <p:spPr>
          <a:prstGeom prst="rect">
            <a:avLst/>
          </a:prstGeom>
        </p:spPr>
        <p:txBody>
          <a:bodyPr/>
          <a:lstStyle/>
          <a:p>
            <a:pPr/>
          </a:p>
        </p:txBody>
      </p:sp>
      <p:sp>
        <p:nvSpPr>
          <p:cNvPr id="302" name="Shape 302"/>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9" name="Shape 309"/>
          <p:cNvSpPr/>
          <p:nvPr>
            <p:ph type="sldImg"/>
          </p:nvPr>
        </p:nvSpPr>
        <p:spPr>
          <a:prstGeom prst="rect">
            <a:avLst/>
          </a:prstGeom>
        </p:spPr>
        <p:txBody>
          <a:bodyPr/>
          <a:lstStyle/>
          <a:p>
            <a:pPr/>
          </a:p>
        </p:txBody>
      </p:sp>
      <p:sp>
        <p:nvSpPr>
          <p:cNvPr id="310" name="Shape 310"/>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317"/>
          <p:cNvSpPr/>
          <p:nvPr>
            <p:ph type="sldImg"/>
          </p:nvPr>
        </p:nvSpPr>
        <p:spPr>
          <a:prstGeom prst="rect">
            <a:avLst/>
          </a:prstGeom>
        </p:spPr>
        <p:txBody>
          <a:bodyPr/>
          <a:lstStyle/>
          <a:p>
            <a:pPr/>
          </a:p>
        </p:txBody>
      </p:sp>
      <p:sp>
        <p:nvSpPr>
          <p:cNvPr id="318" name="Shape 318"/>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4" name="Shape 334"/>
          <p:cNvSpPr/>
          <p:nvPr>
            <p:ph type="sldImg"/>
          </p:nvPr>
        </p:nvSpPr>
        <p:spPr>
          <a:prstGeom prst="rect">
            <a:avLst/>
          </a:prstGeom>
        </p:spPr>
        <p:txBody>
          <a:bodyPr/>
          <a:lstStyle/>
          <a:p>
            <a:pPr/>
          </a:p>
        </p:txBody>
      </p:sp>
      <p:sp>
        <p:nvSpPr>
          <p:cNvPr id="335" name="Shape 335"/>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3" name="Shape 343"/>
          <p:cNvSpPr/>
          <p:nvPr>
            <p:ph type="sldImg"/>
          </p:nvPr>
        </p:nvSpPr>
        <p:spPr>
          <a:prstGeom prst="rect">
            <a:avLst/>
          </a:prstGeom>
        </p:spPr>
        <p:txBody>
          <a:bodyPr/>
          <a:lstStyle/>
          <a:p>
            <a:pPr/>
          </a:p>
        </p:txBody>
      </p:sp>
      <p:sp>
        <p:nvSpPr>
          <p:cNvPr id="344" name="Shape 344"/>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2" name="Shape 352"/>
          <p:cNvSpPr/>
          <p:nvPr>
            <p:ph type="sldImg"/>
          </p:nvPr>
        </p:nvSpPr>
        <p:spPr>
          <a:prstGeom prst="rect">
            <a:avLst/>
          </a:prstGeom>
        </p:spPr>
        <p:txBody>
          <a:bodyPr/>
          <a:lstStyle/>
          <a:p>
            <a:pPr/>
          </a:p>
        </p:txBody>
      </p:sp>
      <p:sp>
        <p:nvSpPr>
          <p:cNvPr id="353" name="Shape 353"/>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Shape 360"/>
          <p:cNvSpPr/>
          <p:nvPr>
            <p:ph type="sldImg"/>
          </p:nvPr>
        </p:nvSpPr>
        <p:spPr>
          <a:prstGeom prst="rect">
            <a:avLst/>
          </a:prstGeom>
        </p:spPr>
        <p:txBody>
          <a:bodyPr/>
          <a:lstStyle/>
          <a:p>
            <a:pPr/>
          </a:p>
        </p:txBody>
      </p:sp>
      <p:sp>
        <p:nvSpPr>
          <p:cNvPr id="361" name="Shape 361"/>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8" name="Shape 368"/>
          <p:cNvSpPr/>
          <p:nvPr>
            <p:ph type="sldImg"/>
          </p:nvPr>
        </p:nvSpPr>
        <p:spPr>
          <a:prstGeom prst="rect">
            <a:avLst/>
          </a:prstGeom>
        </p:spPr>
        <p:txBody>
          <a:bodyPr/>
          <a:lstStyle/>
          <a:p>
            <a:pPr/>
          </a:p>
        </p:txBody>
      </p:sp>
      <p:sp>
        <p:nvSpPr>
          <p:cNvPr id="369" name="Shape 369"/>
          <p:cNvSpPr/>
          <p:nvPr>
            <p:ph type="body" sz="quarter" idx="1"/>
          </p:nvPr>
        </p:nvSpPr>
        <p:spPr>
          <a:prstGeom prst="rect">
            <a:avLst/>
          </a:prstGeom>
        </p:spPr>
        <p:txBody>
          <a:bodyPr/>
          <a:lstStyle/>
          <a:p>
            <a:pPr/>
            <a:r>
              <a:t>Tool-backed agents have the capability to execute tools via code execution or function execution. For example, the default user proxy agent in AutoGen is able to execute code suggested by LLMs, or make LLM-suggested function calls.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3" name="Shape 413"/>
          <p:cNvSpPr/>
          <p:nvPr>
            <p:ph type="sldImg"/>
          </p:nvPr>
        </p:nvSpPr>
        <p:spPr>
          <a:prstGeom prst="rect">
            <a:avLst/>
          </a:prstGeom>
        </p:spPr>
        <p:txBody>
          <a:bodyPr/>
          <a:lstStyle/>
          <a:p>
            <a:pPr/>
          </a:p>
        </p:txBody>
      </p:sp>
      <p:sp>
        <p:nvSpPr>
          <p:cNvPr id="414" name="Shape 414"/>
          <p:cNvSpPr/>
          <p:nvPr>
            <p:ph type="body" sz="quarter" idx="1"/>
          </p:nvPr>
        </p:nvSpPr>
        <p:spPr>
          <a:prstGeom prst="rect">
            <a:avLst/>
          </a:prstGeom>
        </p:spPr>
        <p:txBody>
          <a:bodyPr/>
          <a:lstStyle/>
          <a:p>
            <a:pPr/>
            <a:r>
              <a:t>Humans may or may not have the knowledge about how the idea can be realized. What is needed is only to designate the potential roles that can implement the idea. For instance, a Python Programmer could collaborate with a Stock Trader to realize the idea of developing a trading bot for the stock market.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2" name="Shape 422"/>
          <p:cNvSpPr/>
          <p:nvPr>
            <p:ph type="sldImg"/>
          </p:nvPr>
        </p:nvSpPr>
        <p:spPr>
          <a:prstGeom prst="rect">
            <a:avLst/>
          </a:prstGeom>
        </p:spPr>
        <p:txBody>
          <a:bodyPr/>
          <a:lstStyle/>
          <a:p>
            <a:pPr/>
          </a:p>
        </p:txBody>
      </p:sp>
      <p:sp>
        <p:nvSpPr>
          <p:cNvPr id="423" name="Shape 423"/>
          <p:cNvSpPr/>
          <p:nvPr>
            <p:ph type="body" sz="quarter" idx="1"/>
          </p:nvPr>
        </p:nvSpPr>
        <p:spPr>
          <a:prstGeom prst="rect">
            <a:avLst/>
          </a:prstGeom>
        </p:spPr>
        <p:txBody>
          <a:bodyPr/>
          <a:lstStyle/>
          <a:p>
            <a:pPr/>
            <a:r>
              <a:t>the task specifier agent will brainstorm a specific task that the AI Assistant role can help with the AI user role to complete based on the input idea. </a:t>
            </a:r>
          </a:p>
          <a:p>
            <a:pPr/>
          </a:p>
          <a:p>
            <a:pPr/>
            <a:r>
              <a:t>conversational agents usually require a concrete task prompt for realizing the task which might be challenging or time-consuming for a non-domain expert. Therefore, the task specifier agent serves as an enhanced imagination module for the idea implementation.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Shape 431"/>
          <p:cNvSpPr/>
          <p:nvPr>
            <p:ph type="sldImg"/>
          </p:nvPr>
        </p:nvSpPr>
        <p:spPr>
          <a:prstGeom prst="rect">
            <a:avLst/>
          </a:prstGeom>
        </p:spPr>
        <p:txBody>
          <a:bodyPr/>
          <a:lstStyle/>
          <a:p>
            <a:pPr/>
          </a:p>
        </p:txBody>
      </p:sp>
      <p:sp>
        <p:nvSpPr>
          <p:cNvPr id="432" name="Shape 432"/>
          <p:cNvSpPr/>
          <p:nvPr>
            <p:ph type="body" sz="quarter" idx="1"/>
          </p:nvPr>
        </p:nvSpPr>
        <p:spPr>
          <a:prstGeom prst="rect">
            <a:avLst/>
          </a:prstGeom>
        </p:spPr>
        <p:txBody>
          <a:bodyPr/>
          <a:lstStyle/>
          <a:p>
            <a:pPr/>
            <a:r>
              <a:t>the task specifier agent will brainstorm a specific task that the AI Assistant role can help with the AI user role to complete based on the input idea. </a:t>
            </a:r>
          </a:p>
          <a:p>
            <a:pPr/>
          </a:p>
          <a:p>
            <a:pPr/>
            <a:r>
              <a:t>conversational agents usually require a concrete task prompt for realizing the task which might be challenging or time-consuming for a non-domain expert. Therefore, the task specifier agent serves as an enhanced imagination module for the idea implementation.</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440"/>
          <p:cNvSpPr/>
          <p:nvPr>
            <p:ph type="sldImg"/>
          </p:nvPr>
        </p:nvSpPr>
        <p:spPr>
          <a:prstGeom prst="rect">
            <a:avLst/>
          </a:prstGeom>
        </p:spPr>
        <p:txBody>
          <a:bodyPr/>
          <a:lstStyle/>
          <a:p>
            <a:pPr/>
          </a:p>
        </p:txBody>
      </p:sp>
      <p:sp>
        <p:nvSpPr>
          <p:cNvPr id="441" name="Shape 441"/>
          <p:cNvSpPr/>
          <p:nvPr>
            <p:ph type="body" sz="quarter" idx="1"/>
          </p:nvPr>
        </p:nvSpPr>
        <p:spPr>
          <a:prstGeom prst="rect">
            <a:avLst/>
          </a:prstGeom>
        </p:spPr>
        <p:txBody>
          <a:bodyPr/>
          <a:lstStyle/>
          <a:p>
            <a:pPr/>
            <a:r>
              <a:t>the task specifier agent will brainstorm a specific task that the AI Assistant role can help with the AI user role to complete based on the input idea. </a:t>
            </a:r>
          </a:p>
          <a:p>
            <a:pPr/>
          </a:p>
          <a:p>
            <a:pPr/>
            <a:r>
              <a:t>conversational agents usually require a concrete task prompt for realizing the task which might be challenging or time-consuming for a non-domain expert. Therefore, the task specifier agent serves as an enhanced imagination module for the idea implementation.</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2" name="Shape 452"/>
          <p:cNvSpPr/>
          <p:nvPr>
            <p:ph type="sldImg"/>
          </p:nvPr>
        </p:nvSpPr>
        <p:spPr>
          <a:prstGeom prst="rect">
            <a:avLst/>
          </a:prstGeom>
        </p:spPr>
        <p:txBody>
          <a:bodyPr/>
          <a:lstStyle/>
          <a:p>
            <a:pPr/>
          </a:p>
        </p:txBody>
      </p:sp>
      <p:sp>
        <p:nvSpPr>
          <p:cNvPr id="453" name="Shape 453"/>
          <p:cNvSpPr/>
          <p:nvPr>
            <p:ph type="body" sz="quarter" idx="1"/>
          </p:nvPr>
        </p:nvSpPr>
        <p:spPr>
          <a:prstGeom prst="rect">
            <a:avLst/>
          </a:prstGeom>
        </p:spPr>
        <p:txBody>
          <a:bodyPr/>
          <a:lstStyle/>
          <a:p>
            <a:pPr/>
            <a:r>
              <a:t>The AI user is responsible for giving instructions to the AI assistant and directing the conversation toward task completion. On the other hand, the AI assistant is designed to follow the instructions from the AI user and respond with specific solutions. </a:t>
            </a:r>
          </a:p>
          <a:p>
            <a:pPr/>
          </a:p>
          <a:p>
            <a:pPr/>
            <a:r>
              <a:t>The AI user serves as a task planner, engaging in interactive planning to determine feasible steps for the AI assistant to execute. Meanwhile, the AI assistant acts as a task executor, offering solutions, executing planned steps, and providing responses to the AI user.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Shape 463"/>
          <p:cNvSpPr/>
          <p:nvPr>
            <p:ph type="sldImg"/>
          </p:nvPr>
        </p:nvSpPr>
        <p:spPr>
          <a:prstGeom prst="rect">
            <a:avLst/>
          </a:prstGeom>
        </p:spPr>
        <p:txBody>
          <a:bodyPr/>
          <a:lstStyle/>
          <a:p>
            <a:pPr/>
          </a:p>
        </p:txBody>
      </p:sp>
      <p:sp>
        <p:nvSpPr>
          <p:cNvPr id="464" name="Shape 464"/>
          <p:cNvSpPr/>
          <p:nvPr>
            <p:ph type="body" sz="quarter" idx="1"/>
          </p:nvPr>
        </p:nvSpPr>
        <p:spPr>
          <a:prstGeom prst="rect">
            <a:avLst/>
          </a:prstGeom>
        </p:spPr>
        <p:txBody>
          <a:bodyPr/>
          <a:lstStyle/>
          <a:p>
            <a:pPr/>
            <a:r>
              <a:t>Critic-in the loop</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1340" y="11859862"/>
            <a:ext cx="21971003"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1342" y="7223190"/>
            <a:ext cx="21971001"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Avocados and limes"/>
          <p:cNvSpPr/>
          <p:nvPr>
            <p:ph type="pic" idx="21"/>
          </p:nvPr>
        </p:nvSpPr>
        <p:spPr>
          <a:xfrm>
            <a:off x="-1155700" y="-1295400"/>
            <a:ext cx="26746200" cy="16018933"/>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16952"/>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Bowl with salmon cakes, salad, and hummus"/>
          <p:cNvSpPr/>
          <p:nvPr>
            <p:ph type="pic" idx="21"/>
          </p:nvPr>
        </p:nvSpPr>
        <p:spPr>
          <a:xfrm>
            <a:off x="10972800" y="-203200"/>
            <a:ext cx="12144837" cy="14135100"/>
          </a:xfrm>
          <a:prstGeom prst="rect">
            <a:avLst/>
          </a:prstGeom>
        </p:spPr>
        <p:txBody>
          <a:bodyPr lIns="91439" tIns="45719" rIns="91439" bIns="45719">
            <a:noAutofit/>
          </a:bodyPr>
          <a:lstStyle/>
          <a:p>
            <a:pPr/>
          </a:p>
        </p:txBody>
      </p:sp>
      <p:sp>
        <p:nvSpPr>
          <p:cNvPr id="33"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4" name="Body Level One…"/>
          <p:cNvSpPr txBox="1"/>
          <p:nvPr>
            <p:ph type="body" sz="quarter" idx="1" hasCustomPrompt="1"/>
          </p:nvPr>
        </p:nvSpPr>
        <p:spPr>
          <a:xfrm>
            <a:off x="1206500" y="7060576"/>
            <a:ext cx="9779000" cy="5385424"/>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1"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62" name="Bowl of pappardelle pasta with parsley butter, roasted hazelnuts, and shaved parmesan cheese"/>
          <p:cNvSpPr/>
          <p:nvPr>
            <p:ph type="pic" idx="22"/>
          </p:nvPr>
        </p:nvSpPr>
        <p:spPr>
          <a:xfrm>
            <a:off x="12192000" y="-407266"/>
            <a:ext cx="10916874" cy="14555832"/>
          </a:xfrm>
          <a:prstGeom prst="rect">
            <a:avLst/>
          </a:prstGeom>
        </p:spPr>
        <p:txBody>
          <a:bodyPr lIns="91439" tIns="45719" rIns="91439" bIns="45719">
            <a:noAutofit/>
          </a:bodyPr>
          <a:lstStyle/>
          <a:p>
            <a:pPr/>
          </a:p>
        </p:txBody>
      </p:sp>
      <p:sp>
        <p:nvSpPr>
          <p:cNvPr id="6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7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Subtitle"/>
          <p:cNvSpPr txBox="1"/>
          <p:nvPr>
            <p:ph type="body" sz="quarter" idx="21" hasCustomPrompt="1"/>
          </p:nvPr>
        </p:nvSpPr>
        <p:spPr>
          <a:xfrm>
            <a:off x="1206500" y="2372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2" name="Body Level One…"/>
          <p:cNvSpPr txBox="1"/>
          <p:nvPr>
            <p:ph type="body" sz="half" idx="1" hasCustomPrompt="1"/>
          </p:nvPr>
        </p:nvSpPr>
        <p:spPr>
          <a:xfrm>
            <a:off x="1206500" y="4248504"/>
            <a:ext cx="9779000" cy="8256630"/>
          </a:xfrm>
          <a:prstGeom prst="rect">
            <a:avLst/>
          </a:prstGeom>
        </p:spPr>
        <p:txBody>
          <a:bodyPr/>
          <a:lstStyle/>
          <a:p>
            <a:pPr/>
            <a:r>
              <a:t>Slide bullet text</a:t>
            </a:r>
          </a:p>
          <a:p>
            <a:pPr lvl="1"/>
            <a:r>
              <a:t/>
            </a:r>
          </a:p>
          <a:p>
            <a:pPr lvl="2"/>
            <a:r>
              <a:t/>
            </a:r>
          </a:p>
          <a:p>
            <a:pPr lvl="3"/>
            <a:r>
              <a:t/>
            </a:r>
          </a:p>
          <a:p>
            <a:pPr lvl="4"/>
            <a:r>
              <a:t/>
            </a:r>
          </a:p>
        </p:txBody>
      </p:sp>
      <p:sp>
        <p:nvSpPr>
          <p:cNvPr id="83" name="Slide Title"/>
          <p:cNvSpPr txBox="1"/>
          <p:nvPr>
            <p:ph type="title" hasCustomPrompt="1"/>
          </p:nvPr>
        </p:nvSpPr>
        <p:spPr>
          <a:xfrm>
            <a:off x="1206500" y="1079500"/>
            <a:ext cx="9779000" cy="1435100"/>
          </a:xfrm>
          <a:prstGeom prst="rect">
            <a:avLst/>
          </a:prstGeom>
        </p:spPr>
        <p:txBody>
          <a:bodyPr/>
          <a:lstStyle/>
          <a:p>
            <a:pPr/>
            <a:r>
              <a:t>Slide Title</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1079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1079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372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Body Level One…"/>
          <p:cNvSpPr txBox="1"/>
          <p:nvPr>
            <p:ph type="body" idx="1" hasCustomPrompt="1"/>
          </p:nvPr>
        </p:nvSpPr>
        <p:spPr>
          <a:xfrm>
            <a:off x="1206500" y="1075927"/>
            <a:ext cx="21971000" cy="7241584"/>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7"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30025" y="10675453"/>
            <a:ext cx="202000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Bowl of salad with fried rice, boiled eggs, and chopsticks"/>
          <p:cNvSpPr/>
          <p:nvPr>
            <p:ph type="pic" sz="quarter" idx="21"/>
          </p:nvPr>
        </p:nvSpPr>
        <p:spPr>
          <a:xfrm>
            <a:off x="15760700" y="1016000"/>
            <a:ext cx="7439099" cy="5949678"/>
          </a:xfrm>
          <a:prstGeom prst="rect">
            <a:avLst/>
          </a:prstGeom>
        </p:spPr>
        <p:txBody>
          <a:bodyPr lIns="91439" tIns="45719" rIns="91439" bIns="45719">
            <a:noAutofit/>
          </a:bodyPr>
          <a:lstStyle/>
          <a:p>
            <a:pPr/>
          </a:p>
        </p:txBody>
      </p:sp>
      <p:sp>
        <p:nvSpPr>
          <p:cNvPr id="145" name="Bowl with salmon cakes, salad, and hummus "/>
          <p:cNvSpPr/>
          <p:nvPr>
            <p:ph type="pic" sz="half" idx="22"/>
          </p:nvPr>
        </p:nvSpPr>
        <p:spPr>
          <a:xfrm>
            <a:off x="13500100" y="3978275"/>
            <a:ext cx="10439400" cy="12150181"/>
          </a:xfrm>
          <a:prstGeom prst="rect">
            <a:avLst/>
          </a:prstGeom>
        </p:spPr>
        <p:txBody>
          <a:bodyPr lIns="91439" tIns="45719" rIns="91439" bIns="45719">
            <a:noAutofit/>
          </a:bodyPr>
          <a:lstStyle/>
          <a:p>
            <a:pPr/>
          </a:p>
        </p:txBody>
      </p:sp>
      <p:sp>
        <p:nvSpPr>
          <p:cNvPr id="146" name="Bowl of pappardelle pasta with parsley butter, roasted hazelnuts, and shaved parmesan cheese"/>
          <p:cNvSpPr/>
          <p:nvPr>
            <p:ph type="pic" idx="23"/>
          </p:nvPr>
        </p:nvSpPr>
        <p:spPr>
          <a:xfrm>
            <a:off x="-139700" y="495300"/>
            <a:ext cx="16611600" cy="124587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bowl of salad with fried rice, boiled eggs, and chopsticks"/>
          <p:cNvSpPr/>
          <p:nvPr>
            <p:ph type="pic" idx="21"/>
          </p:nvPr>
        </p:nvSpPr>
        <p:spPr>
          <a:xfrm>
            <a:off x="-1333500" y="-5524500"/>
            <a:ext cx="27051000" cy="21640800"/>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lvl1pPr>
              <a:defRPr>
                <a:solidFill>
                  <a:srgbClr val="FFFFFF"/>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1079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000000"/>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000000"/>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3.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15.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17.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3.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4.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5.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6.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7.png"/></Relationships>

</file>

<file path=ppt/slides/_rels/slide4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8.png"/></Relationships>

</file>

<file path=ppt/slides/_rels/slide5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9.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0.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Nimet Beyza Bozdağ, Hyeonjeong Ha, Shuhaib Mehri"/>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Nimet Beyza Bozdağ, Hyeonjeong Ha, Shuhaib Mehri</a:t>
            </a:r>
          </a:p>
        </p:txBody>
      </p:sp>
      <p:sp>
        <p:nvSpPr>
          <p:cNvPr id="172" name="Agent Framework:  Multi-agent Systems"/>
          <p:cNvSpPr txBox="1"/>
          <p:nvPr>
            <p:ph type="ctrTitle"/>
          </p:nvPr>
        </p:nvSpPr>
        <p:spPr>
          <a:prstGeom prst="rect">
            <a:avLst/>
          </a:prstGeom>
        </p:spPr>
        <p:txBody>
          <a:bodyPr/>
          <a:lstStyle/>
          <a:p>
            <a:pPr/>
            <a:r>
              <a:t>Agent Framework: </a:t>
            </a:r>
            <a:br/>
            <a:r>
              <a:t>Multi-agent Systems</a:t>
            </a:r>
          </a:p>
        </p:txBody>
      </p:sp>
      <p:sp>
        <p:nvSpPr>
          <p:cNvPr id="173"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Arxiv’2023"/>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Arxiv’2023</a:t>
            </a:r>
          </a:p>
        </p:txBody>
      </p:sp>
      <p:sp>
        <p:nvSpPr>
          <p:cNvPr id="176" name="AutoGen: Enabling Next-Gen LLM…"/>
          <p:cNvSpPr txBox="1"/>
          <p:nvPr>
            <p:ph type="ctrTitle"/>
          </p:nvPr>
        </p:nvSpPr>
        <p:spPr>
          <a:prstGeom prst="rect">
            <a:avLst/>
          </a:prstGeom>
        </p:spPr>
        <p:txBody>
          <a:bodyPr/>
          <a:lstStyle/>
          <a:p>
            <a:pPr>
              <a:defRPr spc="-159" sz="8000"/>
            </a:pPr>
            <a:r>
              <a:t>AutoGen: Enabling Next-Gen LLM</a:t>
            </a:r>
          </a:p>
          <a:p>
            <a:pPr>
              <a:defRPr spc="-159" sz="8000"/>
            </a:pPr>
            <a:r>
              <a:t>Applications via Multi-Agent Conversation</a:t>
            </a:r>
          </a:p>
        </p:txBody>
      </p:sp>
      <p:sp>
        <p:nvSpPr>
          <p:cNvPr id="177" name="Qingyun Wu, Gagan Bansal, Jieyu Zhang, Yiran Wu, Beibin Li, Erkang Zhu, Li Jiang, Xiaoyun Zhang, Shaokun Zhang, Jiale Liu, Ahmed Hassan Awadallah, Ryen W White, Doug Burger, Chi Wang"/>
          <p:cNvSpPr txBox="1"/>
          <p:nvPr/>
        </p:nvSpPr>
        <p:spPr>
          <a:xfrm>
            <a:off x="1206499" y="10596540"/>
            <a:ext cx="21971002" cy="1229694"/>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defTabSz="825500">
              <a:lnSpc>
                <a:spcPct val="100000"/>
              </a:lnSpc>
              <a:spcBef>
                <a:spcPts val="0"/>
              </a:spcBef>
              <a:defRPr b="1" sz="3600"/>
            </a:lvl1pPr>
          </a:lstStyle>
          <a:p>
            <a:pPr/>
            <a:r>
              <a:t>Qingyun Wu, Gagan Bansal, Jieyu Zhang, Yiran Wu, Beibin Li, Erkang Zhu, Li Jiang, Xiaoyun Zhang, Shaokun Zhang, Jiale Liu, Ahmed Hassan Awadallah, Ryen W White, Doug Burger, Chi Wang</a:t>
            </a:r>
          </a:p>
        </p:txBody>
      </p:sp>
      <p:sp>
        <p:nvSpPr>
          <p:cNvPr id="178"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Motivation"/>
          <p:cNvSpPr txBox="1"/>
          <p:nvPr>
            <p:ph type="title"/>
          </p:nvPr>
        </p:nvSpPr>
        <p:spPr>
          <a:prstGeom prst="rect">
            <a:avLst/>
          </a:prstGeom>
        </p:spPr>
        <p:txBody>
          <a:bodyPr/>
          <a:lstStyle/>
          <a:p>
            <a:pPr/>
            <a:r>
              <a:t>Motivation</a:t>
            </a:r>
          </a:p>
        </p:txBody>
      </p:sp>
      <p:sp>
        <p:nvSpPr>
          <p:cNvPr id="181" name="Can Multi-Agent Approach Solve Complex Task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Can Multi-Agent Approach Solve Complex Tasks?</a:t>
            </a:r>
          </a:p>
        </p:txBody>
      </p:sp>
      <p:sp>
        <p:nvSpPr>
          <p:cNvPr id="182" name="Multiple agents can help:…"/>
          <p:cNvSpPr txBox="1"/>
          <p:nvPr>
            <p:ph type="body" idx="1"/>
          </p:nvPr>
        </p:nvSpPr>
        <p:spPr>
          <a:prstGeom prst="rect">
            <a:avLst/>
          </a:prstGeom>
        </p:spPr>
        <p:txBody>
          <a:bodyPr/>
          <a:lstStyle/>
          <a:p>
            <a:pPr marL="0" indent="0">
              <a:buSzTx/>
              <a:buNone/>
            </a:pPr>
            <a:r>
              <a:t>Multiple agents can help:</a:t>
            </a:r>
          </a:p>
          <a:p>
            <a:pPr lvl="1"/>
            <a:r>
              <a:t>encourage divergent thinking</a:t>
            </a:r>
          </a:p>
          <a:p>
            <a:pPr lvl="1"/>
            <a:r>
              <a:t>improve factuality and reasoning</a:t>
            </a:r>
          </a:p>
          <a:p>
            <a:pPr lvl="1"/>
            <a:r>
              <a:t>provide validation </a:t>
            </a:r>
          </a:p>
        </p:txBody>
      </p:sp>
      <p:sp>
        <p:nvSpPr>
          <p:cNvPr id="183"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5" name="Motivation"/>
          <p:cNvSpPr txBox="1"/>
          <p:nvPr>
            <p:ph type="title"/>
          </p:nvPr>
        </p:nvSpPr>
        <p:spPr>
          <a:prstGeom prst="rect">
            <a:avLst/>
          </a:prstGeom>
        </p:spPr>
        <p:txBody>
          <a:bodyPr/>
          <a:lstStyle/>
          <a:p>
            <a:pPr/>
            <a:r>
              <a:t>Motivation</a:t>
            </a:r>
          </a:p>
        </p:txBody>
      </p:sp>
      <p:sp>
        <p:nvSpPr>
          <p:cNvPr id="186" name="Can Multi-Agent Approach Solve Complex Task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Can Multi-Agent Approach Solve Complex Tasks?</a:t>
            </a:r>
          </a:p>
        </p:txBody>
      </p:sp>
      <p:sp>
        <p:nvSpPr>
          <p:cNvPr id="187" name="Reasons why multi-agent conversations could be useful:…"/>
          <p:cNvSpPr txBox="1"/>
          <p:nvPr>
            <p:ph type="body" idx="1"/>
          </p:nvPr>
        </p:nvSpPr>
        <p:spPr>
          <a:prstGeom prst="rect">
            <a:avLst/>
          </a:prstGeom>
        </p:spPr>
        <p:txBody>
          <a:bodyPr/>
          <a:lstStyle/>
          <a:p>
            <a:pPr marL="0" indent="0">
              <a:buSzTx/>
              <a:buNone/>
            </a:pPr>
            <a:r>
              <a:t>Reasons why multi-agent conversations could be useful: </a:t>
            </a:r>
          </a:p>
          <a:p>
            <a:pPr lvl="1"/>
            <a:r>
              <a:t>LLM agents can cooperate through conversations with each other or human(s), </a:t>
            </a:r>
          </a:p>
          <a:p>
            <a:pPr lvl="1"/>
            <a:r>
              <a:t>Conversations between differently configured agents can help combine broad LLM capabilities in a modular and complementary manner,</a:t>
            </a:r>
          </a:p>
          <a:p>
            <a:pPr lvl="1"/>
            <a:r>
              <a:t>Multi-agent conversations can enable partitioning and integration of tasks in an intuitive manner.</a:t>
            </a:r>
          </a:p>
        </p:txBody>
      </p:sp>
      <p:sp>
        <p:nvSpPr>
          <p:cNvPr id="188"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2" name="Goal"/>
          <p:cNvSpPr txBox="1"/>
          <p:nvPr>
            <p:ph type="title"/>
          </p:nvPr>
        </p:nvSpPr>
        <p:spPr>
          <a:prstGeom prst="rect">
            <a:avLst/>
          </a:prstGeom>
        </p:spPr>
        <p:txBody>
          <a:bodyPr/>
          <a:lstStyle/>
          <a:p>
            <a:pPr/>
            <a:r>
              <a:t>Goal</a:t>
            </a:r>
          </a:p>
        </p:txBody>
      </p:sp>
      <p:sp>
        <p:nvSpPr>
          <p:cNvPr id="193" name="A Multi-Agent Conversation Framework"/>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 Multi-Agent Conversation Framework</a:t>
            </a:r>
          </a:p>
        </p:txBody>
      </p:sp>
      <p:sp>
        <p:nvSpPr>
          <p:cNvPr id="194" name="Designing individual agents that are capable, reusable, customizable, and effective in multi-agent collaboration.…"/>
          <p:cNvSpPr txBox="1"/>
          <p:nvPr>
            <p:ph type="body" idx="1"/>
          </p:nvPr>
        </p:nvSpPr>
        <p:spPr>
          <a:prstGeom prst="rect">
            <a:avLst/>
          </a:prstGeom>
        </p:spPr>
        <p:txBody>
          <a:bodyPr/>
          <a:lstStyle/>
          <a:p>
            <a:pPr marL="889000" indent="-889000">
              <a:buSzPct val="100000"/>
              <a:buAutoNum type="arabicPeriod" startAt="1"/>
            </a:pPr>
            <a:r>
              <a:t>Designing individual agents that are capable, reusable, customizable, and effective in multi-agent collaboration. </a:t>
            </a:r>
          </a:p>
          <a:p>
            <a:pPr marL="889000" indent="-889000">
              <a:buSzPct val="100000"/>
              <a:buAutoNum type="arabicPeriod" startAt="1"/>
            </a:pPr>
            <a:r>
              <a:t>Developing a straightforward, unified interface that can accommodate a wide range of agent conversation patterns. </a:t>
            </a:r>
          </a:p>
        </p:txBody>
      </p:sp>
      <p:sp>
        <p:nvSpPr>
          <p:cNvPr id="195"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 name="Solution"/>
          <p:cNvSpPr txBox="1"/>
          <p:nvPr>
            <p:ph type="title"/>
          </p:nvPr>
        </p:nvSpPr>
        <p:spPr>
          <a:prstGeom prst="rect">
            <a:avLst/>
          </a:prstGeom>
        </p:spPr>
        <p:txBody>
          <a:bodyPr/>
          <a:lstStyle/>
          <a:p>
            <a:pPr/>
            <a:r>
              <a:t>Solution</a:t>
            </a:r>
          </a:p>
        </p:txBody>
      </p:sp>
      <p:sp>
        <p:nvSpPr>
          <p:cNvPr id="198" name="AutoGen: A Generalized Multi-Agent Conversation Framework"/>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AutoGen: A Generalized Multi-Agent Conversation Framework</a:t>
            </a:r>
          </a:p>
        </p:txBody>
      </p:sp>
      <p:sp>
        <p:nvSpPr>
          <p:cNvPr id="199"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0" name="Screenshot 2025-03-26 at 09.54.21.png" descr="Screenshot 2025-03-26 at 09.54.21.png"/>
          <p:cNvPicPr>
            <a:picLocks noChangeAspect="1"/>
          </p:cNvPicPr>
          <p:nvPr/>
        </p:nvPicPr>
        <p:blipFill>
          <a:blip r:embed="rId2">
            <a:extLst/>
          </a:blip>
          <a:stretch>
            <a:fillRect/>
          </a:stretch>
        </p:blipFill>
        <p:spPr>
          <a:xfrm>
            <a:off x="3200211" y="4113854"/>
            <a:ext cx="17983578" cy="8525311"/>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2" name="Solution"/>
          <p:cNvSpPr txBox="1"/>
          <p:nvPr>
            <p:ph type="title"/>
          </p:nvPr>
        </p:nvSpPr>
        <p:spPr>
          <a:prstGeom prst="rect">
            <a:avLst/>
          </a:prstGeom>
        </p:spPr>
        <p:txBody>
          <a:bodyPr/>
          <a:lstStyle/>
          <a:p>
            <a:pPr/>
            <a:r>
              <a:t>Solution</a:t>
            </a:r>
          </a:p>
        </p:txBody>
      </p:sp>
      <p:sp>
        <p:nvSpPr>
          <p:cNvPr id="203" name="AutoGen: A Generalized Multi-Agent Conversation Framework"/>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AutoGen: A Generalized Multi-Agent Conversation Framework</a:t>
            </a:r>
          </a:p>
        </p:txBody>
      </p:sp>
      <p:sp>
        <p:nvSpPr>
          <p:cNvPr id="204"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05" name="Screenshot 2025-03-26 at 11.29.44.png" descr="Screenshot 2025-03-26 at 11.29.44.png"/>
          <p:cNvPicPr>
            <a:picLocks noChangeAspect="1"/>
          </p:cNvPicPr>
          <p:nvPr/>
        </p:nvPicPr>
        <p:blipFill>
          <a:blip r:embed="rId2">
            <a:extLst/>
          </a:blip>
          <a:stretch>
            <a:fillRect/>
          </a:stretch>
        </p:blipFill>
        <p:spPr>
          <a:xfrm>
            <a:off x="3468149" y="4888384"/>
            <a:ext cx="17447702" cy="697625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7" name="The AutoGen Framework"/>
          <p:cNvSpPr txBox="1"/>
          <p:nvPr>
            <p:ph type="title"/>
          </p:nvPr>
        </p:nvSpPr>
        <p:spPr>
          <a:prstGeom prst="rect">
            <a:avLst/>
          </a:prstGeom>
        </p:spPr>
        <p:txBody>
          <a:bodyPr/>
          <a:lstStyle/>
          <a:p>
            <a:pPr/>
            <a:r>
              <a:t>The AutoGen Framework</a:t>
            </a:r>
          </a:p>
        </p:txBody>
      </p:sp>
      <p:sp>
        <p:nvSpPr>
          <p:cNvPr id="208" name="Conversable Ag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Conversable Agents</a:t>
            </a:r>
          </a:p>
        </p:txBody>
      </p:sp>
      <p:sp>
        <p:nvSpPr>
          <p:cNvPr id="209" name="A conversable agent is an entity with a specific role that can pass messages to send and receive information to and from other conversable agents."/>
          <p:cNvSpPr txBox="1"/>
          <p:nvPr>
            <p:ph type="body" idx="1"/>
          </p:nvPr>
        </p:nvSpPr>
        <p:spPr>
          <a:prstGeom prst="rect">
            <a:avLst/>
          </a:prstGeom>
        </p:spPr>
        <p:txBody>
          <a:bodyPr/>
          <a:lstStyle/>
          <a:p>
            <a:pPr marL="0" indent="0">
              <a:buSzTx/>
              <a:buNone/>
            </a:pPr>
            <a:r>
              <a:t>A </a:t>
            </a:r>
            <a:r>
              <a:rPr b="1" i="1">
                <a:solidFill>
                  <a:srgbClr val="0433FF"/>
                </a:solidFill>
              </a:rPr>
              <a:t>conversable agent</a:t>
            </a:r>
            <a:r>
              <a:t> is an entity with a specific role that can pass messages to send and receive information to and from other conversable agents.</a:t>
            </a:r>
          </a:p>
        </p:txBody>
      </p:sp>
      <p:sp>
        <p:nvSpPr>
          <p:cNvPr id="210"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2" name="The AutoGen Framework"/>
          <p:cNvSpPr txBox="1"/>
          <p:nvPr>
            <p:ph type="title"/>
          </p:nvPr>
        </p:nvSpPr>
        <p:spPr>
          <a:prstGeom prst="rect">
            <a:avLst/>
          </a:prstGeom>
        </p:spPr>
        <p:txBody>
          <a:bodyPr/>
          <a:lstStyle/>
          <a:p>
            <a:pPr/>
            <a:r>
              <a:t>The AutoGen Framework</a:t>
            </a:r>
          </a:p>
        </p:txBody>
      </p:sp>
      <p:sp>
        <p:nvSpPr>
          <p:cNvPr id="213" name="Conversable Ag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Conversable Agents</a:t>
            </a:r>
          </a:p>
        </p:txBody>
      </p:sp>
      <p:sp>
        <p:nvSpPr>
          <p:cNvPr id="214" name="In Autogen, agents are powered by:…"/>
          <p:cNvSpPr txBox="1"/>
          <p:nvPr>
            <p:ph type="body" idx="1"/>
          </p:nvPr>
        </p:nvSpPr>
        <p:spPr>
          <a:prstGeom prst="rect">
            <a:avLst/>
          </a:prstGeom>
        </p:spPr>
        <p:txBody>
          <a:bodyPr/>
          <a:lstStyle/>
          <a:p>
            <a:pPr marL="0" indent="0">
              <a:buSzTx/>
              <a:buNone/>
            </a:pPr>
            <a:r>
              <a:t>In Autogen, agents are powered by: </a:t>
            </a:r>
          </a:p>
          <a:p>
            <a:pPr marL="889000" indent="-889000">
              <a:buSzPct val="100000"/>
              <a:buAutoNum type="arabicPeriod" startAt="1"/>
              <a:defRPr b="1"/>
            </a:pPr>
            <a:r>
              <a:t>LLMs</a:t>
            </a:r>
          </a:p>
          <a:p>
            <a:pPr lvl="1"/>
            <a:r>
              <a:t>Uses capabilities of advanced LLMs such as role playing, implicit state inference and progress making.</a:t>
            </a:r>
          </a:p>
          <a:p>
            <a:pPr marL="889000" indent="-889000">
              <a:buSzPct val="100000"/>
              <a:buAutoNum type="arabicPeriod" startAt="1"/>
              <a:defRPr b="1"/>
            </a:pPr>
            <a:r>
              <a:t>Humans</a:t>
            </a:r>
          </a:p>
          <a:p>
            <a:pPr marL="889000" indent="-889000">
              <a:buSzPct val="100000"/>
              <a:buAutoNum type="arabicPeriod" startAt="1"/>
              <a:defRPr b="1"/>
            </a:pPr>
            <a:r>
              <a:t>Tools</a:t>
            </a:r>
          </a:p>
        </p:txBody>
      </p:sp>
      <p:sp>
        <p:nvSpPr>
          <p:cNvPr id="215" name="Slide Number"/>
          <p:cNvSpPr txBox="1"/>
          <p:nvPr>
            <p:ph type="sldNum" sz="quarter" idx="2"/>
          </p:nvPr>
        </p:nvSpPr>
        <p:spPr>
          <a:xfrm>
            <a:off x="12065050" y="13080999"/>
            <a:ext cx="241403" cy="374600"/>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9" name="The AutoGen Framework"/>
          <p:cNvSpPr txBox="1"/>
          <p:nvPr>
            <p:ph type="title"/>
          </p:nvPr>
        </p:nvSpPr>
        <p:spPr>
          <a:prstGeom prst="rect">
            <a:avLst/>
          </a:prstGeom>
        </p:spPr>
        <p:txBody>
          <a:bodyPr/>
          <a:lstStyle/>
          <a:p>
            <a:pPr/>
            <a:r>
              <a:t>The AutoGen Framework</a:t>
            </a:r>
          </a:p>
        </p:txBody>
      </p:sp>
      <p:sp>
        <p:nvSpPr>
          <p:cNvPr id="220" name="Conversable Ag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Conversable Agents</a:t>
            </a:r>
          </a:p>
        </p:txBody>
      </p:sp>
      <p:sp>
        <p:nvSpPr>
          <p:cNvPr id="221" name="In Autogen, agents are powered by:…"/>
          <p:cNvSpPr txBox="1"/>
          <p:nvPr>
            <p:ph type="body" idx="1"/>
          </p:nvPr>
        </p:nvSpPr>
        <p:spPr>
          <a:prstGeom prst="rect">
            <a:avLst/>
          </a:prstGeom>
        </p:spPr>
        <p:txBody>
          <a:bodyPr/>
          <a:lstStyle/>
          <a:p>
            <a:pPr marL="0" indent="0">
              <a:buSzTx/>
              <a:buNone/>
            </a:pPr>
            <a:r>
              <a:t>In Autogen, agents are powered by: </a:t>
            </a:r>
          </a:p>
          <a:p>
            <a:pPr marL="889000" indent="-889000">
              <a:buSzPct val="100000"/>
              <a:buAutoNum type="arabicPeriod" startAt="1"/>
              <a:defRPr b="1"/>
            </a:pPr>
            <a:r>
              <a:t>LLMs</a:t>
            </a:r>
          </a:p>
          <a:p>
            <a:pPr marL="889000" indent="-889000">
              <a:buSzPct val="100000"/>
              <a:buAutoNum type="arabicPeriod" startAt="1"/>
              <a:defRPr b="1"/>
            </a:pPr>
            <a:r>
              <a:t>Humans</a:t>
            </a:r>
          </a:p>
          <a:p>
            <a:pPr lvl="1"/>
            <a:r>
              <a:t>Solicits human inputs at certain rounds of a conversation depending on the agent configuration.</a:t>
            </a:r>
          </a:p>
          <a:p>
            <a:pPr marL="889000" indent="-889000">
              <a:buSzPct val="100000"/>
              <a:buAutoNum type="arabicPeriod" startAt="1"/>
              <a:defRPr b="1"/>
            </a:pPr>
            <a:r>
              <a:t>Tools</a:t>
            </a:r>
          </a:p>
        </p:txBody>
      </p:sp>
      <p:sp>
        <p:nvSpPr>
          <p:cNvPr id="22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6" name="The AutoGen Framework"/>
          <p:cNvSpPr txBox="1"/>
          <p:nvPr>
            <p:ph type="title"/>
          </p:nvPr>
        </p:nvSpPr>
        <p:spPr>
          <a:prstGeom prst="rect">
            <a:avLst/>
          </a:prstGeom>
        </p:spPr>
        <p:txBody>
          <a:bodyPr/>
          <a:lstStyle/>
          <a:p>
            <a:pPr/>
            <a:r>
              <a:t>The AutoGen Framework</a:t>
            </a:r>
          </a:p>
        </p:txBody>
      </p:sp>
      <p:sp>
        <p:nvSpPr>
          <p:cNvPr id="227" name="Conversable Ag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Conversable Agents</a:t>
            </a:r>
          </a:p>
        </p:txBody>
      </p:sp>
      <p:sp>
        <p:nvSpPr>
          <p:cNvPr id="228" name="In Autogen, agents are powered by:…"/>
          <p:cNvSpPr txBox="1"/>
          <p:nvPr>
            <p:ph type="body" idx="1"/>
          </p:nvPr>
        </p:nvSpPr>
        <p:spPr>
          <a:prstGeom prst="rect">
            <a:avLst/>
          </a:prstGeom>
        </p:spPr>
        <p:txBody>
          <a:bodyPr/>
          <a:lstStyle/>
          <a:p>
            <a:pPr marL="0" indent="0">
              <a:buSzTx/>
              <a:buNone/>
            </a:pPr>
            <a:r>
              <a:t>In Autogen, agents are powered by: </a:t>
            </a:r>
          </a:p>
          <a:p>
            <a:pPr marL="889000" indent="-889000">
              <a:buSzPct val="100000"/>
              <a:buAutoNum type="arabicPeriod" startAt="1"/>
              <a:defRPr b="1"/>
            </a:pPr>
            <a:r>
              <a:t>LLMs</a:t>
            </a:r>
          </a:p>
          <a:p>
            <a:pPr marL="889000" indent="-889000">
              <a:buSzPct val="100000"/>
              <a:buAutoNum type="arabicPeriod" startAt="1"/>
              <a:defRPr b="1"/>
            </a:pPr>
            <a:r>
              <a:t>Humans</a:t>
            </a:r>
          </a:p>
          <a:p>
            <a:pPr marL="889000" indent="-889000">
              <a:buSzPct val="100000"/>
              <a:buAutoNum type="arabicPeriod" startAt="1"/>
              <a:defRPr b="1"/>
            </a:pPr>
            <a:r>
              <a:t>Tools</a:t>
            </a:r>
          </a:p>
          <a:p>
            <a:pPr lvl="1"/>
            <a:r>
              <a:t>Executes tools via code execution or function execution.</a:t>
            </a:r>
          </a:p>
        </p:txBody>
      </p:sp>
      <p:sp>
        <p:nvSpPr>
          <p:cNvPr id="22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The AutoGen Framework"/>
          <p:cNvSpPr txBox="1"/>
          <p:nvPr>
            <p:ph type="title"/>
          </p:nvPr>
        </p:nvSpPr>
        <p:spPr>
          <a:prstGeom prst="rect">
            <a:avLst/>
          </a:prstGeom>
        </p:spPr>
        <p:txBody>
          <a:bodyPr/>
          <a:lstStyle/>
          <a:p>
            <a:pPr/>
            <a:r>
              <a:t>The AutoGen Framework</a:t>
            </a:r>
          </a:p>
        </p:txBody>
      </p:sp>
      <p:sp>
        <p:nvSpPr>
          <p:cNvPr id="234" name="Conversable Ag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Conversable Agents</a:t>
            </a:r>
          </a:p>
        </p:txBody>
      </p:sp>
      <p:sp>
        <p:nvSpPr>
          <p:cNvPr id="235" name="Agent can be configured to have a mix of basic back-end types to display complex behavior in multi-agent conversations."/>
          <p:cNvSpPr txBox="1"/>
          <p:nvPr>
            <p:ph type="body" idx="1"/>
          </p:nvPr>
        </p:nvSpPr>
        <p:spPr>
          <a:prstGeom prst="rect">
            <a:avLst/>
          </a:prstGeom>
        </p:spPr>
        <p:txBody>
          <a:bodyPr/>
          <a:lstStyle>
            <a:lvl1pPr marL="0" indent="0">
              <a:buSzTx/>
              <a:buNone/>
            </a:lvl1pPr>
          </a:lstStyle>
          <a:p>
            <a:pPr/>
            <a:r>
              <a:t>Agent can be configured to have a mix of basic back-end types to display complex behavior in multi-agent conversations.</a:t>
            </a:r>
          </a:p>
        </p:txBody>
      </p:sp>
      <p:sp>
        <p:nvSpPr>
          <p:cNvPr id="23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37" name="Screenshot 2025-03-26 at 10.16.11.png" descr="Screenshot 2025-03-26 at 10.16.11.png"/>
          <p:cNvPicPr>
            <a:picLocks noChangeAspect="1"/>
          </p:cNvPicPr>
          <p:nvPr/>
        </p:nvPicPr>
        <p:blipFill>
          <a:blip r:embed="rId3">
            <a:extLst/>
          </a:blip>
          <a:srcRect l="0" t="0" r="0" b="1937"/>
          <a:stretch>
            <a:fillRect/>
          </a:stretch>
        </p:blipFill>
        <p:spPr>
          <a:xfrm>
            <a:off x="2554684" y="6517187"/>
            <a:ext cx="19274790" cy="5494592"/>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1" name="The AutoGen Framework"/>
          <p:cNvSpPr txBox="1"/>
          <p:nvPr>
            <p:ph type="title"/>
          </p:nvPr>
        </p:nvSpPr>
        <p:spPr>
          <a:prstGeom prst="rect">
            <a:avLst/>
          </a:prstGeom>
        </p:spPr>
        <p:txBody>
          <a:bodyPr/>
          <a:lstStyle/>
          <a:p>
            <a:pPr/>
            <a:r>
              <a:t>The AutoGen Framework</a:t>
            </a:r>
          </a:p>
        </p:txBody>
      </p:sp>
      <p:sp>
        <p:nvSpPr>
          <p:cNvPr id="242" name="Conversable Ag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Conversable Agents</a:t>
            </a:r>
          </a:p>
        </p:txBody>
      </p:sp>
      <p:sp>
        <p:nvSpPr>
          <p:cNvPr id="24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44" name="Screenshot 2025-03-26 at 10.18.56.png" descr="Screenshot 2025-03-26 at 10.18.56.png"/>
          <p:cNvPicPr>
            <a:picLocks noChangeAspect="1"/>
          </p:cNvPicPr>
          <p:nvPr/>
        </p:nvPicPr>
        <p:blipFill>
          <a:blip r:embed="rId3">
            <a:extLst/>
          </a:blip>
          <a:stretch>
            <a:fillRect/>
          </a:stretch>
        </p:blipFill>
        <p:spPr>
          <a:xfrm>
            <a:off x="1421368" y="5133343"/>
            <a:ext cx="21541264" cy="6486335"/>
          </a:xfrm>
          <a:prstGeom prst="rect">
            <a:avLst/>
          </a:prstGeom>
          <a:ln w="12700">
            <a:miter lim="400000"/>
          </a:ln>
        </p:spPr>
      </p:pic>
      <p:sp>
        <p:nvSpPr>
          <p:cNvPr id="245" name="Rounded Rectangle"/>
          <p:cNvSpPr/>
          <p:nvPr/>
        </p:nvSpPr>
        <p:spPr>
          <a:xfrm>
            <a:off x="13036550" y="5340350"/>
            <a:ext cx="1307356" cy="653009"/>
          </a:xfrm>
          <a:prstGeom prst="roundRect">
            <a:avLst>
              <a:gd name="adj" fmla="val 19995"/>
            </a:avLst>
          </a:prstGeom>
          <a:ln w="50800">
            <a:solidFill>
              <a:schemeClr val="accent5">
                <a:hueOff val="-82419"/>
                <a:satOff val="-9513"/>
                <a:lumOff val="-16343"/>
              </a:scheme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46" name="Human-backed  User Proxy Agent"/>
          <p:cNvSpPr txBox="1"/>
          <p:nvPr/>
        </p:nvSpPr>
        <p:spPr>
          <a:xfrm>
            <a:off x="12389589" y="3244008"/>
            <a:ext cx="2601278" cy="817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defRPr sz="2500">
                <a:solidFill>
                  <a:schemeClr val="accent5">
                    <a:hueOff val="-82419"/>
                    <a:satOff val="-9513"/>
                    <a:lumOff val="-16343"/>
                  </a:schemeClr>
                </a:solidFill>
              </a:defRPr>
            </a:pPr>
            <a:r>
              <a:t>Human-backed </a:t>
            </a:r>
            <a:br/>
            <a:r>
              <a:t>User Proxy Agent</a:t>
            </a:r>
          </a:p>
        </p:txBody>
      </p:sp>
      <p:sp>
        <p:nvSpPr>
          <p:cNvPr id="247" name="Line"/>
          <p:cNvSpPr/>
          <p:nvPr/>
        </p:nvSpPr>
        <p:spPr>
          <a:xfrm>
            <a:off x="13690496" y="4131477"/>
            <a:ext cx="1" cy="1113504"/>
          </a:xfrm>
          <a:prstGeom prst="line">
            <a:avLst/>
          </a:prstGeom>
          <a:ln w="50800">
            <a:solidFill>
              <a:schemeClr val="accent5">
                <a:hueOff val="-82419"/>
                <a:satOff val="-9513"/>
                <a:lumOff val="-16343"/>
              </a:schemeClr>
            </a:solidFill>
            <a:miter lim="400000"/>
            <a:tailEnd type="triangle"/>
          </a:ln>
        </p:spPr>
        <p:txBody>
          <a:bodyPr lIns="50800" tIns="50800" rIns="50800" bIns="50800" anchor="ctr"/>
          <a:lstStyle/>
          <a:p>
            <a:pPr/>
          </a:p>
        </p:txBody>
      </p:sp>
      <p:sp>
        <p:nvSpPr>
          <p:cNvPr id="248" name="Rounded Rectangle"/>
          <p:cNvSpPr/>
          <p:nvPr/>
        </p:nvSpPr>
        <p:spPr>
          <a:xfrm>
            <a:off x="21402851" y="8050006"/>
            <a:ext cx="1307357" cy="653009"/>
          </a:xfrm>
          <a:prstGeom prst="roundRect">
            <a:avLst>
              <a:gd name="adj" fmla="val 19995"/>
            </a:avLst>
          </a:prstGeom>
          <a:ln w="50800">
            <a:solidFill>
              <a:schemeClr val="accent5">
                <a:hueOff val="-82419"/>
                <a:satOff val="-9513"/>
                <a:lumOff val="-16343"/>
              </a:scheme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49" name="Tool-backed  User Proxy Agent"/>
          <p:cNvSpPr txBox="1"/>
          <p:nvPr/>
        </p:nvSpPr>
        <p:spPr>
          <a:xfrm>
            <a:off x="12389589" y="11466806"/>
            <a:ext cx="2601278" cy="8175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ctr">
              <a:defRPr sz="2500">
                <a:solidFill>
                  <a:schemeClr val="accent5">
                    <a:hueOff val="-82419"/>
                    <a:satOff val="-9513"/>
                    <a:lumOff val="-16343"/>
                  </a:schemeClr>
                </a:solidFill>
              </a:defRPr>
            </a:pPr>
            <a:r>
              <a:t>Tool-backed </a:t>
            </a:r>
            <a:br/>
            <a:r>
              <a:t>User Proxy Agent</a:t>
            </a:r>
          </a:p>
        </p:txBody>
      </p:sp>
      <p:sp>
        <p:nvSpPr>
          <p:cNvPr id="250" name="Line"/>
          <p:cNvSpPr/>
          <p:nvPr/>
        </p:nvSpPr>
        <p:spPr>
          <a:xfrm flipV="1">
            <a:off x="13690228" y="10434268"/>
            <a:ext cx="1" cy="1113504"/>
          </a:xfrm>
          <a:prstGeom prst="line">
            <a:avLst/>
          </a:prstGeom>
          <a:ln w="50800">
            <a:solidFill>
              <a:schemeClr val="accent5">
                <a:hueOff val="-82419"/>
                <a:satOff val="-9513"/>
                <a:lumOff val="-16343"/>
              </a:schemeClr>
            </a:solidFill>
            <a:miter lim="400000"/>
            <a:tailEnd type="triangle"/>
          </a:ln>
        </p:spPr>
        <p:txBody>
          <a:bodyPr lIns="50800" tIns="50800" rIns="50800" bIns="50800" anchor="ctr"/>
          <a:lstStyle/>
          <a:p>
            <a:pPr/>
          </a:p>
        </p:txBody>
      </p:sp>
      <p:sp>
        <p:nvSpPr>
          <p:cNvPr id="251" name="Rounded Rectangle"/>
          <p:cNvSpPr/>
          <p:nvPr/>
        </p:nvSpPr>
        <p:spPr>
          <a:xfrm>
            <a:off x="13163550" y="9729196"/>
            <a:ext cx="1307356" cy="653009"/>
          </a:xfrm>
          <a:prstGeom prst="roundRect">
            <a:avLst>
              <a:gd name="adj" fmla="val 19995"/>
            </a:avLst>
          </a:prstGeom>
          <a:ln w="50800">
            <a:solidFill>
              <a:schemeClr val="accent5">
                <a:hueOff val="-82419"/>
                <a:satOff val="-9513"/>
                <a:lumOff val="-16343"/>
              </a:schemeClr>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252" name="Assistant Agent"/>
          <p:cNvSpPr txBox="1"/>
          <p:nvPr/>
        </p:nvSpPr>
        <p:spPr>
          <a:xfrm>
            <a:off x="21564230" y="9818845"/>
            <a:ext cx="2337118" cy="47371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defRPr sz="2500">
                <a:solidFill>
                  <a:schemeClr val="accent5">
                    <a:hueOff val="-82419"/>
                    <a:satOff val="-9513"/>
                    <a:lumOff val="-16343"/>
                  </a:schemeClr>
                </a:solidFill>
              </a:defRPr>
            </a:lvl1pPr>
          </a:lstStyle>
          <a:p>
            <a:pPr/>
            <a:r>
              <a:t>Assistant Agent</a:t>
            </a:r>
          </a:p>
        </p:txBody>
      </p:sp>
      <p:sp>
        <p:nvSpPr>
          <p:cNvPr id="253" name="Line"/>
          <p:cNvSpPr/>
          <p:nvPr/>
        </p:nvSpPr>
        <p:spPr>
          <a:xfrm flipH="1" flipV="1">
            <a:off x="22056529" y="8783671"/>
            <a:ext cx="702375" cy="1099944"/>
          </a:xfrm>
          <a:prstGeom prst="line">
            <a:avLst/>
          </a:prstGeom>
          <a:ln w="50800">
            <a:solidFill>
              <a:schemeClr val="accent5">
                <a:hueOff val="-82419"/>
                <a:satOff val="-9513"/>
                <a:lumOff val="-16343"/>
              </a:schemeClr>
            </a:solidFill>
            <a:miter lim="400000"/>
            <a:tailEnd type="triangle"/>
          </a:ln>
        </p:spPr>
        <p:txBody>
          <a:bodyPr lIns="50800" tIns="50800" rIns="50800" bIns="50800" anchor="ctr"/>
          <a:lstStyle/>
          <a:p>
            <a:pP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The AutoGen Framework"/>
          <p:cNvSpPr txBox="1"/>
          <p:nvPr>
            <p:ph type="title"/>
          </p:nvPr>
        </p:nvSpPr>
        <p:spPr>
          <a:prstGeom prst="rect">
            <a:avLst/>
          </a:prstGeom>
        </p:spPr>
        <p:txBody>
          <a:bodyPr/>
          <a:lstStyle/>
          <a:p>
            <a:pPr/>
            <a:r>
              <a:t>The AutoGen Framework</a:t>
            </a:r>
          </a:p>
        </p:txBody>
      </p:sp>
      <p:sp>
        <p:nvSpPr>
          <p:cNvPr id="258" name="Conversation Programm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Conversation Programming</a:t>
            </a:r>
          </a:p>
        </p:txBody>
      </p:sp>
      <p:sp>
        <p:nvSpPr>
          <p:cNvPr id="259" name="To develop applications where agents make meaningful progress on tasks, developers also need to be able to specify and mold these multi-agent conversations.…"/>
          <p:cNvSpPr txBox="1"/>
          <p:nvPr>
            <p:ph type="body" idx="1"/>
          </p:nvPr>
        </p:nvSpPr>
        <p:spPr>
          <a:prstGeom prst="rect">
            <a:avLst/>
          </a:prstGeom>
        </p:spPr>
        <p:txBody>
          <a:bodyPr/>
          <a:lstStyle/>
          <a:p>
            <a:pPr marL="0" indent="0">
              <a:buSzTx/>
              <a:buNone/>
            </a:pPr>
            <a:r>
              <a:t>To develop applications where agents make meaningful progress on tasks, developers also need to be able to </a:t>
            </a:r>
            <a:r>
              <a:rPr b="1"/>
              <a:t>specify</a:t>
            </a:r>
            <a:r>
              <a:t> and </a:t>
            </a:r>
            <a:r>
              <a:rPr b="1"/>
              <a:t>mold</a:t>
            </a:r>
            <a:r>
              <a:t> these multi-agent conversations.</a:t>
            </a:r>
          </a:p>
          <a:p>
            <a:pPr marL="889000" indent="-889000">
              <a:buSzPct val="100000"/>
              <a:buAutoNum type="arabicPeriod" startAt="1"/>
            </a:pPr>
            <a:r>
              <a:rPr b="1"/>
              <a:t>Computation:</a:t>
            </a:r>
            <a:r>
              <a:t> The actions agents take to compute their response in a multi-agent conversation.</a:t>
            </a:r>
          </a:p>
          <a:p>
            <a:pPr marL="889000" indent="-889000">
              <a:buSzPct val="100000"/>
              <a:buAutoNum type="arabicPeriod" startAt="1"/>
            </a:pPr>
            <a:r>
              <a:rPr b="1"/>
              <a:t>Control Flow:</a:t>
            </a:r>
            <a:r>
              <a:t> The sequence (or conditions) under which computations happen.</a:t>
            </a:r>
          </a:p>
        </p:txBody>
      </p:sp>
      <p:sp>
        <p:nvSpPr>
          <p:cNvPr id="26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The AutoGen Framework"/>
          <p:cNvSpPr txBox="1"/>
          <p:nvPr>
            <p:ph type="title"/>
          </p:nvPr>
        </p:nvSpPr>
        <p:spPr>
          <a:prstGeom prst="rect">
            <a:avLst/>
          </a:prstGeom>
        </p:spPr>
        <p:txBody>
          <a:bodyPr/>
          <a:lstStyle/>
          <a:p>
            <a:pPr/>
            <a:r>
              <a:t>The AutoGen Framework</a:t>
            </a:r>
          </a:p>
        </p:txBody>
      </p:sp>
      <p:sp>
        <p:nvSpPr>
          <p:cNvPr id="265" name="Conversation Programm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Conversation Programming</a:t>
            </a:r>
          </a:p>
        </p:txBody>
      </p:sp>
      <p:sp>
        <p:nvSpPr>
          <p:cNvPr id="266" name="Unified interfaces and auto-reply mechanisms for automated agent chat.…"/>
          <p:cNvSpPr txBox="1"/>
          <p:nvPr>
            <p:ph type="body" idx="1"/>
          </p:nvPr>
        </p:nvSpPr>
        <p:spPr>
          <a:prstGeom prst="rect">
            <a:avLst/>
          </a:prstGeom>
        </p:spPr>
        <p:txBody>
          <a:bodyPr/>
          <a:lstStyle/>
          <a:p>
            <a:pPr marL="889000" indent="-889000">
              <a:buSzPct val="100000"/>
              <a:buAutoNum type="arabicPeriod" startAt="1"/>
              <a:defRPr b="1"/>
            </a:pPr>
            <a:r>
              <a:t>Unified interfaces and auto-reply mechanisms for automated agent chat.</a:t>
            </a:r>
          </a:p>
          <a:p>
            <a:pPr lvl="1">
              <a:defRPr sz="4000"/>
            </a:pPr>
            <a:r>
              <a:rPr b="1">
                <a:latin typeface="Courier New"/>
                <a:ea typeface="Courier New"/>
                <a:cs typeface="Courier New"/>
                <a:sym typeface="Courier New"/>
              </a:rPr>
              <a:t>send/receive</a:t>
            </a:r>
            <a:r>
              <a:t> function for sending/receiving messages</a:t>
            </a:r>
          </a:p>
          <a:p>
            <a:pPr lvl="1">
              <a:defRPr sz="4000"/>
            </a:pPr>
            <a:r>
              <a:rPr b="1">
                <a:latin typeface="Courier New"/>
                <a:ea typeface="Courier New"/>
                <a:cs typeface="Courier New"/>
                <a:sym typeface="Courier New"/>
              </a:rPr>
              <a:t>generate_reply</a:t>
            </a:r>
            <a:r>
              <a:t> function for taking actions and generating a response based on the received message</a:t>
            </a:r>
          </a:p>
          <a:p>
            <a:pPr marL="889000" indent="-889000">
              <a:buSzPct val="100000"/>
              <a:buAutoNum type="arabicPeriod" startAt="1"/>
              <a:defRPr b="1"/>
            </a:pPr>
            <a:r>
              <a:t>Control by fusion of programming and natural language.</a:t>
            </a:r>
          </a:p>
        </p:txBody>
      </p:sp>
      <p:sp>
        <p:nvSpPr>
          <p:cNvPr id="267"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The AutoGen Framework"/>
          <p:cNvSpPr txBox="1"/>
          <p:nvPr>
            <p:ph type="title"/>
          </p:nvPr>
        </p:nvSpPr>
        <p:spPr>
          <a:prstGeom prst="rect">
            <a:avLst/>
          </a:prstGeom>
        </p:spPr>
        <p:txBody>
          <a:bodyPr/>
          <a:lstStyle/>
          <a:p>
            <a:pPr/>
            <a:r>
              <a:t>The AutoGen Framework</a:t>
            </a:r>
          </a:p>
        </p:txBody>
      </p:sp>
      <p:sp>
        <p:nvSpPr>
          <p:cNvPr id="272" name="Conversation Programm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Conversation Programming</a:t>
            </a:r>
          </a:p>
        </p:txBody>
      </p:sp>
      <p:sp>
        <p:nvSpPr>
          <p:cNvPr id="273" name="Unified interfaces and auto-reply mechanisms for automated agent chat.…"/>
          <p:cNvSpPr txBox="1"/>
          <p:nvPr>
            <p:ph type="body" idx="1"/>
          </p:nvPr>
        </p:nvSpPr>
        <p:spPr>
          <a:prstGeom prst="rect">
            <a:avLst/>
          </a:prstGeom>
        </p:spPr>
        <p:txBody>
          <a:bodyPr/>
          <a:lstStyle/>
          <a:p>
            <a:pPr marL="889000" indent="-889000">
              <a:buSzPct val="100000"/>
              <a:buAutoNum type="arabicPeriod" startAt="1"/>
              <a:defRPr b="1"/>
            </a:pPr>
            <a:r>
              <a:t>Unified interfaces and auto-reply mechanisms for automated agent chat.</a:t>
            </a:r>
          </a:p>
          <a:p>
            <a:pPr marL="889000" indent="-889000">
              <a:buSzPct val="100000"/>
              <a:buAutoNum type="arabicPeriod" startAt="1"/>
              <a:defRPr b="1"/>
            </a:pPr>
            <a:r>
              <a:t>Control by fusion of programming and natural language.</a:t>
            </a:r>
          </a:p>
          <a:p>
            <a:pPr lvl="1">
              <a:defRPr sz="4000"/>
            </a:pPr>
            <a:r>
              <a:rPr b="1" i="1"/>
              <a:t>Natural-language control via LLMs.</a:t>
            </a:r>
            <a:r>
              <a:t> Control the conversation flow by prompting the LLM-backed agents with natural language.</a:t>
            </a:r>
          </a:p>
          <a:p>
            <a:pPr lvl="1">
              <a:defRPr b="1" i="1" sz="4000"/>
            </a:pPr>
            <a:r>
              <a:t>Programming-language control. </a:t>
            </a:r>
            <a:r>
              <a:rPr b="0" i="0"/>
              <a:t>Python code can be used to specify the termination condition, human input mode, and tool execution logic.</a:t>
            </a:r>
            <a:endParaRPr b="0" i="0"/>
          </a:p>
          <a:p>
            <a:pPr lvl="1">
              <a:defRPr b="1" i="1" sz="4000"/>
            </a:pPr>
            <a:r>
              <a:t>Control transition between natural and programming language. </a:t>
            </a:r>
          </a:p>
        </p:txBody>
      </p:sp>
      <p:sp>
        <p:nvSpPr>
          <p:cNvPr id="27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6" name="The AutoGen Framework"/>
          <p:cNvSpPr txBox="1"/>
          <p:nvPr>
            <p:ph type="title"/>
          </p:nvPr>
        </p:nvSpPr>
        <p:spPr>
          <a:prstGeom prst="rect">
            <a:avLst/>
          </a:prstGeom>
        </p:spPr>
        <p:txBody>
          <a:bodyPr/>
          <a:lstStyle/>
          <a:p>
            <a:pPr/>
            <a:r>
              <a:t>The AutoGen Framework</a:t>
            </a:r>
          </a:p>
        </p:txBody>
      </p:sp>
      <p:sp>
        <p:nvSpPr>
          <p:cNvPr id="277" name="Conversation Programm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Conversation Programming</a:t>
            </a:r>
          </a:p>
        </p:txBody>
      </p:sp>
      <p:sp>
        <p:nvSpPr>
          <p:cNvPr id="27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79" name="Screenshot 2025-03-26 at 11.35.04.png" descr="Screenshot 2025-03-26 at 11.35.04.png"/>
          <p:cNvPicPr>
            <a:picLocks noChangeAspect="1"/>
          </p:cNvPicPr>
          <p:nvPr/>
        </p:nvPicPr>
        <p:blipFill>
          <a:blip r:embed="rId2">
            <a:extLst/>
          </a:blip>
          <a:stretch>
            <a:fillRect/>
          </a:stretch>
        </p:blipFill>
        <p:spPr>
          <a:xfrm>
            <a:off x="6360808" y="3513275"/>
            <a:ext cx="11662384" cy="9362191"/>
          </a:xfrm>
          <a:prstGeom prst="rect">
            <a:avLst/>
          </a:prstGeom>
          <a:ln w="12700">
            <a:miter lim="400000"/>
          </a:ln>
        </p:spPr>
      </p:pic>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The AutoGen Framework"/>
          <p:cNvSpPr txBox="1"/>
          <p:nvPr>
            <p:ph type="title"/>
          </p:nvPr>
        </p:nvSpPr>
        <p:spPr>
          <a:prstGeom prst="rect">
            <a:avLst/>
          </a:prstGeom>
        </p:spPr>
        <p:txBody>
          <a:bodyPr/>
          <a:lstStyle/>
          <a:p>
            <a:pPr/>
            <a:r>
              <a:t>The AutoGen Framework</a:t>
            </a:r>
          </a:p>
        </p:txBody>
      </p:sp>
      <p:sp>
        <p:nvSpPr>
          <p:cNvPr id="282" name="Conversation Programm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Conversation Programming</a:t>
            </a:r>
          </a:p>
        </p:txBody>
      </p:sp>
      <p:sp>
        <p:nvSpPr>
          <p:cNvPr id="28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84" name="Screenshot 2025-03-26 at 11.12.15.png" descr="Screenshot 2025-03-26 at 11.12.15.png"/>
          <p:cNvPicPr>
            <a:picLocks noChangeAspect="1"/>
          </p:cNvPicPr>
          <p:nvPr/>
        </p:nvPicPr>
        <p:blipFill>
          <a:blip r:embed="rId3">
            <a:extLst/>
          </a:blip>
          <a:stretch>
            <a:fillRect/>
          </a:stretch>
        </p:blipFill>
        <p:spPr>
          <a:xfrm>
            <a:off x="4616450" y="3939870"/>
            <a:ext cx="15151100" cy="8509001"/>
          </a:xfrm>
          <a:prstGeom prst="rect">
            <a:avLst/>
          </a:prstGeom>
          <a:ln w="12700">
            <a:miter lim="400000"/>
          </a:ln>
        </p:spPr>
      </p:pic>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8" name="The AutoGen Framework"/>
          <p:cNvSpPr txBox="1"/>
          <p:nvPr>
            <p:ph type="title"/>
          </p:nvPr>
        </p:nvSpPr>
        <p:spPr>
          <a:prstGeom prst="rect">
            <a:avLst/>
          </a:prstGeom>
        </p:spPr>
        <p:txBody>
          <a:bodyPr/>
          <a:lstStyle/>
          <a:p>
            <a:pPr/>
            <a:r>
              <a:t>The AutoGen Framework</a:t>
            </a:r>
          </a:p>
        </p:txBody>
      </p:sp>
      <p:sp>
        <p:nvSpPr>
          <p:cNvPr id="289" name="Experim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a:t>
            </a:r>
          </a:p>
        </p:txBody>
      </p:sp>
      <p:sp>
        <p:nvSpPr>
          <p:cNvPr id="29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291" name="pasted-movie.png" descr="pasted-movie.png"/>
          <p:cNvPicPr>
            <a:picLocks noChangeAspect="1"/>
          </p:cNvPicPr>
          <p:nvPr/>
        </p:nvPicPr>
        <p:blipFill>
          <a:blip r:embed="rId3">
            <a:extLst/>
          </a:blip>
          <a:stretch>
            <a:fillRect/>
          </a:stretch>
        </p:blipFill>
        <p:spPr>
          <a:xfrm>
            <a:off x="3416977" y="3497326"/>
            <a:ext cx="17550046" cy="9394088"/>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95" name="pasted-movie.png" descr="pasted-movie.png"/>
          <p:cNvPicPr>
            <a:picLocks noChangeAspect="1"/>
          </p:cNvPicPr>
          <p:nvPr/>
        </p:nvPicPr>
        <p:blipFill>
          <a:blip r:embed="rId3">
            <a:extLst/>
          </a:blip>
          <a:stretch>
            <a:fillRect/>
          </a:stretch>
        </p:blipFill>
        <p:spPr>
          <a:xfrm>
            <a:off x="15174990" y="5183818"/>
            <a:ext cx="9112807" cy="6385384"/>
          </a:xfrm>
          <a:prstGeom prst="rect">
            <a:avLst/>
          </a:prstGeom>
          <a:ln w="12700">
            <a:miter lim="400000"/>
          </a:ln>
        </p:spPr>
      </p:pic>
      <p:sp>
        <p:nvSpPr>
          <p:cNvPr id="296" name="The AutoGen Framework"/>
          <p:cNvSpPr txBox="1"/>
          <p:nvPr>
            <p:ph type="title"/>
          </p:nvPr>
        </p:nvSpPr>
        <p:spPr>
          <a:prstGeom prst="rect">
            <a:avLst/>
          </a:prstGeom>
        </p:spPr>
        <p:txBody>
          <a:bodyPr/>
          <a:lstStyle/>
          <a:p>
            <a:pPr/>
            <a:r>
              <a:t>The AutoGen Framework</a:t>
            </a:r>
          </a:p>
        </p:txBody>
      </p:sp>
      <p:sp>
        <p:nvSpPr>
          <p:cNvPr id="297" name="Experiments: Math Problem Solv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Math Problem Solving</a:t>
            </a:r>
          </a:p>
        </p:txBody>
      </p:sp>
      <p:sp>
        <p:nvSpPr>
          <p:cNvPr id="298" name="Scenario 1: Use 2 built-in agents from AutoGen"/>
          <p:cNvSpPr txBox="1"/>
          <p:nvPr>
            <p:ph type="body" sz="half" idx="1"/>
          </p:nvPr>
        </p:nvSpPr>
        <p:spPr>
          <a:xfrm>
            <a:off x="1206500" y="4248504"/>
            <a:ext cx="14779850" cy="8256012"/>
          </a:xfrm>
          <a:prstGeom prst="rect">
            <a:avLst/>
          </a:prstGeom>
        </p:spPr>
        <p:txBody>
          <a:bodyPr/>
          <a:lstStyle>
            <a:lvl1pPr marL="609599" indent="-609599">
              <a:defRPr sz="4500"/>
            </a:lvl1pPr>
          </a:lstStyle>
          <a:p>
            <a:pPr/>
            <a:r>
              <a:t>Scenario 1: Use 2 built-in agents from AutoGen</a:t>
            </a:r>
          </a:p>
        </p:txBody>
      </p:sp>
      <p:sp>
        <p:nvSpPr>
          <p:cNvPr id="29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00" name="pasted-movie.png" descr="pasted-movie.png"/>
          <p:cNvPicPr>
            <a:picLocks noChangeAspect="1"/>
          </p:cNvPicPr>
          <p:nvPr/>
        </p:nvPicPr>
        <p:blipFill>
          <a:blip r:embed="rId4">
            <a:extLst/>
          </a:blip>
          <a:stretch>
            <a:fillRect/>
          </a:stretch>
        </p:blipFill>
        <p:spPr>
          <a:xfrm>
            <a:off x="2781393" y="5896991"/>
            <a:ext cx="10667584" cy="7771278"/>
          </a:xfrm>
          <a:prstGeom prst="rect">
            <a:avLst/>
          </a:prstGeom>
          <a:ln w="12700">
            <a:miter lim="400000"/>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04" name="pasted-movie.png" descr="pasted-movie.png"/>
          <p:cNvPicPr>
            <a:picLocks noChangeAspect="1"/>
          </p:cNvPicPr>
          <p:nvPr/>
        </p:nvPicPr>
        <p:blipFill>
          <a:blip r:embed="rId3">
            <a:extLst/>
          </a:blip>
          <a:stretch>
            <a:fillRect/>
          </a:stretch>
        </p:blipFill>
        <p:spPr>
          <a:xfrm>
            <a:off x="15174990" y="5183818"/>
            <a:ext cx="9112807" cy="6385384"/>
          </a:xfrm>
          <a:prstGeom prst="rect">
            <a:avLst/>
          </a:prstGeom>
          <a:ln w="12700">
            <a:miter lim="400000"/>
          </a:ln>
        </p:spPr>
      </p:pic>
      <p:sp>
        <p:nvSpPr>
          <p:cNvPr id="305" name="The AutoGen Framework"/>
          <p:cNvSpPr txBox="1"/>
          <p:nvPr>
            <p:ph type="title"/>
          </p:nvPr>
        </p:nvSpPr>
        <p:spPr>
          <a:prstGeom prst="rect">
            <a:avLst/>
          </a:prstGeom>
        </p:spPr>
        <p:txBody>
          <a:bodyPr/>
          <a:lstStyle/>
          <a:p>
            <a:pPr/>
            <a:r>
              <a:t>The AutoGen Framework</a:t>
            </a:r>
          </a:p>
        </p:txBody>
      </p:sp>
      <p:sp>
        <p:nvSpPr>
          <p:cNvPr id="306" name="Experiments: Math Problem Solv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Math Problem Solving</a:t>
            </a:r>
          </a:p>
        </p:txBody>
      </p:sp>
      <p:sp>
        <p:nvSpPr>
          <p:cNvPr id="307" name="Scenario 2: Human-in-the-loop problem solving…"/>
          <p:cNvSpPr txBox="1"/>
          <p:nvPr>
            <p:ph type="body" sz="half" idx="1"/>
          </p:nvPr>
        </p:nvSpPr>
        <p:spPr>
          <a:xfrm>
            <a:off x="1206500" y="4248504"/>
            <a:ext cx="14779850" cy="8256012"/>
          </a:xfrm>
          <a:prstGeom prst="rect">
            <a:avLst/>
          </a:prstGeom>
        </p:spPr>
        <p:txBody>
          <a:bodyPr/>
          <a:lstStyle>
            <a:lvl1pPr marL="609599" indent="-609599">
              <a:defRPr sz="4500"/>
            </a:lvl1pPr>
            <a:lvl2pPr>
              <a:defRPr sz="4500"/>
            </a:lvl2pPr>
            <a:lvl3pPr>
              <a:defRPr sz="4500"/>
            </a:lvl3pPr>
          </a:lstStyle>
          <a:p>
            <a:pPr/>
            <a:r>
              <a:t>Scenario 2: Human-in-the-loop problem solving</a:t>
            </a:r>
          </a:p>
          <a:p>
            <a:pPr lvl="1"/>
            <a:r>
              <a:t>Select a challenging problem that no systems could solve across 3 trials</a:t>
            </a:r>
          </a:p>
          <a:p>
            <a:pPr lvl="2"/>
            <a:r>
              <a:t>Incorporated human inputs and found that AutoGen was able to solve them in 2/3 trials</a:t>
            </a:r>
          </a:p>
        </p:txBody>
      </p:sp>
      <p:sp>
        <p:nvSpPr>
          <p:cNvPr id="30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12" name="pasted-movie.png" descr="pasted-movie.png"/>
          <p:cNvPicPr>
            <a:picLocks noChangeAspect="1"/>
          </p:cNvPicPr>
          <p:nvPr/>
        </p:nvPicPr>
        <p:blipFill>
          <a:blip r:embed="rId3">
            <a:extLst/>
          </a:blip>
          <a:stretch>
            <a:fillRect/>
          </a:stretch>
        </p:blipFill>
        <p:spPr>
          <a:xfrm>
            <a:off x="15174990" y="5183818"/>
            <a:ext cx="9112807" cy="6385384"/>
          </a:xfrm>
          <a:prstGeom prst="rect">
            <a:avLst/>
          </a:prstGeom>
          <a:ln w="12700">
            <a:miter lim="400000"/>
          </a:ln>
        </p:spPr>
      </p:pic>
      <p:sp>
        <p:nvSpPr>
          <p:cNvPr id="313" name="The AutoGen Framework"/>
          <p:cNvSpPr txBox="1"/>
          <p:nvPr>
            <p:ph type="title"/>
          </p:nvPr>
        </p:nvSpPr>
        <p:spPr>
          <a:prstGeom prst="rect">
            <a:avLst/>
          </a:prstGeom>
        </p:spPr>
        <p:txBody>
          <a:bodyPr/>
          <a:lstStyle/>
          <a:p>
            <a:pPr/>
            <a:r>
              <a:t>The AutoGen Framework</a:t>
            </a:r>
          </a:p>
        </p:txBody>
      </p:sp>
      <p:sp>
        <p:nvSpPr>
          <p:cNvPr id="314" name="Experiments: Math Problem Solv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Math Problem Solving</a:t>
            </a:r>
          </a:p>
        </p:txBody>
      </p:sp>
      <p:sp>
        <p:nvSpPr>
          <p:cNvPr id="315" name="Scenario 3: Multi-User Problem Solving…"/>
          <p:cNvSpPr txBox="1"/>
          <p:nvPr>
            <p:ph type="body" sz="half" idx="1"/>
          </p:nvPr>
        </p:nvSpPr>
        <p:spPr>
          <a:xfrm>
            <a:off x="1206500" y="4248504"/>
            <a:ext cx="14779850" cy="8256012"/>
          </a:xfrm>
          <a:prstGeom prst="rect">
            <a:avLst/>
          </a:prstGeom>
        </p:spPr>
        <p:txBody>
          <a:bodyPr/>
          <a:lstStyle/>
          <a:p>
            <a:pPr marL="609599" indent="-609599">
              <a:defRPr sz="4500"/>
            </a:pPr>
            <a:r>
              <a:t>Scenario 3: Multi-User Problem Solving</a:t>
            </a:r>
          </a:p>
          <a:p>
            <a:pPr lvl="1">
              <a:defRPr sz="4500"/>
            </a:pPr>
            <a:r>
              <a:t>Build a system with 2 human users: expert + student</a:t>
            </a:r>
          </a:p>
          <a:p>
            <a:pPr lvl="2">
              <a:defRPr sz="4500"/>
            </a:pPr>
            <a:r>
              <a:t>Student interacts with an LLM to address some problems</a:t>
            </a:r>
          </a:p>
          <a:p>
            <a:pPr lvl="2">
              <a:defRPr sz="4500"/>
            </a:pPr>
            <a:r>
              <a:t>When necessary, LLM turns to expert</a:t>
            </a:r>
          </a:p>
        </p:txBody>
      </p:sp>
      <p:sp>
        <p:nvSpPr>
          <p:cNvPr id="31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0" name="pasted-movie.png" descr="pasted-movie.png"/>
          <p:cNvPicPr>
            <a:picLocks noChangeAspect="1"/>
          </p:cNvPicPr>
          <p:nvPr/>
        </p:nvPicPr>
        <p:blipFill>
          <a:blip r:embed="rId3">
            <a:extLst/>
          </a:blip>
          <a:stretch>
            <a:fillRect/>
          </a:stretch>
        </p:blipFill>
        <p:spPr>
          <a:xfrm>
            <a:off x="3913572" y="7328601"/>
            <a:ext cx="7371836" cy="6309792"/>
          </a:xfrm>
          <a:prstGeom prst="rect">
            <a:avLst/>
          </a:prstGeom>
          <a:ln w="12700">
            <a:miter lim="400000"/>
          </a:ln>
        </p:spPr>
      </p:pic>
      <p:pic>
        <p:nvPicPr>
          <p:cNvPr id="321" name="pasted-movie.png" descr="pasted-movie.png"/>
          <p:cNvPicPr>
            <a:picLocks noChangeAspect="1"/>
          </p:cNvPicPr>
          <p:nvPr/>
        </p:nvPicPr>
        <p:blipFill>
          <a:blip r:embed="rId4">
            <a:extLst/>
          </a:blip>
          <a:stretch>
            <a:fillRect/>
          </a:stretch>
        </p:blipFill>
        <p:spPr>
          <a:xfrm>
            <a:off x="16021894" y="4935335"/>
            <a:ext cx="8326158" cy="5810341"/>
          </a:xfrm>
          <a:prstGeom prst="rect">
            <a:avLst/>
          </a:prstGeom>
          <a:ln w="12700">
            <a:miter lim="400000"/>
          </a:ln>
        </p:spPr>
      </p:pic>
      <p:sp>
        <p:nvSpPr>
          <p:cNvPr id="322" name="The AutoGen Framework"/>
          <p:cNvSpPr txBox="1"/>
          <p:nvPr>
            <p:ph type="title"/>
          </p:nvPr>
        </p:nvSpPr>
        <p:spPr>
          <a:prstGeom prst="rect">
            <a:avLst/>
          </a:prstGeom>
        </p:spPr>
        <p:txBody>
          <a:bodyPr/>
          <a:lstStyle/>
          <a:p>
            <a:pPr/>
            <a:r>
              <a:t>The AutoGen Framework</a:t>
            </a:r>
          </a:p>
        </p:txBody>
      </p:sp>
      <p:sp>
        <p:nvSpPr>
          <p:cNvPr id="323" name="Experiments: Retrieval-Augmented Code Generation and Question Answer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693419">
              <a:defRPr sz="4619"/>
            </a:lvl1pPr>
          </a:lstStyle>
          <a:p>
            <a:pPr/>
            <a:r>
              <a:t>Experiments: Retrieval-Augmented Code Generation and Question Answering</a:t>
            </a:r>
          </a:p>
        </p:txBody>
      </p:sp>
      <p:sp>
        <p:nvSpPr>
          <p:cNvPr id="324" name="Design a system made up of a retrieval-augmented user proxy (provides a vector db) and retrieval-augmented assistant…"/>
          <p:cNvSpPr txBox="1"/>
          <p:nvPr>
            <p:ph type="body" sz="half" idx="1"/>
          </p:nvPr>
        </p:nvSpPr>
        <p:spPr>
          <a:xfrm>
            <a:off x="1206500" y="4248504"/>
            <a:ext cx="14779850" cy="8256012"/>
          </a:xfrm>
          <a:prstGeom prst="rect">
            <a:avLst/>
          </a:prstGeom>
        </p:spPr>
        <p:txBody>
          <a:bodyPr/>
          <a:lstStyle/>
          <a:p>
            <a:pPr marL="609599" indent="-609599">
              <a:defRPr sz="4500"/>
            </a:pPr>
            <a:r>
              <a:t>Design a system made up of a </a:t>
            </a:r>
            <a:r>
              <a:rPr b="1"/>
              <a:t>retrieval-augmented user proxy</a:t>
            </a:r>
            <a:r>
              <a:t> (provides a vector db) and </a:t>
            </a:r>
            <a:r>
              <a:rPr b="1"/>
              <a:t>retrieval-augmented assistant</a:t>
            </a:r>
            <a:endParaRPr b="1"/>
          </a:p>
          <a:p>
            <a:pPr marL="609599" indent="-609599">
              <a:defRPr sz="4500"/>
            </a:pPr>
            <a:r>
              <a:t>Scenario 1: Question Answering</a:t>
            </a:r>
          </a:p>
        </p:txBody>
      </p:sp>
      <p:sp>
        <p:nvSpPr>
          <p:cNvPr id="325"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29" name="pasted-movie.png" descr="pasted-movie.png"/>
          <p:cNvPicPr>
            <a:picLocks noChangeAspect="1"/>
          </p:cNvPicPr>
          <p:nvPr/>
        </p:nvPicPr>
        <p:blipFill>
          <a:blip r:embed="rId3">
            <a:extLst/>
          </a:blip>
          <a:stretch>
            <a:fillRect/>
          </a:stretch>
        </p:blipFill>
        <p:spPr>
          <a:xfrm>
            <a:off x="16021894" y="4935335"/>
            <a:ext cx="8326158" cy="5810341"/>
          </a:xfrm>
          <a:prstGeom prst="rect">
            <a:avLst/>
          </a:prstGeom>
          <a:ln w="12700">
            <a:miter lim="400000"/>
          </a:ln>
        </p:spPr>
      </p:pic>
      <p:sp>
        <p:nvSpPr>
          <p:cNvPr id="330" name="The AutoGen Framework"/>
          <p:cNvSpPr txBox="1"/>
          <p:nvPr>
            <p:ph type="title"/>
          </p:nvPr>
        </p:nvSpPr>
        <p:spPr>
          <a:prstGeom prst="rect">
            <a:avLst/>
          </a:prstGeom>
        </p:spPr>
        <p:txBody>
          <a:bodyPr/>
          <a:lstStyle/>
          <a:p>
            <a:pPr/>
            <a:r>
              <a:t>The AutoGen Framework</a:t>
            </a:r>
          </a:p>
        </p:txBody>
      </p:sp>
      <p:sp>
        <p:nvSpPr>
          <p:cNvPr id="331" name="Experiments: Retrieval-Augmented Code Generation and Question Answer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693419">
              <a:defRPr sz="4619"/>
            </a:lvl1pPr>
          </a:lstStyle>
          <a:p>
            <a:pPr/>
            <a:r>
              <a:t>Experiments: Retrieval-Augmented Code Generation and Question Answering</a:t>
            </a:r>
          </a:p>
        </p:txBody>
      </p:sp>
      <p:sp>
        <p:nvSpPr>
          <p:cNvPr id="332" name="Design a system made up of a retrieval-augmented user proxy (provides a vector db) and retrieval-augmented assistant…"/>
          <p:cNvSpPr txBox="1"/>
          <p:nvPr>
            <p:ph type="body" sz="half" idx="1"/>
          </p:nvPr>
        </p:nvSpPr>
        <p:spPr>
          <a:xfrm>
            <a:off x="1206500" y="4248504"/>
            <a:ext cx="14779850" cy="8256012"/>
          </a:xfrm>
          <a:prstGeom prst="rect">
            <a:avLst/>
          </a:prstGeom>
        </p:spPr>
        <p:txBody>
          <a:bodyPr/>
          <a:lstStyle/>
          <a:p>
            <a:pPr marL="609599" indent="-609599">
              <a:defRPr sz="4500"/>
            </a:pPr>
            <a:r>
              <a:t>Design a system made up of a </a:t>
            </a:r>
            <a:r>
              <a:rPr b="1"/>
              <a:t>retrieval-augmented user proxy</a:t>
            </a:r>
            <a:r>
              <a:t> (provides a vector db) and </a:t>
            </a:r>
            <a:r>
              <a:rPr b="1"/>
              <a:t>retrieval-augmented assistant</a:t>
            </a:r>
            <a:endParaRPr b="1"/>
          </a:p>
          <a:p>
            <a:pPr marL="609599" indent="-609599">
              <a:defRPr sz="4500"/>
            </a:pPr>
            <a:r>
              <a:t>Scenario 2: Code Generation</a:t>
            </a:r>
          </a:p>
          <a:p>
            <a:pPr lvl="1">
              <a:defRPr i="1" sz="4500"/>
            </a:pPr>
            <a:r>
              <a:t>How can I use FLAML to perform a classification task and use Spark for parallel training? Train for 30 seconds and force cancel jobs if the time limit is reached.</a:t>
            </a:r>
          </a:p>
          <a:p>
            <a:pPr lvl="2">
              <a:defRPr sz="4500"/>
            </a:pPr>
            <a:r>
              <a:t>GPT4 failed, while the proposed system succeeded</a:t>
            </a:r>
          </a:p>
        </p:txBody>
      </p:sp>
      <p:sp>
        <p:nvSpPr>
          <p:cNvPr id="33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The AutoGen Framework"/>
          <p:cNvSpPr txBox="1"/>
          <p:nvPr>
            <p:ph type="title"/>
          </p:nvPr>
        </p:nvSpPr>
        <p:spPr>
          <a:prstGeom prst="rect">
            <a:avLst/>
          </a:prstGeom>
        </p:spPr>
        <p:txBody>
          <a:bodyPr/>
          <a:lstStyle/>
          <a:p>
            <a:pPr/>
            <a:r>
              <a:t>The AutoGen Framework</a:t>
            </a:r>
          </a:p>
        </p:txBody>
      </p:sp>
      <p:sp>
        <p:nvSpPr>
          <p:cNvPr id="338" name="Experiments: Decision Making in Text World Environmen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Decision Making in Text World Environments</a:t>
            </a:r>
          </a:p>
        </p:txBody>
      </p:sp>
      <p:sp>
        <p:nvSpPr>
          <p:cNvPr id="339" name="Demonstrate AutoGen effectiveness in applications involving interactive or online decision making"/>
          <p:cNvSpPr txBox="1"/>
          <p:nvPr>
            <p:ph type="body" sz="half" idx="1"/>
          </p:nvPr>
        </p:nvSpPr>
        <p:spPr>
          <a:xfrm>
            <a:off x="1206500" y="4248504"/>
            <a:ext cx="14779850" cy="8256012"/>
          </a:xfrm>
          <a:prstGeom prst="rect">
            <a:avLst/>
          </a:prstGeom>
        </p:spPr>
        <p:txBody>
          <a:bodyPr/>
          <a:lstStyle>
            <a:lvl1pPr marL="609599" indent="-609599">
              <a:defRPr sz="4500"/>
            </a:lvl1pPr>
          </a:lstStyle>
          <a:p>
            <a:pPr/>
            <a:r>
              <a:t>Demonstrate AutoGen effectiveness in applications involving interactive or online decision making</a:t>
            </a:r>
          </a:p>
        </p:txBody>
      </p:sp>
      <p:sp>
        <p:nvSpPr>
          <p:cNvPr id="34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41" name="pasted-movie.png" descr="pasted-movie.png"/>
          <p:cNvPicPr>
            <a:picLocks noChangeAspect="1"/>
          </p:cNvPicPr>
          <p:nvPr/>
        </p:nvPicPr>
        <p:blipFill>
          <a:blip r:embed="rId3">
            <a:extLst/>
          </a:blip>
          <a:stretch>
            <a:fillRect/>
          </a:stretch>
        </p:blipFill>
        <p:spPr>
          <a:xfrm>
            <a:off x="3327058" y="6326938"/>
            <a:ext cx="8108384" cy="6775808"/>
          </a:xfrm>
          <a:prstGeom prst="rect">
            <a:avLst/>
          </a:prstGeom>
          <a:ln w="12700">
            <a:miter lim="400000"/>
          </a:ln>
        </p:spPr>
      </p:pic>
      <p:pic>
        <p:nvPicPr>
          <p:cNvPr id="342" name="pasted-movie.png" descr="pasted-movie.png"/>
          <p:cNvPicPr>
            <a:picLocks noChangeAspect="1"/>
          </p:cNvPicPr>
          <p:nvPr/>
        </p:nvPicPr>
        <p:blipFill>
          <a:blip r:embed="rId4">
            <a:extLst/>
          </a:blip>
          <a:stretch>
            <a:fillRect/>
          </a:stretch>
        </p:blipFill>
        <p:spPr>
          <a:xfrm>
            <a:off x="13707851" y="6051100"/>
            <a:ext cx="10160907" cy="6327750"/>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The AutoGen Framework"/>
          <p:cNvSpPr txBox="1"/>
          <p:nvPr>
            <p:ph type="title"/>
          </p:nvPr>
        </p:nvSpPr>
        <p:spPr>
          <a:prstGeom prst="rect">
            <a:avLst/>
          </a:prstGeom>
        </p:spPr>
        <p:txBody>
          <a:bodyPr/>
          <a:lstStyle/>
          <a:p>
            <a:pPr/>
            <a:r>
              <a:t>The AutoGen Framework</a:t>
            </a:r>
          </a:p>
        </p:txBody>
      </p:sp>
      <p:sp>
        <p:nvSpPr>
          <p:cNvPr id="347" name="Experiments: Multi-Agent Cod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Multi-Agent Coding</a:t>
            </a:r>
          </a:p>
        </p:txBody>
      </p:sp>
      <p:sp>
        <p:nvSpPr>
          <p:cNvPr id="348" name="OptiGuide code was reduced from 430 lines to 100 lines"/>
          <p:cNvSpPr txBox="1"/>
          <p:nvPr>
            <p:ph type="body" sz="half" idx="1"/>
          </p:nvPr>
        </p:nvSpPr>
        <p:spPr>
          <a:xfrm>
            <a:off x="1206500" y="4248504"/>
            <a:ext cx="14779850" cy="8256012"/>
          </a:xfrm>
          <a:prstGeom prst="rect">
            <a:avLst/>
          </a:prstGeom>
        </p:spPr>
        <p:txBody>
          <a:bodyPr/>
          <a:lstStyle>
            <a:lvl1pPr marL="609599" indent="-609599">
              <a:defRPr sz="4500"/>
            </a:lvl1pPr>
          </a:lstStyle>
          <a:p>
            <a:pPr/>
            <a:r>
              <a:t>OptiGuide code was reduced from 430 lines to 100 lines</a:t>
            </a:r>
          </a:p>
        </p:txBody>
      </p:sp>
      <p:sp>
        <p:nvSpPr>
          <p:cNvPr id="34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350" name="pasted-movie.png" descr="pasted-movie.png"/>
          <p:cNvPicPr>
            <a:picLocks noChangeAspect="1"/>
          </p:cNvPicPr>
          <p:nvPr/>
        </p:nvPicPr>
        <p:blipFill>
          <a:blip r:embed="rId3">
            <a:extLst/>
          </a:blip>
          <a:stretch>
            <a:fillRect/>
          </a:stretch>
        </p:blipFill>
        <p:spPr>
          <a:xfrm>
            <a:off x="13189363" y="5758172"/>
            <a:ext cx="9997435" cy="6908797"/>
          </a:xfrm>
          <a:prstGeom prst="rect">
            <a:avLst/>
          </a:prstGeom>
          <a:ln w="12700">
            <a:miter lim="400000"/>
          </a:ln>
        </p:spPr>
      </p:pic>
      <p:pic>
        <p:nvPicPr>
          <p:cNvPr id="351" name="pasted-movie.png" descr="pasted-movie.png"/>
          <p:cNvPicPr>
            <a:picLocks noChangeAspect="1"/>
          </p:cNvPicPr>
          <p:nvPr/>
        </p:nvPicPr>
        <p:blipFill>
          <a:blip r:embed="rId4">
            <a:extLst/>
          </a:blip>
          <a:stretch>
            <a:fillRect/>
          </a:stretch>
        </p:blipFill>
        <p:spPr>
          <a:xfrm>
            <a:off x="2481964" y="5856465"/>
            <a:ext cx="9454238" cy="7771384"/>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55" name="pasted-movie.png" descr="pasted-movie.png"/>
          <p:cNvPicPr>
            <a:picLocks noChangeAspect="1"/>
          </p:cNvPicPr>
          <p:nvPr/>
        </p:nvPicPr>
        <p:blipFill>
          <a:blip r:embed="rId3">
            <a:extLst/>
          </a:blip>
          <a:stretch>
            <a:fillRect/>
          </a:stretch>
        </p:blipFill>
        <p:spPr>
          <a:xfrm>
            <a:off x="15641156" y="3848137"/>
            <a:ext cx="8855766" cy="6019726"/>
          </a:xfrm>
          <a:prstGeom prst="rect">
            <a:avLst/>
          </a:prstGeom>
          <a:ln w="12700">
            <a:miter lim="400000"/>
          </a:ln>
        </p:spPr>
      </p:pic>
      <p:sp>
        <p:nvSpPr>
          <p:cNvPr id="356" name="The AutoGen Framework"/>
          <p:cNvSpPr txBox="1"/>
          <p:nvPr>
            <p:ph type="title"/>
          </p:nvPr>
        </p:nvSpPr>
        <p:spPr>
          <a:prstGeom prst="rect">
            <a:avLst/>
          </a:prstGeom>
        </p:spPr>
        <p:txBody>
          <a:bodyPr/>
          <a:lstStyle/>
          <a:p>
            <a:pPr/>
            <a:r>
              <a:t>The AutoGen Framework</a:t>
            </a:r>
          </a:p>
        </p:txBody>
      </p:sp>
      <p:sp>
        <p:nvSpPr>
          <p:cNvPr id="357" name="Experiments: Dynamic Group Cha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Dynamic Group Chat</a:t>
            </a:r>
          </a:p>
        </p:txBody>
      </p:sp>
      <p:sp>
        <p:nvSpPr>
          <p:cNvPr id="358" name="Pilot Study on 12 manually crafted complex tasks…"/>
          <p:cNvSpPr txBox="1"/>
          <p:nvPr>
            <p:ph type="body" sz="half" idx="1"/>
          </p:nvPr>
        </p:nvSpPr>
        <p:spPr>
          <a:xfrm>
            <a:off x="1206500" y="4248504"/>
            <a:ext cx="14779850" cy="8256012"/>
          </a:xfrm>
          <a:prstGeom prst="rect">
            <a:avLst/>
          </a:prstGeom>
        </p:spPr>
        <p:txBody>
          <a:bodyPr/>
          <a:lstStyle/>
          <a:p>
            <a:pPr marL="609599" indent="-609599">
              <a:defRPr sz="4500"/>
            </a:pPr>
            <a:r>
              <a:t>Pilot Study on 12 manually crafted complex tasks</a:t>
            </a:r>
          </a:p>
          <a:p>
            <a:pPr lvl="1">
              <a:defRPr sz="4500"/>
            </a:pPr>
            <a:r>
              <a:t>More effective consideration of conversation context and role alignment during problem-solving</a:t>
            </a:r>
          </a:p>
          <a:p>
            <a:pPr lvl="1">
              <a:defRPr sz="4500"/>
            </a:pPr>
            <a:r>
              <a:t>Higher success rate and fewer LLM calls</a:t>
            </a:r>
          </a:p>
        </p:txBody>
      </p:sp>
      <p:sp>
        <p:nvSpPr>
          <p:cNvPr id="35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363" name="pasted-movie.png" descr="pasted-movie.png"/>
          <p:cNvPicPr>
            <a:picLocks noChangeAspect="1"/>
          </p:cNvPicPr>
          <p:nvPr/>
        </p:nvPicPr>
        <p:blipFill>
          <a:blip r:embed="rId3">
            <a:extLst/>
          </a:blip>
          <a:stretch>
            <a:fillRect/>
          </a:stretch>
        </p:blipFill>
        <p:spPr>
          <a:xfrm>
            <a:off x="15594618" y="3964986"/>
            <a:ext cx="8775767" cy="5786027"/>
          </a:xfrm>
          <a:prstGeom prst="rect">
            <a:avLst/>
          </a:prstGeom>
          <a:ln w="12700">
            <a:miter lim="400000"/>
          </a:ln>
        </p:spPr>
      </p:pic>
      <p:sp>
        <p:nvSpPr>
          <p:cNvPr id="364" name="The AutoGen Framework"/>
          <p:cNvSpPr txBox="1"/>
          <p:nvPr>
            <p:ph type="title"/>
          </p:nvPr>
        </p:nvSpPr>
        <p:spPr>
          <a:prstGeom prst="rect">
            <a:avLst/>
          </a:prstGeom>
        </p:spPr>
        <p:txBody>
          <a:bodyPr/>
          <a:lstStyle/>
          <a:p>
            <a:pPr/>
            <a:r>
              <a:t>The AutoGen Framework</a:t>
            </a:r>
          </a:p>
        </p:txBody>
      </p:sp>
      <p:sp>
        <p:nvSpPr>
          <p:cNvPr id="365" name="Experiments: Conversational Ches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Experiments: Conversational Chess</a:t>
            </a:r>
          </a:p>
        </p:txBody>
      </p:sp>
      <p:sp>
        <p:nvSpPr>
          <p:cNvPr id="366" name="Qualitative observations of AutoGen…"/>
          <p:cNvSpPr txBox="1"/>
          <p:nvPr>
            <p:ph type="body" sz="half" idx="1"/>
          </p:nvPr>
        </p:nvSpPr>
        <p:spPr>
          <a:xfrm>
            <a:off x="1206500" y="4248504"/>
            <a:ext cx="14779850" cy="8256012"/>
          </a:xfrm>
          <a:prstGeom prst="rect">
            <a:avLst/>
          </a:prstGeom>
        </p:spPr>
        <p:txBody>
          <a:bodyPr/>
          <a:lstStyle>
            <a:lvl1pPr marL="609599" indent="-609599">
              <a:defRPr sz="4500"/>
            </a:lvl1pPr>
            <a:lvl2pPr>
              <a:defRPr sz="4500"/>
            </a:lvl2pPr>
            <a:lvl3pPr>
              <a:defRPr sz="4500"/>
            </a:lvl3pPr>
          </a:lstStyle>
          <a:p>
            <a:pPr/>
            <a:r>
              <a:t>Qualitative observations of AutoGen</a:t>
            </a:r>
          </a:p>
          <a:p>
            <a:pPr lvl="1"/>
            <a:r>
              <a:t>Natural, flexible, and engaging game dynamics</a:t>
            </a:r>
          </a:p>
          <a:p>
            <a:pPr lvl="2"/>
            <a:r>
              <a:t>Ensures valid moves are made and game runs smoothly</a:t>
            </a:r>
          </a:p>
        </p:txBody>
      </p:sp>
      <p:sp>
        <p:nvSpPr>
          <p:cNvPr id="367"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NeurIPS'2023"/>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NeurIPS'2023</a:t>
            </a:r>
          </a:p>
        </p:txBody>
      </p:sp>
      <p:sp>
        <p:nvSpPr>
          <p:cNvPr id="372" name="CAMEL: Communicative Agents for &quot;Mind&quot; Exploration of Large Language Model Society"/>
          <p:cNvSpPr txBox="1"/>
          <p:nvPr>
            <p:ph type="ctrTitle"/>
          </p:nvPr>
        </p:nvSpPr>
        <p:spPr>
          <a:prstGeom prst="rect">
            <a:avLst/>
          </a:prstGeom>
        </p:spPr>
        <p:txBody>
          <a:bodyPr/>
          <a:lstStyle>
            <a:lvl1pPr>
              <a:defRPr spc="-159" sz="8000"/>
            </a:lvl1pPr>
          </a:lstStyle>
          <a:p>
            <a:pPr/>
            <a:r>
              <a:t>CAMEL: Communicative Agents for "Mind" Exploration of Large Language Model Society </a:t>
            </a:r>
          </a:p>
        </p:txBody>
      </p:sp>
      <p:sp>
        <p:nvSpPr>
          <p:cNvPr id="373" name="Guohao Li, Hasan Abed Al Kader Hammoud, Hani Itani, Dmitrii Khizbullin, Bernard Ghanem"/>
          <p:cNvSpPr txBox="1"/>
          <p:nvPr/>
        </p:nvSpPr>
        <p:spPr>
          <a:xfrm>
            <a:off x="1206499" y="11189255"/>
            <a:ext cx="21971002" cy="636979"/>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defTabSz="825500">
              <a:lnSpc>
                <a:spcPct val="100000"/>
              </a:lnSpc>
              <a:spcBef>
                <a:spcPts val="0"/>
              </a:spcBef>
              <a:defRPr b="1" sz="3600"/>
            </a:lvl1pPr>
          </a:lstStyle>
          <a:p>
            <a:pPr/>
            <a:r>
              <a:t>Guohao Li, Hasan Abed Al Kader Hammoud, Hani Itani, Dmitrii Khizbullin, Bernard Ghanem</a:t>
            </a:r>
          </a:p>
        </p:txBody>
      </p:sp>
      <p:sp>
        <p:nvSpPr>
          <p:cNvPr id="37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6" name="Motivation"/>
          <p:cNvSpPr txBox="1"/>
          <p:nvPr>
            <p:ph type="title"/>
          </p:nvPr>
        </p:nvSpPr>
        <p:spPr>
          <a:prstGeom prst="rect">
            <a:avLst/>
          </a:prstGeom>
        </p:spPr>
        <p:txBody>
          <a:bodyPr/>
          <a:lstStyle/>
          <a:p>
            <a:pPr/>
            <a:r>
              <a:t>Motivation</a:t>
            </a:r>
          </a:p>
        </p:txBody>
      </p:sp>
      <p:sp>
        <p:nvSpPr>
          <p:cNvPr id="377" name="How to LLMs solve complex task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How to LLMs solve complex tasks?</a:t>
            </a:r>
          </a:p>
        </p:txBody>
      </p:sp>
      <p:sp>
        <p:nvSpPr>
          <p:cNvPr id="378" name="Chat-based LLMs are exceptional in complex task-solving…"/>
          <p:cNvSpPr txBox="1"/>
          <p:nvPr>
            <p:ph type="body" idx="1"/>
          </p:nvPr>
        </p:nvSpPr>
        <p:spPr>
          <a:xfrm>
            <a:off x="1206500" y="4032604"/>
            <a:ext cx="21971000" cy="8256012"/>
          </a:xfrm>
          <a:prstGeom prst="rect">
            <a:avLst/>
          </a:prstGeom>
        </p:spPr>
        <p:txBody>
          <a:bodyPr/>
          <a:lstStyle/>
          <a:p>
            <a:pPr marL="609599" indent="-609599">
              <a:defRPr sz="4500"/>
            </a:pPr>
            <a:r>
              <a:t>Chat-based LLMs are exceptional in complex task-solving</a:t>
            </a:r>
          </a:p>
          <a:p>
            <a:pPr lvl="1">
              <a:defRPr sz="4500"/>
            </a:pPr>
            <a:r>
              <a:t>This success is heavily reliant on </a:t>
            </a:r>
            <a:r>
              <a:rPr b="1"/>
              <a:t>human input</a:t>
            </a:r>
          </a:p>
          <a:p>
            <a:pPr lvl="2">
              <a:defRPr sz="4500"/>
            </a:pPr>
            <a:r>
              <a:rPr b="1"/>
              <a:t>Human input</a:t>
            </a:r>
            <a:r>
              <a:t> provides relevant and precise prompts</a:t>
            </a:r>
          </a:p>
          <a:p>
            <a:pPr lvl="3">
              <a:defRPr sz="4500"/>
            </a:pPr>
            <a:r>
              <a:t>based on user human intentions and chat agent’s feedback</a:t>
            </a:r>
          </a:p>
          <a:p>
            <a:pPr lvl="2">
              <a:defRPr sz="4500"/>
            </a:pPr>
            <a:r>
              <a:t>Guides the conversation in the right direction</a:t>
            </a:r>
          </a:p>
        </p:txBody>
      </p:sp>
      <p:sp>
        <p:nvSpPr>
          <p:cNvPr id="37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1" name="Motivation"/>
          <p:cNvSpPr txBox="1"/>
          <p:nvPr>
            <p:ph type="title"/>
          </p:nvPr>
        </p:nvSpPr>
        <p:spPr>
          <a:prstGeom prst="rect">
            <a:avLst/>
          </a:prstGeom>
        </p:spPr>
        <p:txBody>
          <a:bodyPr/>
          <a:lstStyle/>
          <a:p>
            <a:pPr/>
            <a:r>
              <a:t>Motivation</a:t>
            </a:r>
          </a:p>
        </p:txBody>
      </p:sp>
      <p:sp>
        <p:nvSpPr>
          <p:cNvPr id="382" name="Limitations of human inpu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Limitations of human input</a:t>
            </a:r>
          </a:p>
        </p:txBody>
      </p:sp>
      <p:sp>
        <p:nvSpPr>
          <p:cNvPr id="383" name="Getting human input is… challenging, time-consuming, and sometimes impossible…"/>
          <p:cNvSpPr txBox="1"/>
          <p:nvPr>
            <p:ph type="body" idx="1"/>
          </p:nvPr>
        </p:nvSpPr>
        <p:spPr>
          <a:xfrm>
            <a:off x="1206500" y="4032604"/>
            <a:ext cx="21971000" cy="8256012"/>
          </a:xfrm>
          <a:prstGeom prst="rect">
            <a:avLst/>
          </a:prstGeom>
        </p:spPr>
        <p:txBody>
          <a:bodyPr/>
          <a:lstStyle/>
          <a:p>
            <a:pPr marL="609599" indent="-609599">
              <a:defRPr sz="4500"/>
            </a:pPr>
            <a:r>
              <a:t>Getting human input is… </a:t>
            </a:r>
            <a:r>
              <a:rPr b="1"/>
              <a:t>challenging</a:t>
            </a:r>
            <a:r>
              <a:t>, </a:t>
            </a:r>
            <a:r>
              <a:rPr b="1"/>
              <a:t>time-consuming</a:t>
            </a:r>
            <a:r>
              <a:t>, and sometimes </a:t>
            </a:r>
            <a:r>
              <a:rPr b="1"/>
              <a:t>impossible</a:t>
            </a:r>
          </a:p>
          <a:p>
            <a:pPr lvl="1">
              <a:defRPr sz="4500"/>
            </a:pPr>
            <a:r>
              <a:t>Demands a deep understanding and expertise</a:t>
            </a:r>
          </a:p>
        </p:txBody>
      </p:sp>
      <p:sp>
        <p:nvSpPr>
          <p:cNvPr id="38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Motivation"/>
          <p:cNvSpPr txBox="1"/>
          <p:nvPr>
            <p:ph type="title"/>
          </p:nvPr>
        </p:nvSpPr>
        <p:spPr>
          <a:prstGeom prst="rect">
            <a:avLst/>
          </a:prstGeom>
        </p:spPr>
        <p:txBody>
          <a:bodyPr/>
          <a:lstStyle/>
          <a:p>
            <a:pPr/>
            <a:r>
              <a:t>Motivation</a:t>
            </a:r>
          </a:p>
        </p:txBody>
      </p:sp>
      <p:sp>
        <p:nvSpPr>
          <p:cNvPr id="387" name="Using Agents instead of Huma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Using Agents instead of Humans</a:t>
            </a:r>
          </a:p>
        </p:txBody>
      </p:sp>
      <p:sp>
        <p:nvSpPr>
          <p:cNvPr id="388" name="Can we replace human inputs with agents?…"/>
          <p:cNvSpPr txBox="1"/>
          <p:nvPr>
            <p:ph type="body" idx="1"/>
          </p:nvPr>
        </p:nvSpPr>
        <p:spPr>
          <a:xfrm>
            <a:off x="1206500" y="4032604"/>
            <a:ext cx="21971000" cy="8256012"/>
          </a:xfrm>
          <a:prstGeom prst="rect">
            <a:avLst/>
          </a:prstGeom>
        </p:spPr>
        <p:txBody>
          <a:bodyPr/>
          <a:lstStyle/>
          <a:p>
            <a:pPr marL="609599" indent="-609599">
              <a:defRPr b="1" sz="4500"/>
            </a:pPr>
            <a:r>
              <a:t>Can we replace human inputs with agents?</a:t>
            </a:r>
          </a:p>
          <a:p>
            <a:pPr lvl="1">
              <a:defRPr sz="4500"/>
            </a:pPr>
            <a:r>
              <a:t>Are agents capable of steering the conversation toward success?</a:t>
            </a:r>
          </a:p>
          <a:p>
            <a:pPr marL="609599" indent="-609599">
              <a:defRPr sz="4500"/>
            </a:pPr>
            <a:r>
              <a:t>Understanding how multiple agents interact with each other is important</a:t>
            </a:r>
          </a:p>
        </p:txBody>
      </p:sp>
      <p:sp>
        <p:nvSpPr>
          <p:cNvPr id="38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Motivation"/>
          <p:cNvSpPr txBox="1"/>
          <p:nvPr>
            <p:ph type="title"/>
          </p:nvPr>
        </p:nvSpPr>
        <p:spPr>
          <a:prstGeom prst="rect">
            <a:avLst/>
          </a:prstGeom>
        </p:spPr>
        <p:txBody>
          <a:bodyPr/>
          <a:lstStyle/>
          <a:p>
            <a:pPr/>
            <a:r>
              <a:t>Motivation</a:t>
            </a:r>
          </a:p>
        </p:txBody>
      </p:sp>
      <p:sp>
        <p:nvSpPr>
          <p:cNvPr id="392" name="Using Agents instead of Huma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Using Agents instead of Humans</a:t>
            </a:r>
          </a:p>
        </p:txBody>
      </p:sp>
      <p:sp>
        <p:nvSpPr>
          <p:cNvPr id="393" name="This paper:…"/>
          <p:cNvSpPr txBox="1"/>
          <p:nvPr>
            <p:ph type="body" idx="1"/>
          </p:nvPr>
        </p:nvSpPr>
        <p:spPr>
          <a:xfrm>
            <a:off x="1206500" y="4032604"/>
            <a:ext cx="21971000" cy="8256012"/>
          </a:xfrm>
          <a:prstGeom prst="rect">
            <a:avLst/>
          </a:prstGeom>
        </p:spPr>
        <p:txBody>
          <a:bodyPr/>
          <a:lstStyle/>
          <a:p>
            <a:pPr marL="609599" indent="-609599">
              <a:defRPr sz="4500"/>
            </a:pPr>
            <a:r>
              <a:t>This paper:</a:t>
            </a:r>
          </a:p>
          <a:p>
            <a:pPr lvl="1">
              <a:defRPr sz="4500"/>
            </a:pPr>
            <a:r>
              <a:t>Explores the potential of building scalable techniques for: Facilitating cooperation among agents</a:t>
            </a:r>
          </a:p>
          <a:p>
            <a:pPr lvl="1">
              <a:defRPr sz="4500"/>
            </a:pPr>
            <a:r>
              <a:t>Provide insights into “cognitive” processes</a:t>
            </a:r>
          </a:p>
        </p:txBody>
      </p:sp>
      <p:sp>
        <p:nvSpPr>
          <p:cNvPr id="39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6" name="Motivation"/>
          <p:cNvSpPr txBox="1"/>
          <p:nvPr>
            <p:ph type="title"/>
          </p:nvPr>
        </p:nvSpPr>
        <p:spPr>
          <a:prstGeom prst="rect">
            <a:avLst/>
          </a:prstGeom>
        </p:spPr>
        <p:txBody>
          <a:bodyPr/>
          <a:lstStyle/>
          <a:p>
            <a:pPr/>
            <a:r>
              <a:t>Motivation</a:t>
            </a:r>
          </a:p>
        </p:txBody>
      </p:sp>
      <p:sp>
        <p:nvSpPr>
          <p:cNvPr id="397" name="Using Agents instead of Human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Using Agents instead of Humans</a:t>
            </a:r>
          </a:p>
        </p:txBody>
      </p:sp>
      <p:sp>
        <p:nvSpPr>
          <p:cNvPr id="398" name="Several challenges arise during cooperation:…"/>
          <p:cNvSpPr txBox="1"/>
          <p:nvPr>
            <p:ph type="body" idx="1"/>
          </p:nvPr>
        </p:nvSpPr>
        <p:spPr>
          <a:xfrm>
            <a:off x="1206500" y="4032604"/>
            <a:ext cx="21971000" cy="8256012"/>
          </a:xfrm>
          <a:prstGeom prst="rect">
            <a:avLst/>
          </a:prstGeom>
        </p:spPr>
        <p:txBody>
          <a:bodyPr/>
          <a:lstStyle/>
          <a:p>
            <a:pPr marL="609599" indent="-609599">
              <a:defRPr sz="4500"/>
            </a:pPr>
            <a:r>
              <a:t>Several challenges arise during cooperation:</a:t>
            </a:r>
          </a:p>
          <a:p>
            <a:pPr lvl="1">
              <a:defRPr sz="4500"/>
            </a:pPr>
            <a:r>
              <a:t>Role flipping, assistant repeating instructions, flake replies, infinite loop of messages… </a:t>
            </a:r>
          </a:p>
          <a:p>
            <a:pPr marL="609599" indent="-609599">
              <a:defRPr sz="4500"/>
            </a:pPr>
            <a:r>
              <a:t>It is important to investigate how to align models with human intentions and enable effective cooperation</a:t>
            </a:r>
          </a:p>
        </p:txBody>
      </p:sp>
      <p:sp>
        <p:nvSpPr>
          <p:cNvPr id="39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Method"/>
          <p:cNvSpPr txBox="1"/>
          <p:nvPr>
            <p:ph type="title"/>
          </p:nvPr>
        </p:nvSpPr>
        <p:spPr>
          <a:prstGeom prst="rect">
            <a:avLst/>
          </a:prstGeom>
        </p:spPr>
        <p:txBody>
          <a:bodyPr/>
          <a:lstStyle/>
          <a:p>
            <a:pPr/>
            <a:r>
              <a:t>Method</a:t>
            </a:r>
          </a:p>
        </p:txBody>
      </p:sp>
      <p:sp>
        <p:nvSpPr>
          <p:cNvPr id="402" name="Cooperative Agent Framework: Role-play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Cooperative Agent Framework: Role-playing</a:t>
            </a:r>
          </a:p>
        </p:txBody>
      </p:sp>
      <p:sp>
        <p:nvSpPr>
          <p:cNvPr id="403" name="Goal: Developing communicative agents under cooperative settings where they share common interests.…"/>
          <p:cNvSpPr txBox="1"/>
          <p:nvPr>
            <p:ph type="body" idx="1"/>
          </p:nvPr>
        </p:nvSpPr>
        <p:spPr>
          <a:xfrm>
            <a:off x="1206500" y="4032604"/>
            <a:ext cx="21971000" cy="8256012"/>
          </a:xfrm>
          <a:prstGeom prst="rect">
            <a:avLst/>
          </a:prstGeom>
        </p:spPr>
        <p:txBody>
          <a:bodyPr/>
          <a:lstStyle/>
          <a:p>
            <a:pPr marL="609599" indent="-609599">
              <a:defRPr sz="4500"/>
            </a:pPr>
            <a:r>
              <a:t>Goal: Developing communicative agents under cooperative settings where they share common interests.</a:t>
            </a:r>
          </a:p>
          <a:p>
            <a:pPr marL="609599" indent="-609599">
              <a:defRPr sz="4500"/>
            </a:pPr>
            <a:r>
              <a:t>Scenario: </a:t>
            </a:r>
            <a:r>
              <a:rPr b="1"/>
              <a:t>Assistant-user scenario</a:t>
            </a:r>
            <a:r>
              <a:t>, where a preliminary idea is given at start. </a:t>
            </a:r>
          </a:p>
          <a:p>
            <a:pPr lvl="1">
              <a:defRPr sz="4500"/>
            </a:pPr>
            <a:r>
              <a:t>Agents will </a:t>
            </a:r>
            <a:r>
              <a:rPr b="1"/>
              <a:t>complete the given task</a:t>
            </a:r>
            <a:r>
              <a:t> </a:t>
            </a:r>
            <a:r>
              <a:rPr b="1"/>
              <a:t>autonomously</a:t>
            </a:r>
            <a:r>
              <a:t> through conversation with minimized human interventions.</a:t>
            </a:r>
          </a:p>
        </p:txBody>
      </p:sp>
      <p:sp>
        <p:nvSpPr>
          <p:cNvPr id="404"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6" name="Method"/>
          <p:cNvSpPr txBox="1"/>
          <p:nvPr>
            <p:ph type="title"/>
          </p:nvPr>
        </p:nvSpPr>
        <p:spPr>
          <a:prstGeom prst="rect">
            <a:avLst/>
          </a:prstGeom>
        </p:spPr>
        <p:txBody>
          <a:bodyPr/>
          <a:lstStyle/>
          <a:p>
            <a:pPr/>
            <a:r>
              <a:t>Method</a:t>
            </a:r>
          </a:p>
        </p:txBody>
      </p:sp>
      <p:sp>
        <p:nvSpPr>
          <p:cNvPr id="407" name="CAMEL: Cooperative Role-playing Commun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CAMEL: Cooperative Role-playing Communication</a:t>
            </a:r>
          </a:p>
        </p:txBody>
      </p:sp>
      <p:sp>
        <p:nvSpPr>
          <p:cNvPr id="408" name="Step 1.hHuman users provide a preliminary idea to implement (e.g., develop a trading bot for the stock market) and role assignment (e.g, AI assistant and user)."/>
          <p:cNvSpPr txBox="1"/>
          <p:nvPr>
            <p:ph type="body" idx="1"/>
          </p:nvPr>
        </p:nvSpPr>
        <p:spPr>
          <a:xfrm>
            <a:off x="1206500" y="4032604"/>
            <a:ext cx="21971000" cy="8256012"/>
          </a:xfrm>
          <a:prstGeom prst="rect">
            <a:avLst/>
          </a:prstGeom>
        </p:spPr>
        <p:txBody>
          <a:bodyPr/>
          <a:lstStyle/>
          <a:p>
            <a:pPr marL="609599" indent="-609599">
              <a:defRPr sz="4500"/>
            </a:pPr>
            <a:r>
              <a:t>Step 1.hHuman users provide a </a:t>
            </a:r>
            <a:r>
              <a:rPr b="1">
                <a:solidFill>
                  <a:srgbClr val="D51D0F"/>
                </a:solidFill>
              </a:rPr>
              <a:t>preliminary idea</a:t>
            </a:r>
            <a:r>
              <a:t> to implement (e.g., develop a trading bot for the stock market) and </a:t>
            </a:r>
            <a:r>
              <a:rPr b="1">
                <a:solidFill>
                  <a:srgbClr val="1431FF"/>
                </a:solidFill>
              </a:rPr>
              <a:t>role assignment</a:t>
            </a:r>
            <a:r>
              <a:t> (e.g, AI assistant and user).</a:t>
            </a:r>
          </a:p>
        </p:txBody>
      </p:sp>
      <p:pic>
        <p:nvPicPr>
          <p:cNvPr id="409" name="Screenshot 2025-03-24 at 8.15.28 PM.png" descr="Screenshot 2025-03-24 at 8.15.28 PM.png"/>
          <p:cNvPicPr>
            <a:picLocks noChangeAspect="1"/>
          </p:cNvPicPr>
          <p:nvPr/>
        </p:nvPicPr>
        <p:blipFill>
          <a:blip r:embed="rId3">
            <a:extLst/>
          </a:blip>
          <a:stretch>
            <a:fillRect/>
          </a:stretch>
        </p:blipFill>
        <p:spPr>
          <a:xfrm>
            <a:off x="5487496" y="5559361"/>
            <a:ext cx="13409008" cy="7781085"/>
          </a:xfrm>
          <a:prstGeom prst="rect">
            <a:avLst/>
          </a:prstGeom>
          <a:ln w="12700">
            <a:miter lim="400000"/>
          </a:ln>
        </p:spPr>
      </p:pic>
      <p:sp>
        <p:nvSpPr>
          <p:cNvPr id="410" name="Rectangle"/>
          <p:cNvSpPr/>
          <p:nvPr/>
        </p:nvSpPr>
        <p:spPr>
          <a:xfrm>
            <a:off x="5707878" y="6469878"/>
            <a:ext cx="3277372" cy="2911060"/>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11" name="Rectangle"/>
          <p:cNvSpPr/>
          <p:nvPr/>
        </p:nvSpPr>
        <p:spPr>
          <a:xfrm>
            <a:off x="5707878" y="9559420"/>
            <a:ext cx="3277372" cy="2911060"/>
          </a:xfrm>
          <a:prstGeom prst="rect">
            <a:avLst/>
          </a:prstGeom>
          <a:ln w="63500">
            <a:solidFill>
              <a:srgbClr val="2B57E2"/>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1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Method"/>
          <p:cNvSpPr txBox="1"/>
          <p:nvPr>
            <p:ph type="title"/>
          </p:nvPr>
        </p:nvSpPr>
        <p:spPr>
          <a:prstGeom prst="rect">
            <a:avLst/>
          </a:prstGeom>
        </p:spPr>
        <p:txBody>
          <a:bodyPr/>
          <a:lstStyle/>
          <a:p>
            <a:pPr/>
            <a:r>
              <a:t>Method</a:t>
            </a:r>
          </a:p>
        </p:txBody>
      </p:sp>
      <p:sp>
        <p:nvSpPr>
          <p:cNvPr id="417" name="CAMEL: Cooperative Role-playing Commun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CAMEL: Cooperative Role-playing Communication</a:t>
            </a:r>
          </a:p>
        </p:txBody>
      </p:sp>
      <p:sp>
        <p:nvSpPr>
          <p:cNvPr id="418" name="Step 2. Task-specifier agent will provide a detailed description on idea provided by human, leading to a well-defined task for the assistant to solve."/>
          <p:cNvSpPr txBox="1"/>
          <p:nvPr>
            <p:ph type="body" idx="1"/>
          </p:nvPr>
        </p:nvSpPr>
        <p:spPr>
          <a:xfrm>
            <a:off x="1206500" y="4032604"/>
            <a:ext cx="21971000" cy="8256012"/>
          </a:xfrm>
          <a:prstGeom prst="rect">
            <a:avLst/>
          </a:prstGeom>
        </p:spPr>
        <p:txBody>
          <a:bodyPr/>
          <a:lstStyle/>
          <a:p>
            <a:pPr marL="609599" indent="-609599">
              <a:defRPr sz="4500"/>
            </a:pPr>
            <a:r>
              <a:t>Step 2. </a:t>
            </a:r>
            <a:r>
              <a:rPr b="1"/>
              <a:t>Task-specifier agent will provide a detailed description</a:t>
            </a:r>
            <a:r>
              <a:t> on idea provided by human, leading to a well-defined task for the assistant to solve.</a:t>
            </a:r>
          </a:p>
        </p:txBody>
      </p:sp>
      <p:pic>
        <p:nvPicPr>
          <p:cNvPr id="419" name="Screenshot 2025-03-24 at 8.15.28 PM.png" descr="Screenshot 2025-03-24 at 8.15.28 PM.png"/>
          <p:cNvPicPr>
            <a:picLocks noChangeAspect="1"/>
          </p:cNvPicPr>
          <p:nvPr/>
        </p:nvPicPr>
        <p:blipFill>
          <a:blip r:embed="rId3">
            <a:extLst/>
          </a:blip>
          <a:stretch>
            <a:fillRect/>
          </a:stretch>
        </p:blipFill>
        <p:spPr>
          <a:xfrm>
            <a:off x="5487496" y="5559361"/>
            <a:ext cx="13409008" cy="7781085"/>
          </a:xfrm>
          <a:prstGeom prst="rect">
            <a:avLst/>
          </a:prstGeom>
          <a:ln w="12700">
            <a:miter lim="400000"/>
          </a:ln>
        </p:spPr>
      </p:pic>
      <p:sp>
        <p:nvSpPr>
          <p:cNvPr id="420" name="Rectangle"/>
          <p:cNvSpPr/>
          <p:nvPr/>
        </p:nvSpPr>
        <p:spPr>
          <a:xfrm>
            <a:off x="9297112" y="5919149"/>
            <a:ext cx="3457042" cy="6344511"/>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21"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5" name="Method"/>
          <p:cNvSpPr txBox="1"/>
          <p:nvPr>
            <p:ph type="title"/>
          </p:nvPr>
        </p:nvSpPr>
        <p:spPr>
          <a:prstGeom prst="rect">
            <a:avLst/>
          </a:prstGeom>
        </p:spPr>
        <p:txBody>
          <a:bodyPr/>
          <a:lstStyle/>
          <a:p>
            <a:pPr/>
            <a:r>
              <a:t>Method</a:t>
            </a:r>
          </a:p>
        </p:txBody>
      </p:sp>
      <p:sp>
        <p:nvSpPr>
          <p:cNvPr id="426" name="CAMEL: Cooperative Role-playing Commun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CAMEL: Cooperative Role-playing Communication</a:t>
            </a:r>
          </a:p>
        </p:txBody>
      </p:sp>
      <p:sp>
        <p:nvSpPr>
          <p:cNvPr id="427" name="Step 2. Task-specifier agent will provide a detailed description on idea provided by human, leading to a well-defined task for the assistant to solve.…"/>
          <p:cNvSpPr txBox="1"/>
          <p:nvPr>
            <p:ph type="body" idx="1"/>
          </p:nvPr>
        </p:nvSpPr>
        <p:spPr>
          <a:xfrm>
            <a:off x="1206500" y="4066364"/>
            <a:ext cx="21971000" cy="8256012"/>
          </a:xfrm>
          <a:prstGeom prst="rect">
            <a:avLst/>
          </a:prstGeom>
        </p:spPr>
        <p:txBody>
          <a:bodyPr/>
          <a:lstStyle/>
          <a:p>
            <a:pPr marL="609599" indent="-609599">
              <a:defRPr sz="4500"/>
            </a:pPr>
            <a:r>
              <a:t>Step 2. </a:t>
            </a:r>
            <a:r>
              <a:rPr b="1"/>
              <a:t>Task-specifier agent will provide a detailed description</a:t>
            </a:r>
            <a:r>
              <a:t> on idea provided by human, leading to a well-defined task for the assistant to solve.</a:t>
            </a:r>
          </a:p>
          <a:p>
            <a:pPr lvl="1">
              <a:defRPr sz="4500"/>
            </a:pPr>
            <a:r>
              <a:t>Conversational agents require a </a:t>
            </a:r>
            <a:r>
              <a:rPr b="1"/>
              <a:t>concrete task prompt</a:t>
            </a:r>
            <a:r>
              <a:t>, where </a:t>
            </a:r>
            <a:br/>
            <a:r>
              <a:t>it is </a:t>
            </a:r>
            <a:r>
              <a:rPr b="1"/>
              <a:t>time-consuming</a:t>
            </a:r>
            <a:r>
              <a:t> for human to generate it.</a:t>
            </a:r>
          </a:p>
        </p:txBody>
      </p:sp>
      <p:pic>
        <p:nvPicPr>
          <p:cNvPr id="428" name="Screenshot 2025-03-24 at 8.15.28 PM.png" descr="Screenshot 2025-03-24 at 8.15.28 PM.png"/>
          <p:cNvPicPr>
            <a:picLocks noChangeAspect="1"/>
          </p:cNvPicPr>
          <p:nvPr/>
        </p:nvPicPr>
        <p:blipFill>
          <a:blip r:embed="rId3">
            <a:extLst/>
          </a:blip>
          <a:srcRect l="27269" t="0" r="44315" b="0"/>
          <a:stretch>
            <a:fillRect/>
          </a:stretch>
        </p:blipFill>
        <p:spPr>
          <a:xfrm>
            <a:off x="19065381" y="5480306"/>
            <a:ext cx="3810186" cy="7781085"/>
          </a:xfrm>
          <a:prstGeom prst="rect">
            <a:avLst/>
          </a:prstGeom>
          <a:ln w="12700">
            <a:miter lim="400000"/>
          </a:ln>
        </p:spPr>
      </p:pic>
      <p:sp>
        <p:nvSpPr>
          <p:cNvPr id="429" name="Rectangle"/>
          <p:cNvSpPr/>
          <p:nvPr/>
        </p:nvSpPr>
        <p:spPr>
          <a:xfrm>
            <a:off x="19218484" y="5840094"/>
            <a:ext cx="3457042" cy="6344512"/>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3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4" name="Method"/>
          <p:cNvSpPr txBox="1"/>
          <p:nvPr>
            <p:ph type="title"/>
          </p:nvPr>
        </p:nvSpPr>
        <p:spPr>
          <a:prstGeom prst="rect">
            <a:avLst/>
          </a:prstGeom>
        </p:spPr>
        <p:txBody>
          <a:bodyPr/>
          <a:lstStyle/>
          <a:p>
            <a:pPr/>
            <a:r>
              <a:t>Method</a:t>
            </a:r>
          </a:p>
        </p:txBody>
      </p:sp>
      <p:sp>
        <p:nvSpPr>
          <p:cNvPr id="435" name="CAMEL: Cooperative Role-playing Commun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CAMEL: Cooperative Role-playing Communication</a:t>
            </a:r>
          </a:p>
        </p:txBody>
      </p:sp>
      <p:sp>
        <p:nvSpPr>
          <p:cNvPr id="436" name="Step 2. Task-specifier agent will provide a detailed description on idea provided by human, leading to a well-defined task for the assistant to solve.…"/>
          <p:cNvSpPr txBox="1"/>
          <p:nvPr>
            <p:ph type="body" idx="1"/>
          </p:nvPr>
        </p:nvSpPr>
        <p:spPr>
          <a:xfrm>
            <a:off x="1206500" y="4032604"/>
            <a:ext cx="21971000" cy="8256012"/>
          </a:xfrm>
          <a:prstGeom prst="rect">
            <a:avLst/>
          </a:prstGeom>
        </p:spPr>
        <p:txBody>
          <a:bodyPr/>
          <a:lstStyle/>
          <a:p>
            <a:pPr marL="609599" indent="-609599">
              <a:defRPr sz="4500"/>
            </a:pPr>
            <a:r>
              <a:t>Step 2. </a:t>
            </a:r>
            <a:r>
              <a:rPr b="1"/>
              <a:t>Task-specifier agent will provide a detailed description</a:t>
            </a:r>
            <a:r>
              <a:t> on idea provided by human, leading to a well-defined task for the assistant to solve.</a:t>
            </a:r>
          </a:p>
          <a:p>
            <a:pPr lvl="1">
              <a:defRPr sz="4500"/>
            </a:pPr>
            <a:r>
              <a:t>Instead, task-specifier agent serves as an enhanced imagination</a:t>
            </a:r>
            <a:br/>
            <a:r>
              <a:t>module for idea implementation by </a:t>
            </a:r>
            <a:r>
              <a:rPr b="1"/>
              <a:t>prompting LLMs</a:t>
            </a:r>
            <a:r>
              <a:t>.</a:t>
            </a:r>
          </a:p>
          <a:p>
            <a:pPr lvl="2">
              <a:defRPr sz="4200"/>
            </a:pPr>
            <a:r>
              <a:t>AI society and Code: Roles and ideas</a:t>
            </a:r>
          </a:p>
          <a:p>
            <a:pPr lvl="2">
              <a:defRPr sz="4200"/>
            </a:pPr>
            <a:r>
              <a:t>Math and Science: Topics, subtopics, and problems.</a:t>
            </a:r>
          </a:p>
        </p:txBody>
      </p:sp>
      <p:pic>
        <p:nvPicPr>
          <p:cNvPr id="437" name="Screenshot 2025-03-24 at 8.15.28 PM.png" descr="Screenshot 2025-03-24 at 8.15.28 PM.png"/>
          <p:cNvPicPr>
            <a:picLocks noChangeAspect="1"/>
          </p:cNvPicPr>
          <p:nvPr/>
        </p:nvPicPr>
        <p:blipFill>
          <a:blip r:embed="rId3">
            <a:extLst/>
          </a:blip>
          <a:srcRect l="27269" t="0" r="44315" b="0"/>
          <a:stretch>
            <a:fillRect/>
          </a:stretch>
        </p:blipFill>
        <p:spPr>
          <a:xfrm>
            <a:off x="19358223" y="5539597"/>
            <a:ext cx="3810187" cy="7781085"/>
          </a:xfrm>
          <a:prstGeom prst="rect">
            <a:avLst/>
          </a:prstGeom>
          <a:ln w="12700">
            <a:miter lim="400000"/>
          </a:ln>
        </p:spPr>
      </p:pic>
      <p:sp>
        <p:nvSpPr>
          <p:cNvPr id="438" name="Rectangle"/>
          <p:cNvSpPr/>
          <p:nvPr/>
        </p:nvSpPr>
        <p:spPr>
          <a:xfrm>
            <a:off x="19534702" y="5899386"/>
            <a:ext cx="3457042" cy="6344511"/>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3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3" name="Method"/>
          <p:cNvSpPr txBox="1"/>
          <p:nvPr>
            <p:ph type="title"/>
          </p:nvPr>
        </p:nvSpPr>
        <p:spPr>
          <a:prstGeom prst="rect">
            <a:avLst/>
          </a:prstGeom>
        </p:spPr>
        <p:txBody>
          <a:bodyPr/>
          <a:lstStyle/>
          <a:p>
            <a:pPr/>
            <a:r>
              <a:t>Method</a:t>
            </a:r>
          </a:p>
        </p:txBody>
      </p:sp>
      <p:sp>
        <p:nvSpPr>
          <p:cNvPr id="444" name="CAMEL: Cooperative Role-playing Commun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CAMEL: Cooperative Role-playing Communication</a:t>
            </a:r>
          </a:p>
        </p:txBody>
      </p:sp>
      <p:sp>
        <p:nvSpPr>
          <p:cNvPr id="445" name="Step 3. AI assistant and AI user will cooperate on completing the specified task through multi-turn conversations until the AI user determines the task is done."/>
          <p:cNvSpPr txBox="1"/>
          <p:nvPr>
            <p:ph type="body" idx="1"/>
          </p:nvPr>
        </p:nvSpPr>
        <p:spPr>
          <a:xfrm>
            <a:off x="1206500" y="4032604"/>
            <a:ext cx="21971000" cy="8256012"/>
          </a:xfrm>
          <a:prstGeom prst="rect">
            <a:avLst/>
          </a:prstGeom>
        </p:spPr>
        <p:txBody>
          <a:bodyPr/>
          <a:lstStyle/>
          <a:p>
            <a:pPr marL="609599" indent="-609599">
              <a:defRPr sz="4500"/>
            </a:pPr>
            <a:r>
              <a:t>Step 3. </a:t>
            </a:r>
            <a:r>
              <a:rPr b="1">
                <a:solidFill>
                  <a:srgbClr val="D51D0F"/>
                </a:solidFill>
              </a:rPr>
              <a:t>AI assistant</a:t>
            </a:r>
            <a:r>
              <a:rPr b="1"/>
              <a:t> and </a:t>
            </a:r>
            <a:r>
              <a:rPr b="1">
                <a:solidFill>
                  <a:srgbClr val="1431FF"/>
                </a:solidFill>
              </a:rPr>
              <a:t>AI user</a:t>
            </a:r>
            <a:r>
              <a:rPr b="1"/>
              <a:t> </a:t>
            </a:r>
            <a:r>
              <a:t>will cooperate on completing the specified task through </a:t>
            </a:r>
            <a:r>
              <a:rPr b="1"/>
              <a:t>multi-turn conversations</a:t>
            </a:r>
            <a:r>
              <a:t> until the AI user determines the task is done.</a:t>
            </a:r>
          </a:p>
        </p:txBody>
      </p:sp>
      <p:pic>
        <p:nvPicPr>
          <p:cNvPr id="446" name="Screenshot 2025-03-24 at 8.15.28 PM.png" descr="Screenshot 2025-03-24 at 8.15.28 PM.png"/>
          <p:cNvPicPr>
            <a:picLocks noChangeAspect="1"/>
          </p:cNvPicPr>
          <p:nvPr/>
        </p:nvPicPr>
        <p:blipFill>
          <a:blip r:embed="rId3">
            <a:extLst/>
          </a:blip>
          <a:stretch>
            <a:fillRect/>
          </a:stretch>
        </p:blipFill>
        <p:spPr>
          <a:xfrm>
            <a:off x="5487496" y="5559361"/>
            <a:ext cx="13409008" cy="7781085"/>
          </a:xfrm>
          <a:prstGeom prst="rect">
            <a:avLst/>
          </a:prstGeom>
          <a:ln w="12700">
            <a:miter lim="400000"/>
          </a:ln>
        </p:spPr>
      </p:pic>
      <p:sp>
        <p:nvSpPr>
          <p:cNvPr id="447" name="Rectangle"/>
          <p:cNvSpPr/>
          <p:nvPr/>
        </p:nvSpPr>
        <p:spPr>
          <a:xfrm>
            <a:off x="12863397" y="5899386"/>
            <a:ext cx="5858387" cy="4326607"/>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4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49" name="Rectangle"/>
          <p:cNvSpPr/>
          <p:nvPr/>
        </p:nvSpPr>
        <p:spPr>
          <a:xfrm>
            <a:off x="12882097" y="10310440"/>
            <a:ext cx="5858387" cy="2570060"/>
          </a:xfrm>
          <a:prstGeom prst="rect">
            <a:avLst/>
          </a:prstGeom>
          <a:ln w="63500">
            <a:solidFill>
              <a:srgbClr val="2B57E2"/>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
        <p:nvSpPr>
          <p:cNvPr id="450" name="Task planner: give instructions  &amp; direct the conversation  toward task completion"/>
          <p:cNvSpPr txBox="1"/>
          <p:nvPr/>
        </p:nvSpPr>
        <p:spPr>
          <a:xfrm>
            <a:off x="18948007" y="6961181"/>
            <a:ext cx="6141632" cy="1928117"/>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i="1" sz="3200">
                <a:solidFill>
                  <a:srgbClr val="E41C2D"/>
                </a:solidFill>
              </a:defRPr>
            </a:pPr>
            <a:r>
              <a:rPr b="1"/>
              <a:t>Task planner:</a:t>
            </a:r>
            <a:br/>
            <a:r>
              <a:t>g</a:t>
            </a:r>
            <a:r>
              <a:rPr>
                <a:solidFill>
                  <a:srgbClr val="D51D0F"/>
                </a:solidFill>
              </a:rPr>
              <a:t>ive instructions </a:t>
            </a:r>
            <a:br>
              <a:rPr>
                <a:solidFill>
                  <a:srgbClr val="D51D0F"/>
                </a:solidFill>
              </a:rPr>
            </a:br>
            <a:r>
              <a:rPr>
                <a:solidFill>
                  <a:srgbClr val="D51D0F"/>
                </a:solidFill>
              </a:rPr>
              <a:t>&amp; direct the conversation </a:t>
            </a:r>
            <a:br>
              <a:rPr>
                <a:solidFill>
                  <a:srgbClr val="D51D0F"/>
                </a:solidFill>
              </a:rPr>
            </a:br>
            <a:r>
              <a:rPr>
                <a:solidFill>
                  <a:srgbClr val="D51D0F"/>
                </a:solidFill>
              </a:rPr>
              <a:t>toward task completion</a:t>
            </a:r>
          </a:p>
        </p:txBody>
      </p:sp>
      <p:sp>
        <p:nvSpPr>
          <p:cNvPr id="451" name="Task executer: Follow instructions &amp; respond with solutions"/>
          <p:cNvSpPr txBox="1"/>
          <p:nvPr/>
        </p:nvSpPr>
        <p:spPr>
          <a:xfrm>
            <a:off x="18959017" y="10855780"/>
            <a:ext cx="4653626" cy="1479379"/>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defRPr i="1" sz="3200"/>
            </a:pPr>
            <a:r>
              <a:rPr b="1">
                <a:solidFill>
                  <a:srgbClr val="1431FF"/>
                </a:solidFill>
              </a:rPr>
              <a:t>Task executer:</a:t>
            </a:r>
            <a:br>
              <a:rPr b="1">
                <a:solidFill>
                  <a:srgbClr val="1431FF"/>
                </a:solidFill>
              </a:rPr>
            </a:br>
            <a:r>
              <a:rPr>
                <a:solidFill>
                  <a:srgbClr val="1431FF"/>
                </a:solidFill>
              </a:rPr>
              <a:t>Follow instructions &amp; respond with solutions</a:t>
            </a:r>
          </a:p>
        </p:txBody>
      </p:sp>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5" name="Method"/>
          <p:cNvSpPr txBox="1"/>
          <p:nvPr>
            <p:ph type="title"/>
          </p:nvPr>
        </p:nvSpPr>
        <p:spPr>
          <a:prstGeom prst="rect">
            <a:avLst/>
          </a:prstGeom>
        </p:spPr>
        <p:txBody>
          <a:bodyPr/>
          <a:lstStyle/>
          <a:p>
            <a:pPr/>
            <a:r>
              <a:t>Method</a:t>
            </a:r>
          </a:p>
        </p:txBody>
      </p:sp>
      <p:sp>
        <p:nvSpPr>
          <p:cNvPr id="456" name="CAMEL: Cooperative Role-playing Communic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CAMEL: Cooperative Role-playing Communication</a:t>
            </a:r>
          </a:p>
        </p:txBody>
      </p:sp>
      <p:sp>
        <p:nvSpPr>
          <p:cNvPr id="457" name="Step 3. AI assistant and AI user will cooperate on completing the specified task through multi-turn conversations until the AI user determines the task is done.…"/>
          <p:cNvSpPr txBox="1"/>
          <p:nvPr>
            <p:ph type="body" idx="1"/>
          </p:nvPr>
        </p:nvSpPr>
        <p:spPr>
          <a:xfrm>
            <a:off x="1206500" y="4032604"/>
            <a:ext cx="21971000" cy="8256012"/>
          </a:xfrm>
          <a:prstGeom prst="rect">
            <a:avLst/>
          </a:prstGeom>
        </p:spPr>
        <p:txBody>
          <a:bodyPr/>
          <a:lstStyle/>
          <a:p>
            <a:pPr marL="609599" indent="-609599">
              <a:defRPr sz="4500"/>
            </a:pPr>
            <a:r>
              <a:t>Step 3. </a:t>
            </a:r>
            <a:r>
              <a:rPr b="1">
                <a:solidFill>
                  <a:srgbClr val="D51D0F"/>
                </a:solidFill>
              </a:rPr>
              <a:t>AI assistant</a:t>
            </a:r>
            <a:r>
              <a:rPr b="1"/>
              <a:t> and </a:t>
            </a:r>
            <a:r>
              <a:rPr b="1">
                <a:solidFill>
                  <a:srgbClr val="1431FF"/>
                </a:solidFill>
              </a:rPr>
              <a:t>AI user</a:t>
            </a:r>
            <a:r>
              <a:rPr b="1"/>
              <a:t> </a:t>
            </a:r>
            <a:r>
              <a:t>will cooperate on completing the specified task through </a:t>
            </a:r>
            <a:r>
              <a:rPr b="1"/>
              <a:t>multi-turn conversations</a:t>
            </a:r>
            <a:r>
              <a:t> until the AI user determines the task is done.</a:t>
            </a:r>
          </a:p>
          <a:p>
            <a:pPr lvl="1">
              <a:defRPr sz="3900"/>
            </a:pPr>
            <a:r>
              <a:t>M: historical conversation message set</a:t>
            </a:r>
          </a:p>
          <a:p>
            <a:pPr lvl="1">
              <a:defRPr sz="3900"/>
            </a:pPr>
            <a:r>
              <a:t>I: instruction generated by user, S: Solution generated by assistant</a:t>
            </a:r>
          </a:p>
        </p:txBody>
      </p:sp>
      <p:sp>
        <p:nvSpPr>
          <p:cNvPr id="45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59" name="Screenshot 2025-03-24 at 10.36.50 PM.png" descr="Screenshot 2025-03-24 at 10.36.50 PM.png"/>
          <p:cNvPicPr>
            <a:picLocks noChangeAspect="1"/>
          </p:cNvPicPr>
          <p:nvPr/>
        </p:nvPicPr>
        <p:blipFill>
          <a:blip r:embed="rId3">
            <a:extLst/>
          </a:blip>
          <a:stretch>
            <a:fillRect/>
          </a:stretch>
        </p:blipFill>
        <p:spPr>
          <a:xfrm>
            <a:off x="7232959" y="8129358"/>
            <a:ext cx="9918081" cy="1159257"/>
          </a:xfrm>
          <a:prstGeom prst="rect">
            <a:avLst/>
          </a:prstGeom>
          <a:ln w="12700">
            <a:miter lim="400000"/>
          </a:ln>
        </p:spPr>
      </p:pic>
      <p:pic>
        <p:nvPicPr>
          <p:cNvPr id="460" name="Screenshot 2025-03-24 at 10.37.10 PM.png" descr="Screenshot 2025-03-24 at 10.37.10 PM.png"/>
          <p:cNvPicPr>
            <a:picLocks noChangeAspect="1"/>
          </p:cNvPicPr>
          <p:nvPr/>
        </p:nvPicPr>
        <p:blipFill>
          <a:blip r:embed="rId4">
            <a:extLst/>
          </a:blip>
          <a:stretch>
            <a:fillRect/>
          </a:stretch>
        </p:blipFill>
        <p:spPr>
          <a:xfrm>
            <a:off x="10367708" y="9170968"/>
            <a:ext cx="3648584" cy="907516"/>
          </a:xfrm>
          <a:prstGeom prst="rect">
            <a:avLst/>
          </a:prstGeom>
          <a:ln w="12700">
            <a:miter lim="400000"/>
          </a:ln>
        </p:spPr>
      </p:pic>
      <p:pic>
        <p:nvPicPr>
          <p:cNvPr id="461" name="Screenshot 2025-03-24 at 10.37.24 PM.png" descr="Screenshot 2025-03-24 at 10.37.24 PM.png"/>
          <p:cNvPicPr>
            <a:picLocks noChangeAspect="1"/>
          </p:cNvPicPr>
          <p:nvPr/>
        </p:nvPicPr>
        <p:blipFill>
          <a:blip r:embed="rId5">
            <a:extLst/>
          </a:blip>
          <a:stretch>
            <a:fillRect/>
          </a:stretch>
        </p:blipFill>
        <p:spPr>
          <a:xfrm>
            <a:off x="9373213" y="10451015"/>
            <a:ext cx="5637574" cy="813290"/>
          </a:xfrm>
          <a:prstGeom prst="rect">
            <a:avLst/>
          </a:prstGeom>
          <a:ln w="12700">
            <a:miter lim="400000"/>
          </a:ln>
        </p:spPr>
      </p:pic>
      <p:pic>
        <p:nvPicPr>
          <p:cNvPr id="462" name="Screenshot 2025-03-24 at 10.38.04 PM.png" descr="Screenshot 2025-03-24 at 10.38.04 PM.png"/>
          <p:cNvPicPr>
            <a:picLocks noChangeAspect="1"/>
          </p:cNvPicPr>
          <p:nvPr/>
        </p:nvPicPr>
        <p:blipFill>
          <a:blip r:embed="rId6">
            <a:extLst/>
          </a:blip>
          <a:stretch>
            <a:fillRect/>
          </a:stretch>
        </p:blipFill>
        <p:spPr>
          <a:xfrm>
            <a:off x="8908929" y="11636836"/>
            <a:ext cx="6566143" cy="907517"/>
          </a:xfrm>
          <a:prstGeom prst="rect">
            <a:avLst/>
          </a:prstGeom>
          <a:ln w="12700">
            <a:miter lim="400000"/>
          </a:ln>
        </p:spPr>
      </p:pic>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6" name="Method"/>
          <p:cNvSpPr txBox="1"/>
          <p:nvPr>
            <p:ph type="title"/>
          </p:nvPr>
        </p:nvSpPr>
        <p:spPr>
          <a:prstGeom prst="rect">
            <a:avLst/>
          </a:prstGeom>
        </p:spPr>
        <p:txBody>
          <a:bodyPr/>
          <a:lstStyle/>
          <a:p>
            <a:pPr/>
            <a:r>
              <a:t>Method</a:t>
            </a:r>
          </a:p>
        </p:txBody>
      </p:sp>
      <p:sp>
        <p:nvSpPr>
          <p:cNvPr id="467" name="Inception Prompt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Inception Prompting</a:t>
            </a:r>
          </a:p>
        </p:txBody>
      </p:sp>
      <p:sp>
        <p:nvSpPr>
          <p:cNvPr id="468" name="Prompt engineering occurs solely at the beginning of role-playing, for task specification and role assignment.…"/>
          <p:cNvSpPr txBox="1"/>
          <p:nvPr>
            <p:ph type="body" sz="half" idx="1"/>
          </p:nvPr>
        </p:nvSpPr>
        <p:spPr>
          <a:xfrm>
            <a:off x="1206500" y="4032604"/>
            <a:ext cx="9911213" cy="8256012"/>
          </a:xfrm>
          <a:prstGeom prst="rect">
            <a:avLst/>
          </a:prstGeom>
        </p:spPr>
        <p:txBody>
          <a:bodyPr/>
          <a:lstStyle/>
          <a:p>
            <a:pPr marL="609599" indent="-609599">
              <a:defRPr sz="4500"/>
            </a:pPr>
            <a:r>
              <a:t>Prompt engineering occurs solely at the beginning of role-playing, for </a:t>
            </a:r>
            <a:r>
              <a:rPr b="1"/>
              <a:t>task specification</a:t>
            </a:r>
            <a:r>
              <a:t> and </a:t>
            </a:r>
            <a:r>
              <a:rPr b="1"/>
              <a:t>role assignment</a:t>
            </a:r>
            <a:r>
              <a:t>.</a:t>
            </a:r>
          </a:p>
          <a:p>
            <a:pPr lvl="1">
              <a:defRPr i="1" sz="3900"/>
            </a:pPr>
            <a:r>
              <a:t>Task specifier prompt</a:t>
            </a:r>
          </a:p>
          <a:p>
            <a:pPr lvl="2">
              <a:defRPr sz="3900"/>
            </a:pPr>
            <a:r>
              <a:t>Contain information about the roles.</a:t>
            </a:r>
          </a:p>
          <a:p>
            <a:pPr lvl="2">
              <a:defRPr sz="3900"/>
            </a:pPr>
            <a:r>
              <a:t>Input: preliminary task/idea</a:t>
            </a:r>
          </a:p>
          <a:p>
            <a:pPr lvl="2">
              <a:defRPr sz="3900"/>
            </a:pPr>
            <a:r>
              <a:t>Output: Specific task using imagination</a:t>
            </a:r>
          </a:p>
        </p:txBody>
      </p:sp>
      <p:sp>
        <p:nvSpPr>
          <p:cNvPr id="46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70" name="Screenshot 2025-03-24 at 10.49.18 PM.png" descr="Screenshot 2025-03-24 at 10.49.18 PM.png"/>
          <p:cNvPicPr>
            <a:picLocks noChangeAspect="1"/>
          </p:cNvPicPr>
          <p:nvPr/>
        </p:nvPicPr>
        <p:blipFill>
          <a:blip r:embed="rId2">
            <a:extLst/>
          </a:blip>
          <a:stretch>
            <a:fillRect/>
          </a:stretch>
        </p:blipFill>
        <p:spPr>
          <a:xfrm>
            <a:off x="11594800" y="362104"/>
            <a:ext cx="12409611" cy="12991791"/>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2" name="Method"/>
          <p:cNvSpPr txBox="1"/>
          <p:nvPr>
            <p:ph type="title"/>
          </p:nvPr>
        </p:nvSpPr>
        <p:spPr>
          <a:prstGeom prst="rect">
            <a:avLst/>
          </a:prstGeom>
        </p:spPr>
        <p:txBody>
          <a:bodyPr/>
          <a:lstStyle/>
          <a:p>
            <a:pPr/>
            <a:r>
              <a:t>Method</a:t>
            </a:r>
          </a:p>
        </p:txBody>
      </p:sp>
      <p:sp>
        <p:nvSpPr>
          <p:cNvPr id="473" name="Inception Prompting"/>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Inception Prompting</a:t>
            </a:r>
          </a:p>
        </p:txBody>
      </p:sp>
      <p:sp>
        <p:nvSpPr>
          <p:cNvPr id="474" name="Prompt engineering occurs solely at the beginning of role-playing, for task specification and role assignment.…"/>
          <p:cNvSpPr txBox="1"/>
          <p:nvPr>
            <p:ph type="body" sz="half" idx="1"/>
          </p:nvPr>
        </p:nvSpPr>
        <p:spPr>
          <a:xfrm>
            <a:off x="1206500" y="4032604"/>
            <a:ext cx="9911213" cy="8256012"/>
          </a:xfrm>
          <a:prstGeom prst="rect">
            <a:avLst/>
          </a:prstGeom>
        </p:spPr>
        <p:txBody>
          <a:bodyPr/>
          <a:lstStyle/>
          <a:p>
            <a:pPr marL="609599" indent="-609599">
              <a:defRPr sz="4500"/>
            </a:pPr>
            <a:r>
              <a:t>Prompt engineering occurs solely at the beginning of role-playing, for </a:t>
            </a:r>
            <a:r>
              <a:rPr b="1"/>
              <a:t>task specification</a:t>
            </a:r>
            <a:r>
              <a:t> and </a:t>
            </a:r>
            <a:r>
              <a:rPr b="1"/>
              <a:t>role assignment</a:t>
            </a:r>
            <a:r>
              <a:t>.</a:t>
            </a:r>
          </a:p>
          <a:p>
            <a:pPr lvl="1">
              <a:defRPr i="1" sz="3900"/>
            </a:pPr>
            <a:r>
              <a:t>Assistant/User system prompt</a:t>
            </a:r>
          </a:p>
          <a:p>
            <a:pPr lvl="2">
              <a:defRPr sz="3900"/>
            </a:pPr>
            <a:r>
              <a:t>Contain information about the assigned tasks, roles, communication protocols, termination conditions</a:t>
            </a:r>
          </a:p>
        </p:txBody>
      </p:sp>
      <p:sp>
        <p:nvSpPr>
          <p:cNvPr id="475"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476" name="Screenshot 2025-03-24 at 10.49.18 PM.png" descr="Screenshot 2025-03-24 at 10.49.18 PM.png"/>
          <p:cNvPicPr>
            <a:picLocks noChangeAspect="1"/>
          </p:cNvPicPr>
          <p:nvPr/>
        </p:nvPicPr>
        <p:blipFill>
          <a:blip r:embed="rId2">
            <a:extLst/>
          </a:blip>
          <a:stretch>
            <a:fillRect/>
          </a:stretch>
        </p:blipFill>
        <p:spPr>
          <a:xfrm>
            <a:off x="11594800" y="362104"/>
            <a:ext cx="12409611" cy="12991791"/>
          </a:xfrm>
          <a:prstGeom prst="rect">
            <a:avLst/>
          </a:prstGeom>
          <a:ln w="12700">
            <a:miter lim="400000"/>
          </a:ln>
        </p:spPr>
      </p:pic>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8" name="Experiments"/>
          <p:cNvSpPr txBox="1"/>
          <p:nvPr>
            <p:ph type="title"/>
          </p:nvPr>
        </p:nvSpPr>
        <p:spPr>
          <a:prstGeom prst="rect">
            <a:avLst/>
          </a:prstGeom>
        </p:spPr>
        <p:txBody>
          <a:bodyPr/>
          <a:lstStyle/>
          <a:p>
            <a:pPr/>
            <a:r>
              <a:t>Experiments</a:t>
            </a:r>
          </a:p>
        </p:txBody>
      </p:sp>
      <p:sp>
        <p:nvSpPr>
          <p:cNvPr id="479" name="Role-playing for AI Society: Agent of gpt-3.5-turbo"/>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Role-playing for AI Society: Agent of gpt-3.5-turbo</a:t>
            </a:r>
          </a:p>
        </p:txBody>
      </p:sp>
      <p:sp>
        <p:nvSpPr>
          <p:cNvPr id="48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81" name="1. Assistant/User role generation: Prompt the LLM agent to generate possible roles for the assistant and the user. (e.g., 50 assistant/user roles)"/>
          <p:cNvSpPr txBox="1"/>
          <p:nvPr>
            <p:ph type="body" idx="1"/>
          </p:nvPr>
        </p:nvSpPr>
        <p:spPr>
          <a:xfrm>
            <a:off x="1206500" y="4032604"/>
            <a:ext cx="21971000" cy="8256012"/>
          </a:xfrm>
          <a:prstGeom prst="rect">
            <a:avLst/>
          </a:prstGeom>
        </p:spPr>
        <p:txBody>
          <a:bodyPr/>
          <a:lstStyle/>
          <a:p>
            <a:pPr marL="609599" indent="-609599">
              <a:defRPr sz="4500"/>
            </a:pPr>
            <a:r>
              <a:rPr b="1"/>
              <a:t>1. Assistant/User role generation</a:t>
            </a:r>
            <a:r>
              <a:t>: Prompt the LLM agent to generate possible roles for the assistant and the user. (e.g., 50 assistant/user roles)</a:t>
            </a:r>
          </a:p>
        </p:txBody>
      </p:sp>
      <p:pic>
        <p:nvPicPr>
          <p:cNvPr id="482" name="Screenshot 2025-03-24 at 11.01.23 PM.png" descr="Screenshot 2025-03-24 at 11.01.23 PM.png"/>
          <p:cNvPicPr>
            <a:picLocks noChangeAspect="1"/>
          </p:cNvPicPr>
          <p:nvPr/>
        </p:nvPicPr>
        <p:blipFill>
          <a:blip r:embed="rId2">
            <a:extLst/>
          </a:blip>
          <a:stretch>
            <a:fillRect/>
          </a:stretch>
        </p:blipFill>
        <p:spPr>
          <a:xfrm>
            <a:off x="4095923" y="7260951"/>
            <a:ext cx="16192154" cy="5902559"/>
          </a:xfrm>
          <a:prstGeom prst="rect">
            <a:avLst/>
          </a:prstGeom>
          <a:ln w="12700">
            <a:miter lim="400000"/>
          </a:ln>
        </p:spPr>
      </p:pic>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Experiments"/>
          <p:cNvSpPr txBox="1"/>
          <p:nvPr>
            <p:ph type="title"/>
          </p:nvPr>
        </p:nvSpPr>
        <p:spPr>
          <a:prstGeom prst="rect">
            <a:avLst/>
          </a:prstGeom>
        </p:spPr>
        <p:txBody>
          <a:bodyPr/>
          <a:lstStyle/>
          <a:p>
            <a:pPr/>
            <a:r>
              <a:t>Experiments</a:t>
            </a:r>
          </a:p>
        </p:txBody>
      </p:sp>
      <p:sp>
        <p:nvSpPr>
          <p:cNvPr id="485" name="Role-playing for AI Society: Agent of gpt-3.5-turbo"/>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Role-playing for AI Society: Agent of gpt-3.5-turbo</a:t>
            </a:r>
          </a:p>
        </p:txBody>
      </p:sp>
      <p:sp>
        <p:nvSpPr>
          <p:cNvPr id="48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87" name="2. Task generation: Ask LLM agent to generate a range of possible tasks that can be solved through collaboration between the assistant and user roles. (e.g., 10 tasks)…"/>
          <p:cNvSpPr txBox="1"/>
          <p:nvPr>
            <p:ph type="body" idx="1"/>
          </p:nvPr>
        </p:nvSpPr>
        <p:spPr>
          <a:xfrm>
            <a:off x="1206500" y="4032604"/>
            <a:ext cx="21971000" cy="8256012"/>
          </a:xfrm>
          <a:prstGeom prst="rect">
            <a:avLst/>
          </a:prstGeom>
        </p:spPr>
        <p:txBody>
          <a:bodyPr/>
          <a:lstStyle/>
          <a:p>
            <a:pPr marL="609599" indent="-609599">
              <a:defRPr sz="4500"/>
            </a:pPr>
            <a:r>
              <a:rPr b="1"/>
              <a:t>2. Task generation</a:t>
            </a:r>
            <a:r>
              <a:t>: Ask LLM agent to generate a range of possible tasks that can be solved through collaboration between the assistant and user roles. (e.g., 10 tasks)</a:t>
            </a:r>
          </a:p>
          <a:p>
            <a:pPr marL="609599" indent="-609599">
              <a:defRPr sz="4500"/>
            </a:pPr>
            <a:r>
              <a:t>3. Use task specifier prompt to make the task more specific.</a:t>
            </a:r>
          </a:p>
        </p:txBody>
      </p:sp>
      <p:pic>
        <p:nvPicPr>
          <p:cNvPr id="488" name="Screenshot 2025-03-24 at 11.01.23 PM.png" descr="Screenshot 2025-03-24 at 11.01.23 PM.png"/>
          <p:cNvPicPr>
            <a:picLocks noChangeAspect="1"/>
          </p:cNvPicPr>
          <p:nvPr/>
        </p:nvPicPr>
        <p:blipFill>
          <a:blip r:embed="rId2">
            <a:extLst/>
          </a:blip>
          <a:stretch>
            <a:fillRect/>
          </a:stretch>
        </p:blipFill>
        <p:spPr>
          <a:xfrm>
            <a:off x="4095923" y="7260951"/>
            <a:ext cx="16192154" cy="5902559"/>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0" name="Experiments"/>
          <p:cNvSpPr txBox="1"/>
          <p:nvPr>
            <p:ph type="title"/>
          </p:nvPr>
        </p:nvSpPr>
        <p:spPr>
          <a:prstGeom prst="rect">
            <a:avLst/>
          </a:prstGeom>
        </p:spPr>
        <p:txBody>
          <a:bodyPr/>
          <a:lstStyle/>
          <a:p>
            <a:pPr/>
            <a:r>
              <a:t>Experiments</a:t>
            </a:r>
          </a:p>
        </p:txBody>
      </p:sp>
      <p:sp>
        <p:nvSpPr>
          <p:cNvPr id="491" name="Challenges and Observations in Data Gener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Challenges and Observations in Data Generation</a:t>
            </a:r>
          </a:p>
        </p:txBody>
      </p:sp>
      <p:sp>
        <p:nvSpPr>
          <p:cNvPr id="49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493" name="Role Flipping…"/>
          <p:cNvSpPr txBox="1"/>
          <p:nvPr>
            <p:ph type="body" sz="half" idx="1"/>
          </p:nvPr>
        </p:nvSpPr>
        <p:spPr>
          <a:xfrm>
            <a:off x="1206500" y="4032604"/>
            <a:ext cx="14904864" cy="8256012"/>
          </a:xfrm>
          <a:prstGeom prst="rect">
            <a:avLst/>
          </a:prstGeom>
        </p:spPr>
        <p:txBody>
          <a:bodyPr/>
          <a:lstStyle>
            <a:lvl1pPr marL="609599" indent="-609599">
              <a:defRPr b="1" sz="4500"/>
            </a:lvl1pPr>
            <a:lvl2pPr>
              <a:defRPr sz="4500"/>
            </a:lvl2pPr>
            <a:lvl3pPr>
              <a:defRPr sz="4500"/>
            </a:lvl3pPr>
          </a:lstStyle>
          <a:p>
            <a:pPr>
              <a:defRPr b="0"/>
            </a:pPr>
            <a:r>
              <a:rPr b="1"/>
              <a:t>Role Flipping</a:t>
            </a:r>
          </a:p>
          <a:p>
            <a:pPr lvl="1"/>
            <a:r>
              <a:t>Assistant and user switch roles during the conversation.</a:t>
            </a:r>
          </a:p>
          <a:p>
            <a:pPr lvl="2"/>
            <a:r>
              <a:t>When the assistant starts providing instructions instead of following user’s prompts, leading to confusion and reversal of roles.</a:t>
            </a:r>
          </a:p>
        </p:txBody>
      </p:sp>
      <p:pic>
        <p:nvPicPr>
          <p:cNvPr id="494" name="Screenshot 2025-03-24 at 11.07.18 PM.png" descr="Screenshot 2025-03-24 at 11.07.18 PM.png"/>
          <p:cNvPicPr>
            <a:picLocks noChangeAspect="1"/>
          </p:cNvPicPr>
          <p:nvPr/>
        </p:nvPicPr>
        <p:blipFill>
          <a:blip r:embed="rId2">
            <a:extLst/>
          </a:blip>
          <a:stretch>
            <a:fillRect/>
          </a:stretch>
        </p:blipFill>
        <p:spPr>
          <a:xfrm>
            <a:off x="16415039" y="3564120"/>
            <a:ext cx="6969668" cy="9624779"/>
          </a:xfrm>
          <a:prstGeom prst="rect">
            <a:avLst/>
          </a:prstGeom>
          <a:ln w="12700">
            <a:miter lim="400000"/>
          </a:ln>
        </p:spPr>
      </p:pic>
      <p:sp>
        <p:nvSpPr>
          <p:cNvPr id="495" name="Rectangle"/>
          <p:cNvSpPr/>
          <p:nvPr/>
        </p:nvSpPr>
        <p:spPr>
          <a:xfrm>
            <a:off x="16471331" y="6215604"/>
            <a:ext cx="6857086" cy="2308782"/>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7" name="Experiments"/>
          <p:cNvSpPr txBox="1"/>
          <p:nvPr>
            <p:ph type="title"/>
          </p:nvPr>
        </p:nvSpPr>
        <p:spPr>
          <a:prstGeom prst="rect">
            <a:avLst/>
          </a:prstGeom>
        </p:spPr>
        <p:txBody>
          <a:bodyPr/>
          <a:lstStyle/>
          <a:p>
            <a:pPr/>
            <a:r>
              <a:t>Experiments</a:t>
            </a:r>
          </a:p>
        </p:txBody>
      </p:sp>
      <p:sp>
        <p:nvSpPr>
          <p:cNvPr id="498" name="Challenges and Observations in Data Gener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Challenges and Observations in Data Generation</a:t>
            </a:r>
          </a:p>
        </p:txBody>
      </p:sp>
      <p:sp>
        <p:nvSpPr>
          <p:cNvPr id="499"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00" name="Assistant Repeats Instruction…"/>
          <p:cNvSpPr txBox="1"/>
          <p:nvPr>
            <p:ph type="body" sz="half" idx="1"/>
          </p:nvPr>
        </p:nvSpPr>
        <p:spPr>
          <a:xfrm>
            <a:off x="1206500" y="4032604"/>
            <a:ext cx="14904864" cy="8256012"/>
          </a:xfrm>
          <a:prstGeom prst="rect">
            <a:avLst/>
          </a:prstGeom>
        </p:spPr>
        <p:txBody>
          <a:bodyPr/>
          <a:lstStyle>
            <a:lvl1pPr marL="609599" indent="-609599">
              <a:defRPr b="1" sz="4500"/>
            </a:lvl1pPr>
            <a:lvl2pPr>
              <a:defRPr sz="4500"/>
            </a:lvl2pPr>
          </a:lstStyle>
          <a:p>
            <a:pPr/>
            <a:r>
              <a:t>Assistant Repeats Instruction</a:t>
            </a:r>
          </a:p>
          <a:p>
            <a:pPr lvl="1"/>
            <a:r>
              <a:t>Assistant simply repeating user’s instruction.</a:t>
            </a:r>
          </a:p>
        </p:txBody>
      </p:sp>
      <p:pic>
        <p:nvPicPr>
          <p:cNvPr id="501" name="Screenshot 2025-03-24 at 11.09.18 PM.png" descr="Screenshot 2025-03-24 at 11.09.18 PM.png"/>
          <p:cNvPicPr>
            <a:picLocks noChangeAspect="1"/>
          </p:cNvPicPr>
          <p:nvPr/>
        </p:nvPicPr>
        <p:blipFill>
          <a:blip r:embed="rId2">
            <a:extLst/>
          </a:blip>
          <a:stretch>
            <a:fillRect/>
          </a:stretch>
        </p:blipFill>
        <p:spPr>
          <a:xfrm>
            <a:off x="14904876" y="5033704"/>
            <a:ext cx="7585204" cy="6685611"/>
          </a:xfrm>
          <a:prstGeom prst="rect">
            <a:avLst/>
          </a:prstGeom>
          <a:ln w="12700">
            <a:miter lim="400000"/>
          </a:ln>
        </p:spPr>
      </p:pic>
      <p:sp>
        <p:nvSpPr>
          <p:cNvPr id="502" name="Rectangle"/>
          <p:cNvSpPr/>
          <p:nvPr/>
        </p:nvSpPr>
        <p:spPr>
          <a:xfrm>
            <a:off x="14929763" y="9614958"/>
            <a:ext cx="7535429" cy="2010860"/>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4" name="Experiments"/>
          <p:cNvSpPr txBox="1"/>
          <p:nvPr>
            <p:ph type="title"/>
          </p:nvPr>
        </p:nvSpPr>
        <p:spPr>
          <a:prstGeom prst="rect">
            <a:avLst/>
          </a:prstGeom>
        </p:spPr>
        <p:txBody>
          <a:bodyPr/>
          <a:lstStyle/>
          <a:p>
            <a:pPr/>
            <a:r>
              <a:t>Experiments</a:t>
            </a:r>
          </a:p>
        </p:txBody>
      </p:sp>
      <p:sp>
        <p:nvSpPr>
          <p:cNvPr id="505" name="Challenges and Observations in Data Gener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Challenges and Observations in Data Generation</a:t>
            </a:r>
          </a:p>
        </p:txBody>
      </p:sp>
      <p:sp>
        <p:nvSpPr>
          <p:cNvPr id="50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07" name="Flake Reply…"/>
          <p:cNvSpPr txBox="1"/>
          <p:nvPr>
            <p:ph type="body" idx="1"/>
          </p:nvPr>
        </p:nvSpPr>
        <p:spPr>
          <a:xfrm>
            <a:off x="1206500" y="4032604"/>
            <a:ext cx="21847247" cy="8256012"/>
          </a:xfrm>
          <a:prstGeom prst="rect">
            <a:avLst/>
          </a:prstGeom>
        </p:spPr>
        <p:txBody>
          <a:bodyPr/>
          <a:lstStyle>
            <a:lvl1pPr marL="609599" indent="-609599">
              <a:defRPr b="1" sz="4500"/>
            </a:lvl1pPr>
            <a:lvl2pPr>
              <a:defRPr sz="4500"/>
            </a:lvl2pPr>
          </a:lstStyle>
          <a:p>
            <a:pPr/>
            <a:r>
              <a:t>Flake Reply</a:t>
            </a:r>
          </a:p>
          <a:p>
            <a:pPr lvl="1"/>
            <a:r>
              <a:t>Assistant responds with a flake reply (e.g., I will…), which doesn’t contribute to the task at hand and ultimately fails to follow through.</a:t>
            </a:r>
          </a:p>
        </p:txBody>
      </p:sp>
      <p:pic>
        <p:nvPicPr>
          <p:cNvPr id="508" name="Screenshot 2025-03-24 at 11.10.07 PM.png" descr="Screenshot 2025-03-24 at 11.10.07 PM.png"/>
          <p:cNvPicPr>
            <a:picLocks noChangeAspect="1"/>
          </p:cNvPicPr>
          <p:nvPr/>
        </p:nvPicPr>
        <p:blipFill>
          <a:blip r:embed="rId2">
            <a:extLst/>
          </a:blip>
          <a:stretch>
            <a:fillRect/>
          </a:stretch>
        </p:blipFill>
        <p:spPr>
          <a:xfrm>
            <a:off x="8377046" y="7327658"/>
            <a:ext cx="8888391" cy="3819607"/>
          </a:xfrm>
          <a:prstGeom prst="rect">
            <a:avLst/>
          </a:prstGeom>
          <a:ln w="12700">
            <a:miter lim="400000"/>
          </a:ln>
        </p:spPr>
      </p:pic>
      <p:sp>
        <p:nvSpPr>
          <p:cNvPr id="509" name="Rectangle"/>
          <p:cNvSpPr/>
          <p:nvPr/>
        </p:nvSpPr>
        <p:spPr>
          <a:xfrm>
            <a:off x="8362408" y="9654485"/>
            <a:ext cx="8917667" cy="1524565"/>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1" name="Experiments"/>
          <p:cNvSpPr txBox="1"/>
          <p:nvPr>
            <p:ph type="title"/>
          </p:nvPr>
        </p:nvSpPr>
        <p:spPr>
          <a:prstGeom prst="rect">
            <a:avLst/>
          </a:prstGeom>
        </p:spPr>
        <p:txBody>
          <a:bodyPr/>
          <a:lstStyle/>
          <a:p>
            <a:pPr/>
            <a:r>
              <a:t>Experiments</a:t>
            </a:r>
          </a:p>
        </p:txBody>
      </p:sp>
      <p:sp>
        <p:nvSpPr>
          <p:cNvPr id="512" name="Challenges and Observations in Data Gener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Challenges and Observations in Data Generation</a:t>
            </a:r>
          </a:p>
        </p:txBody>
      </p:sp>
      <p:sp>
        <p:nvSpPr>
          <p:cNvPr id="513"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14" name="Infinite Loop of Messages…"/>
          <p:cNvSpPr txBox="1"/>
          <p:nvPr>
            <p:ph type="body" sz="half" idx="1"/>
          </p:nvPr>
        </p:nvSpPr>
        <p:spPr>
          <a:xfrm>
            <a:off x="1206500" y="4032604"/>
            <a:ext cx="16101340" cy="8256012"/>
          </a:xfrm>
          <a:prstGeom prst="rect">
            <a:avLst/>
          </a:prstGeom>
        </p:spPr>
        <p:txBody>
          <a:bodyPr/>
          <a:lstStyle>
            <a:lvl1pPr marL="609599" indent="-609599">
              <a:defRPr b="1" sz="4500"/>
            </a:lvl1pPr>
            <a:lvl2pPr>
              <a:defRPr sz="4500"/>
            </a:lvl2pPr>
          </a:lstStyle>
          <a:p>
            <a:pPr/>
            <a:r>
              <a:t>Infinite Loop of Messages</a:t>
            </a:r>
          </a:p>
          <a:p>
            <a:pPr lvl="1"/>
            <a:r>
              <a:t>Assistant and user are in infinite loop of meaningless conversation, such as repeatedly thanking each other or saying goodbye without progressing the task.</a:t>
            </a:r>
          </a:p>
        </p:txBody>
      </p:sp>
      <p:pic>
        <p:nvPicPr>
          <p:cNvPr id="515" name="Screenshot 2025-03-24 at 11.15.49 PM.png" descr="Screenshot 2025-03-24 at 11.15.49 PM.png"/>
          <p:cNvPicPr>
            <a:picLocks noChangeAspect="1"/>
          </p:cNvPicPr>
          <p:nvPr/>
        </p:nvPicPr>
        <p:blipFill>
          <a:blip r:embed="rId2">
            <a:extLst/>
          </a:blip>
          <a:stretch>
            <a:fillRect/>
          </a:stretch>
        </p:blipFill>
        <p:spPr>
          <a:xfrm>
            <a:off x="17564921" y="2105156"/>
            <a:ext cx="6438120" cy="11206459"/>
          </a:xfrm>
          <a:prstGeom prst="rect">
            <a:avLst/>
          </a:prstGeom>
          <a:ln w="12700">
            <a:miter lim="400000"/>
          </a:ln>
        </p:spPr>
      </p:pic>
      <p:sp>
        <p:nvSpPr>
          <p:cNvPr id="516" name="Rectangle"/>
          <p:cNvSpPr/>
          <p:nvPr/>
        </p:nvSpPr>
        <p:spPr>
          <a:xfrm>
            <a:off x="17599153" y="5519276"/>
            <a:ext cx="6459867" cy="6977258"/>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8" name="Experiments"/>
          <p:cNvSpPr txBox="1"/>
          <p:nvPr>
            <p:ph type="title"/>
          </p:nvPr>
        </p:nvSpPr>
        <p:spPr>
          <a:prstGeom prst="rect">
            <a:avLst/>
          </a:prstGeom>
        </p:spPr>
        <p:txBody>
          <a:bodyPr/>
          <a:lstStyle/>
          <a:p>
            <a:pPr/>
            <a:r>
              <a:t>Experiments</a:t>
            </a:r>
          </a:p>
        </p:txBody>
      </p:sp>
      <p:sp>
        <p:nvSpPr>
          <p:cNvPr id="519" name="Agent Evaluat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Agent Evaluation</a:t>
            </a:r>
          </a:p>
        </p:txBody>
      </p:sp>
      <p:sp>
        <p:nvSpPr>
          <p:cNvPr id="520"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21" name="Conduct human evaluation and GPT4 evaluation with agents of gpt-3.5-turbo.…"/>
          <p:cNvSpPr txBox="1"/>
          <p:nvPr>
            <p:ph type="body" idx="1"/>
          </p:nvPr>
        </p:nvSpPr>
        <p:spPr>
          <a:xfrm>
            <a:off x="1206500" y="4032604"/>
            <a:ext cx="21971000" cy="8256012"/>
          </a:xfrm>
          <a:prstGeom prst="rect">
            <a:avLst/>
          </a:prstGeom>
        </p:spPr>
        <p:txBody>
          <a:bodyPr/>
          <a:lstStyle/>
          <a:p>
            <a:pPr marL="609599" indent="-609599">
              <a:defRPr sz="4500"/>
            </a:pPr>
            <a:r>
              <a:t>Conduct human evaluation and GPT4 evaluation with agents of gpt-3.5-turbo.</a:t>
            </a:r>
          </a:p>
          <a:p>
            <a:pPr lvl="1">
              <a:defRPr sz="4200"/>
            </a:pPr>
            <a:r>
              <a:t>1. Randomly select 100 tasks from AI Society dataset for evaluation.</a:t>
            </a:r>
          </a:p>
          <a:p>
            <a:pPr lvl="1">
              <a:defRPr sz="4200"/>
            </a:pPr>
            <a:r>
              <a:t>2. Use GPT4 to summarize CAMEL Agents’ solution and compare it with a single shot solution from gpt-3.5-turbo.</a:t>
            </a:r>
          </a:p>
        </p:txBody>
      </p:sp>
      <p:pic>
        <p:nvPicPr>
          <p:cNvPr id="522" name="Screenshot 2025-03-24 at 11.22.42 PM.png" descr="Screenshot 2025-03-24 at 11.22.42 PM.png"/>
          <p:cNvPicPr>
            <a:picLocks noChangeAspect="1"/>
          </p:cNvPicPr>
          <p:nvPr/>
        </p:nvPicPr>
        <p:blipFill>
          <a:blip r:embed="rId2">
            <a:extLst/>
          </a:blip>
          <a:stretch>
            <a:fillRect/>
          </a:stretch>
        </p:blipFill>
        <p:spPr>
          <a:xfrm>
            <a:off x="4430706" y="8057438"/>
            <a:ext cx="15522588" cy="4320327"/>
          </a:xfrm>
          <a:prstGeom prst="rect">
            <a:avLst/>
          </a:prstGeom>
          <a:ln w="12700">
            <a:miter lim="400000"/>
          </a:ln>
        </p:spPr>
      </p:pic>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4" name="Experiments"/>
          <p:cNvSpPr txBox="1"/>
          <p:nvPr>
            <p:ph type="title"/>
          </p:nvPr>
        </p:nvSpPr>
        <p:spPr>
          <a:prstGeom prst="rect">
            <a:avLst/>
          </a:prstGeom>
        </p:spPr>
        <p:txBody>
          <a:bodyPr/>
          <a:lstStyle/>
          <a:p>
            <a:pPr/>
            <a:r>
              <a:t>Experiments</a:t>
            </a:r>
          </a:p>
        </p:txBody>
      </p:sp>
      <p:sp>
        <p:nvSpPr>
          <p:cNvPr id="525" name="Resul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Results</a:t>
            </a:r>
          </a:p>
        </p:txBody>
      </p:sp>
      <p:sp>
        <p:nvSpPr>
          <p:cNvPr id="52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27" name="CAMEL outperforms single-shot solution generated by gpt-3.5-turbo.…"/>
          <p:cNvSpPr txBox="1"/>
          <p:nvPr>
            <p:ph type="body" idx="1"/>
          </p:nvPr>
        </p:nvSpPr>
        <p:spPr>
          <a:xfrm>
            <a:off x="1206500" y="4032604"/>
            <a:ext cx="21971000" cy="8256012"/>
          </a:xfrm>
          <a:prstGeom prst="rect">
            <a:avLst/>
          </a:prstGeom>
        </p:spPr>
        <p:txBody>
          <a:bodyPr/>
          <a:lstStyle>
            <a:lvl1pPr marL="609599" indent="-609599">
              <a:defRPr sz="4500"/>
            </a:lvl1pPr>
            <a:lvl2pPr>
              <a:defRPr sz="4500"/>
            </a:lvl2pPr>
          </a:lstStyle>
          <a:p>
            <a:pPr/>
            <a:r>
              <a:t>CAMEL outperforms single-shot solution generated by gpt-3.5-turbo.</a:t>
            </a:r>
          </a:p>
          <a:p>
            <a:pPr lvl="1"/>
            <a:r>
              <a:t>Human evaluation and GPT4 evaluation are highly aligned.</a:t>
            </a:r>
          </a:p>
        </p:txBody>
      </p:sp>
      <p:pic>
        <p:nvPicPr>
          <p:cNvPr id="528" name="Screenshot 2025-03-24 at 11.25.09 PM.png" descr="Screenshot 2025-03-24 at 11.25.09 PM.png"/>
          <p:cNvPicPr>
            <a:picLocks noChangeAspect="1"/>
          </p:cNvPicPr>
          <p:nvPr/>
        </p:nvPicPr>
        <p:blipFill>
          <a:blip r:embed="rId2">
            <a:extLst/>
          </a:blip>
          <a:stretch>
            <a:fillRect/>
          </a:stretch>
        </p:blipFill>
        <p:spPr>
          <a:xfrm>
            <a:off x="3317790" y="8565202"/>
            <a:ext cx="17748420" cy="4033733"/>
          </a:xfrm>
          <a:prstGeom prst="rect">
            <a:avLst/>
          </a:prstGeom>
          <a:ln w="12700">
            <a:miter lim="400000"/>
          </a:ln>
        </p:spPr>
      </p:pic>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0" name="Experiments"/>
          <p:cNvSpPr txBox="1"/>
          <p:nvPr>
            <p:ph type="title"/>
          </p:nvPr>
        </p:nvSpPr>
        <p:spPr>
          <a:prstGeom prst="rect">
            <a:avLst/>
          </a:prstGeom>
        </p:spPr>
        <p:txBody>
          <a:bodyPr/>
          <a:lstStyle/>
          <a:p>
            <a:pPr/>
            <a:r>
              <a:t>Experiments</a:t>
            </a:r>
          </a:p>
        </p:txBody>
      </p:sp>
      <p:sp>
        <p:nvSpPr>
          <p:cNvPr id="531" name="Resul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Results</a:t>
            </a:r>
          </a:p>
        </p:txBody>
      </p:sp>
      <p:sp>
        <p:nvSpPr>
          <p:cNvPr id="532"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33" name="Progressively fine-tune a LLaMA-7B model on CAMEL datasets to demonstrate the ability to develop an understanding of AI society, code, math, and science.…"/>
          <p:cNvSpPr txBox="1"/>
          <p:nvPr>
            <p:ph type="body" idx="1"/>
          </p:nvPr>
        </p:nvSpPr>
        <p:spPr>
          <a:xfrm>
            <a:off x="1206500" y="4032604"/>
            <a:ext cx="21971000" cy="8256012"/>
          </a:xfrm>
          <a:prstGeom prst="rect">
            <a:avLst/>
          </a:prstGeom>
        </p:spPr>
        <p:txBody>
          <a:bodyPr/>
          <a:lstStyle>
            <a:lvl1pPr marL="609599" indent="-609599">
              <a:defRPr sz="4500"/>
            </a:lvl1pPr>
            <a:lvl2pPr>
              <a:defRPr sz="4500"/>
            </a:lvl2pPr>
          </a:lstStyle>
          <a:p>
            <a:pPr/>
            <a:r>
              <a:t>Progressively fine-tune a LLaMA-7B model on CAMEL datasets to demonstrate the ability to develop an understanding of AI society, code, math, and science.</a:t>
            </a:r>
          </a:p>
          <a:p>
            <a:pPr lvl="1"/>
            <a:r>
              <a:t>This progression shows the potential of AI to acquire adaptable knowledge base, paralleling the way humans gain expertise in diverse subjects.</a:t>
            </a:r>
          </a:p>
        </p:txBody>
      </p:sp>
      <p:pic>
        <p:nvPicPr>
          <p:cNvPr id="534" name="Screenshot 2025-03-24 at 11.54.13 PM.png" descr="Screenshot 2025-03-24 at 11.54.13 PM.png"/>
          <p:cNvPicPr>
            <a:picLocks noChangeAspect="1"/>
          </p:cNvPicPr>
          <p:nvPr/>
        </p:nvPicPr>
        <p:blipFill>
          <a:blip r:embed="rId2">
            <a:extLst/>
          </a:blip>
          <a:srcRect l="0" t="20882" r="0" b="0"/>
          <a:stretch>
            <a:fillRect/>
          </a:stretch>
        </p:blipFill>
        <p:spPr>
          <a:xfrm>
            <a:off x="4877990" y="7241767"/>
            <a:ext cx="14628099" cy="6145666"/>
          </a:xfrm>
          <a:prstGeom prst="rect">
            <a:avLst/>
          </a:prstGeom>
          <a:ln w="12700">
            <a:miter lim="400000"/>
          </a:ln>
        </p:spPr>
      </p:pic>
    </p:spTree>
  </p:cSld>
  <p:clrMapOvr>
    <a:masterClrMapping/>
  </p:clrMapOvr>
  <p:transition xmlns:p14="http://schemas.microsoft.com/office/powerpoint/2010/main" spd="med" advClick="1"/>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6" name="Experiments"/>
          <p:cNvSpPr txBox="1"/>
          <p:nvPr>
            <p:ph type="title"/>
          </p:nvPr>
        </p:nvSpPr>
        <p:spPr>
          <a:prstGeom prst="rect">
            <a:avLst/>
          </a:prstGeom>
        </p:spPr>
        <p:txBody>
          <a:bodyPr/>
          <a:lstStyle/>
          <a:p>
            <a:pPr/>
            <a:r>
              <a:t>Experiments</a:t>
            </a:r>
          </a:p>
        </p:txBody>
      </p:sp>
      <p:sp>
        <p:nvSpPr>
          <p:cNvPr id="537" name="Resul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Results</a:t>
            </a:r>
          </a:p>
        </p:txBody>
      </p:sp>
      <p:sp>
        <p:nvSpPr>
          <p:cNvPr id="538"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39" name="When Code is included in train dataset, the performance on Science is improved.…"/>
          <p:cNvSpPr txBox="1"/>
          <p:nvPr>
            <p:ph type="body" idx="1"/>
          </p:nvPr>
        </p:nvSpPr>
        <p:spPr>
          <a:xfrm>
            <a:off x="1206500" y="4032604"/>
            <a:ext cx="21971000" cy="8256012"/>
          </a:xfrm>
          <a:prstGeom prst="rect">
            <a:avLst/>
          </a:prstGeom>
        </p:spPr>
        <p:txBody>
          <a:bodyPr/>
          <a:lstStyle>
            <a:lvl1pPr marL="609599" indent="-609599">
              <a:defRPr sz="4500"/>
            </a:lvl1pPr>
            <a:lvl2pPr>
              <a:defRPr sz="4500"/>
            </a:lvl2pPr>
          </a:lstStyle>
          <a:p>
            <a:pPr/>
            <a:r>
              <a:t>When Code is included in train dataset, the performance on Science is improved.</a:t>
            </a:r>
          </a:p>
          <a:p>
            <a:pPr lvl="1"/>
            <a:r>
              <a:t>Code dataset contains  problems that solve tasks in particular domains including scientific domain.</a:t>
            </a:r>
          </a:p>
        </p:txBody>
      </p:sp>
      <p:pic>
        <p:nvPicPr>
          <p:cNvPr id="540" name="Screenshot 2025-03-24 at 11.54.13 PM.png" descr="Screenshot 2025-03-24 at 11.54.13 PM.png"/>
          <p:cNvPicPr>
            <a:picLocks noChangeAspect="1"/>
          </p:cNvPicPr>
          <p:nvPr/>
        </p:nvPicPr>
        <p:blipFill>
          <a:blip r:embed="rId2">
            <a:extLst/>
          </a:blip>
          <a:srcRect l="0" t="41396" r="0" b="42669"/>
          <a:stretch>
            <a:fillRect/>
          </a:stretch>
        </p:blipFill>
        <p:spPr>
          <a:xfrm>
            <a:off x="4368403" y="10174007"/>
            <a:ext cx="15647135" cy="1323881"/>
          </a:xfrm>
          <a:prstGeom prst="rect">
            <a:avLst/>
          </a:prstGeom>
          <a:ln w="12700">
            <a:miter lim="400000"/>
          </a:ln>
        </p:spPr>
      </p:pic>
      <p:pic>
        <p:nvPicPr>
          <p:cNvPr id="541" name="Screenshot 2025-03-24 at 11.54.13 PM.png" descr="Screenshot 2025-03-24 at 11.54.13 PM.png"/>
          <p:cNvPicPr>
            <a:picLocks noChangeAspect="1"/>
          </p:cNvPicPr>
          <p:nvPr/>
        </p:nvPicPr>
        <p:blipFill>
          <a:blip r:embed="rId2">
            <a:extLst/>
          </a:blip>
          <a:srcRect l="0" t="20655" r="0" b="0"/>
          <a:stretch>
            <a:fillRect/>
          </a:stretch>
        </p:blipFill>
        <p:spPr>
          <a:xfrm>
            <a:off x="4877951" y="7164678"/>
            <a:ext cx="14628098" cy="6163292"/>
          </a:xfrm>
          <a:prstGeom prst="rect">
            <a:avLst/>
          </a:prstGeom>
          <a:ln w="12700">
            <a:miter lim="400000"/>
          </a:ln>
        </p:spPr>
      </p:pic>
      <p:sp>
        <p:nvSpPr>
          <p:cNvPr id="542" name="Rectangle"/>
          <p:cNvSpPr/>
          <p:nvPr/>
        </p:nvSpPr>
        <p:spPr>
          <a:xfrm>
            <a:off x="5624867" y="8732013"/>
            <a:ext cx="13134265" cy="1369664"/>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4" name="Experiments"/>
          <p:cNvSpPr txBox="1"/>
          <p:nvPr>
            <p:ph type="title"/>
          </p:nvPr>
        </p:nvSpPr>
        <p:spPr>
          <a:prstGeom prst="rect">
            <a:avLst/>
          </a:prstGeom>
        </p:spPr>
        <p:txBody>
          <a:bodyPr/>
          <a:lstStyle/>
          <a:p>
            <a:pPr/>
            <a:r>
              <a:t>Experiments</a:t>
            </a:r>
          </a:p>
        </p:txBody>
      </p:sp>
      <p:sp>
        <p:nvSpPr>
          <p:cNvPr id="545" name="Results"/>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Results</a:t>
            </a:r>
          </a:p>
        </p:txBody>
      </p:sp>
      <p:sp>
        <p:nvSpPr>
          <p:cNvPr id="546" name="Slide Number"/>
          <p:cNvSpPr txBox="1"/>
          <p:nvPr>
            <p:ph type="sldNum" sz="quarter" idx="2"/>
          </p:nvPr>
        </p:nvSpPr>
        <p:spPr>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547" name="When AI Society is included in train dataset, the performance on Code is improved.…"/>
          <p:cNvSpPr txBox="1"/>
          <p:nvPr>
            <p:ph type="body" idx="1"/>
          </p:nvPr>
        </p:nvSpPr>
        <p:spPr>
          <a:xfrm>
            <a:off x="1206500" y="4032604"/>
            <a:ext cx="21971000" cy="8256012"/>
          </a:xfrm>
          <a:prstGeom prst="rect">
            <a:avLst/>
          </a:prstGeom>
        </p:spPr>
        <p:txBody>
          <a:bodyPr/>
          <a:lstStyle>
            <a:lvl1pPr marL="609599" indent="-609599">
              <a:defRPr sz="4500"/>
            </a:lvl1pPr>
            <a:lvl2pPr>
              <a:defRPr sz="4500"/>
            </a:lvl2pPr>
          </a:lstStyle>
          <a:p>
            <a:pPr/>
            <a:r>
              <a:t>When AI Society is included in train dataset, the performance on Code is improved.</a:t>
            </a:r>
          </a:p>
          <a:p>
            <a:pPr lvl="1"/>
            <a:r>
              <a:t>AI Society contains the role of a "programmer" with coding relevant conversations.</a:t>
            </a:r>
          </a:p>
        </p:txBody>
      </p:sp>
      <p:pic>
        <p:nvPicPr>
          <p:cNvPr id="548" name="Screenshot 2025-03-24 at 11.54.13 PM.png" descr="Screenshot 2025-03-24 at 11.54.13 PM.png"/>
          <p:cNvPicPr>
            <a:picLocks noChangeAspect="1"/>
          </p:cNvPicPr>
          <p:nvPr/>
        </p:nvPicPr>
        <p:blipFill>
          <a:blip r:embed="rId2">
            <a:extLst/>
          </a:blip>
          <a:srcRect l="0" t="41396" r="0" b="42669"/>
          <a:stretch>
            <a:fillRect/>
          </a:stretch>
        </p:blipFill>
        <p:spPr>
          <a:xfrm>
            <a:off x="4368403" y="10174007"/>
            <a:ext cx="15647135" cy="1323881"/>
          </a:xfrm>
          <a:prstGeom prst="rect">
            <a:avLst/>
          </a:prstGeom>
          <a:ln w="12700">
            <a:miter lim="400000"/>
          </a:ln>
        </p:spPr>
      </p:pic>
      <p:pic>
        <p:nvPicPr>
          <p:cNvPr id="549" name="Screenshot 2025-03-24 at 11.54.13 PM.png" descr="Screenshot 2025-03-24 at 11.54.13 PM.png"/>
          <p:cNvPicPr>
            <a:picLocks noChangeAspect="1"/>
          </p:cNvPicPr>
          <p:nvPr/>
        </p:nvPicPr>
        <p:blipFill>
          <a:blip r:embed="rId2">
            <a:extLst/>
          </a:blip>
          <a:srcRect l="0" t="20655" r="0" b="0"/>
          <a:stretch>
            <a:fillRect/>
          </a:stretch>
        </p:blipFill>
        <p:spPr>
          <a:xfrm>
            <a:off x="4877951" y="7164678"/>
            <a:ext cx="14628098" cy="6163292"/>
          </a:xfrm>
          <a:prstGeom prst="rect">
            <a:avLst/>
          </a:prstGeom>
          <a:ln w="12700">
            <a:miter lim="400000"/>
          </a:ln>
        </p:spPr>
      </p:pic>
      <p:sp>
        <p:nvSpPr>
          <p:cNvPr id="550" name="Rectangle"/>
          <p:cNvSpPr/>
          <p:nvPr/>
        </p:nvSpPr>
        <p:spPr>
          <a:xfrm>
            <a:off x="5624868" y="7509539"/>
            <a:ext cx="13134264" cy="1369664"/>
          </a:xfrm>
          <a:prstGeom prst="rect">
            <a:avLst/>
          </a:prstGeom>
          <a:ln w="63500">
            <a:solidFill>
              <a:srgbClr val="E22020"/>
            </a:solidFill>
            <a:miter lim="400000"/>
          </a:ln>
        </p:spPr>
        <p:txBody>
          <a:bodyPr lIns="50800" tIns="50800" rIns="50800" bIns="50800" anchor="ctr"/>
          <a:lstStyle/>
          <a:p>
            <a:pPr algn="ctr" defTabSz="825500">
              <a:lnSpc>
                <a:spcPct val="100000"/>
              </a:lnSpc>
              <a:spcBef>
                <a:spcPts val="0"/>
              </a:spcBef>
              <a:defRPr sz="3200">
                <a:solidFill>
                  <a:srgbClr val="FFFFFF"/>
                </a:solidFill>
                <a:latin typeface="Helvetica Neue Medium"/>
                <a:ea typeface="Helvetica Neue Medium"/>
                <a:cs typeface="Helvetica Neue Medium"/>
                <a:sym typeface="Helvetica Neue Medium"/>
              </a:defRPr>
            </a:pP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