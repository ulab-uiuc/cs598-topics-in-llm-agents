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2454" r:id="rId3"/>
    <p:sldId id="2558" r:id="rId5"/>
    <p:sldId id="2556" r:id="rId6"/>
    <p:sldId id="2557" r:id="rId7"/>
    <p:sldId id="2560" r:id="rId8"/>
    <p:sldId id="2564" r:id="rId9"/>
    <p:sldId id="2561" r:id="rId10"/>
    <p:sldId id="2565" r:id="rId11"/>
    <p:sldId id="2529" r:id="rId12"/>
    <p:sldId id="2530" r:id="rId13"/>
    <p:sldId id="2531" r:id="rId14"/>
    <p:sldId id="2533" r:id="rId15"/>
    <p:sldId id="2534" r:id="rId16"/>
    <p:sldId id="2538" r:id="rId17"/>
    <p:sldId id="2537" r:id="rId18"/>
    <p:sldId id="2540" r:id="rId19"/>
    <p:sldId id="2541" r:id="rId20"/>
    <p:sldId id="2543" r:id="rId21"/>
    <p:sldId id="2544" r:id="rId22"/>
    <p:sldId id="2545" r:id="rId23"/>
    <p:sldId id="2542" r:id="rId24"/>
    <p:sldId id="2547" r:id="rId25"/>
    <p:sldId id="2548" r:id="rId26"/>
    <p:sldId id="2549" r:id="rId27"/>
    <p:sldId id="2550" r:id="rId28"/>
    <p:sldId id="2551" r:id="rId29"/>
    <p:sldId id="2552" r:id="rId30"/>
    <p:sldId id="2553" r:id="rId31"/>
    <p:sldId id="2546" r:id="rId32"/>
  </p:sldIdLst>
  <p:sldSz cx="12192000" cy="68580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564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pos="7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5F05"/>
    <a:srgbClr val="2B59AC"/>
    <a:srgbClr val="676767"/>
    <a:srgbClr val="002A52"/>
    <a:srgbClr val="FFA22E"/>
    <a:srgbClr val="3B2079"/>
    <a:srgbClr val="0000FF"/>
    <a:srgbClr val="0432FF"/>
    <a:srgbClr val="008000"/>
    <a:srgbClr val="93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" d="2"/>
          <a:sy n="1" d="2"/>
        </p:scale>
        <p:origin x="0" y="0"/>
      </p:cViewPr>
      <p:guideLst>
        <p:guide orient="horz" pos="2160"/>
        <p:guide pos="5564"/>
        <p:guide pos="384"/>
        <p:guide pos="729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180" y="0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28C4F-4FE9-4D22-93D8-487A4D01D98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715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180" y="6948715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390F-F66B-4732-9C46-6C80D0575FA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E18CB36-612C-4E4A-AC83-E89476AEC2B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E707532-839C-41A2-9E71-D5288AEAE66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8"/>
            <a:ext cx="10363200" cy="1362075"/>
          </a:xfrm>
        </p:spPr>
        <p:txBody>
          <a:bodyPr anchor="t"/>
          <a:lstStyle>
            <a:lvl1pPr algn="l">
              <a:defRPr sz="4400" b="0" cap="none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F0B16D58-B50A-AB47-9772-39FAD8862975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0A1F10C4-CAAB-D744-B5DF-7591E3963A86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E71F5945-3BB9-8F41-BE51-13D22614A93A}" type="datetime1">
              <a:rPr lang="en-US" smtClean="0"/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7"/>
            <a:ext cx="5384800" cy="5079999"/>
          </a:xfrm>
        </p:spPr>
        <p:txBody>
          <a:bodyPr/>
          <a:lstStyle>
            <a:lvl1pPr marL="0" indent="0">
              <a:buNone/>
              <a:defRPr sz="2775"/>
            </a:lvl1pPr>
            <a:lvl2pPr>
              <a:defRPr sz="2400"/>
            </a:lvl2pPr>
            <a:lvl3pPr>
              <a:defRPr sz="2025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Click to edit Master text styles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Second level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Third level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Fourth level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7"/>
            <a:ext cx="5384800" cy="5079999"/>
          </a:xfrm>
        </p:spPr>
        <p:txBody>
          <a:bodyPr/>
          <a:lstStyle>
            <a:lvl1pPr marL="0" indent="0">
              <a:buNone/>
              <a:defRPr sz="2775"/>
            </a:lvl1pPr>
            <a:lvl2pPr>
              <a:defRPr sz="2400"/>
            </a:lvl2pPr>
            <a:lvl3pPr>
              <a:defRPr sz="2025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Click to edit Master text styles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Second level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Third level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Fourth level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  <a:p>
            <a:pPr lvl="0"/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401761"/>
            <a:ext cx="12192000" cy="0"/>
          </a:xfrm>
          <a:prstGeom prst="line">
            <a:avLst/>
          </a:prstGeom>
          <a:ln w="76200" cap="sq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870A61D0-E579-1849-BF70-8D78C268BEBD}" type="datetime1">
              <a:rPr lang="en-US" smtClean="0"/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7800"/>
            <a:ext cx="12192000" cy="1143000"/>
          </a:xfrm>
        </p:spPr>
        <p:txBody>
          <a:bodyPr>
            <a:noAutofit/>
          </a:bodyPr>
          <a:lstStyle>
            <a:lvl1pPr algn="ctr">
              <a:defRPr sz="440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31BBD59D-53B6-9E49-BA01-9FA5CE37720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800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0363" y="1014602"/>
            <a:ext cx="10363200" cy="1470025"/>
          </a:xfrm>
        </p:spPr>
        <p:txBody>
          <a:bodyPr>
            <a:noAutofit/>
          </a:bodyPr>
          <a:lstStyle>
            <a:lvl1pPr>
              <a:defRPr sz="4800" b="0" cap="none" spc="0">
                <a:ln>
                  <a:noFill/>
                </a:ln>
                <a:solidFill>
                  <a:srgbClr val="FF5F05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27600"/>
            <a:ext cx="8534400" cy="70870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E39BBCCD-340F-C849-B48F-62655FA5A7F7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838200" y="664684"/>
            <a:ext cx="10014842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838200" y="1740980"/>
            <a:ext cx="10515600" cy="4033743"/>
          </a:xfrm>
        </p:spPr>
        <p:txBody>
          <a:bodyPr>
            <a:normAutofit/>
          </a:bodyPr>
          <a:lstStyle>
            <a:lvl1pPr>
              <a:defRPr sz="3200" b="0" i="0">
                <a:latin typeface="+mn-lt"/>
                <a:cs typeface="Arial" panose="020B0604020202090204" pitchFamily="34" charset="0"/>
              </a:defRPr>
            </a:lvl1pPr>
            <a:lvl2pPr>
              <a:defRPr sz="2800" b="0" i="0">
                <a:latin typeface="+mn-lt"/>
                <a:cs typeface="Arial" panose="020B0604020202090204" pitchFamily="34" charset="0"/>
              </a:defRPr>
            </a:lvl2pPr>
            <a:lvl3pPr>
              <a:defRPr sz="2400" b="0" i="0">
                <a:latin typeface="+mn-lt"/>
                <a:cs typeface="Arial" panose="020B0604020202090204" pitchFamily="34" charset="0"/>
              </a:defRPr>
            </a:lvl3pPr>
            <a:lvl4pPr>
              <a:defRPr sz="2000" b="0" i="0">
                <a:latin typeface="+mn-lt"/>
                <a:cs typeface="Arial" panose="020B0604020202090204" pitchFamily="34" charset="0"/>
              </a:defRPr>
            </a:lvl4pPr>
            <a:lvl5pPr>
              <a:defRPr sz="2000" b="0" i="0">
                <a:latin typeface="+mn-lt"/>
                <a:cs typeface="Arial" panose="020B060402020209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pic>
        <p:nvPicPr>
          <p:cNvPr id="2" name="Picture 1" descr="The Block I in orange with a blue background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042" y="-1564"/>
            <a:ext cx="684893" cy="855297"/>
          </a:xfrm>
          <a:prstGeom prst="rect">
            <a:avLst/>
          </a:prstGeom>
        </p:spPr>
      </p:pic>
      <p:cxnSp>
        <p:nvCxnSpPr>
          <p:cNvPr id="5" name="Straight Connector 4"/>
          <p:cNvCxnSpPr/>
          <p:nvPr userDrawn="1"/>
        </p:nvCxnSpPr>
        <p:spPr>
          <a:xfrm>
            <a:off x="652889" y="1529395"/>
            <a:ext cx="1088622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4"/>
          <p:cNvSpPr txBox="1"/>
          <p:nvPr userDrawn="1"/>
        </p:nvSpPr>
        <p:spPr>
          <a:xfrm>
            <a:off x="839788" y="6533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12284B"/>
                </a:solidFill>
                <a:latin typeface="Georgia" panose="02040502050405090303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CS598: Deep Learning with Graphs</a:t>
            </a:r>
            <a:endParaRPr lang="en-US"/>
          </a:p>
        </p:txBody>
      </p:sp>
      <p:sp>
        <p:nvSpPr>
          <p:cNvPr id="12" name="Slide Number Placeholder 4"/>
          <p:cNvSpPr txBox="1"/>
          <p:nvPr userDrawn="1"/>
        </p:nvSpPr>
        <p:spPr>
          <a:xfrm>
            <a:off x="4724400" y="65452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12284B"/>
                </a:solidFill>
                <a:latin typeface="Georgia" panose="02040502050405090303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Fall 2024</a:t>
            </a:r>
            <a:endParaRPr lang="en-US"/>
          </a:p>
        </p:txBody>
      </p:sp>
      <p:sp>
        <p:nvSpPr>
          <p:cNvPr id="13" name="Slide Number Placeholder 4"/>
          <p:cNvSpPr txBox="1"/>
          <p:nvPr userDrawn="1"/>
        </p:nvSpPr>
        <p:spPr>
          <a:xfrm>
            <a:off x="8611083" y="6538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12284B"/>
                </a:solidFill>
                <a:latin typeface="Georgia" panose="02040502050405090303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385DA76-2DD3-144A-9C84-6B8D9531DA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7800"/>
            <a:ext cx="12192000" cy="1143000"/>
          </a:xfrm>
        </p:spPr>
        <p:txBody>
          <a:bodyPr>
            <a:noAutofit/>
          </a:bodyPr>
          <a:lstStyle>
            <a:lvl1pPr algn="ctr">
              <a:defRPr sz="440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80000"/>
          </a:xfrm>
        </p:spPr>
        <p:txBody>
          <a:bodyPr>
            <a:normAutofit/>
          </a:bodyPr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E1EF-D076-5342-80D7-B3BF6181DE6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705607"/>
            <a:ext cx="6299200" cy="166627"/>
          </a:xfr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/>
              <a:t>CS598: Topics in LLM Agents, Jiaxuan You</a:t>
            </a:r>
            <a:endParaRPr lang="en-US" i="1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556044"/>
            <a:ext cx="2743200" cy="365125"/>
          </a:xfrm>
        </p:spPr>
        <p:txBody>
          <a:bodyPr/>
          <a:lstStyle/>
          <a:p>
            <a:fld id="{2385DA76-2DD3-144A-9C84-6B8D9531DA2D}" type="slidenum">
              <a:rPr lang="en-US" smtClean="0"/>
            </a:fld>
            <a:endParaRPr lang="en-US"/>
          </a:p>
        </p:txBody>
      </p:sp>
      <p:sp>
        <p:nvSpPr>
          <p:cNvPr id="8" name="Slide Number Placeholder 4"/>
          <p:cNvSpPr txBox="1"/>
          <p:nvPr userDrawn="1"/>
        </p:nvSpPr>
        <p:spPr>
          <a:xfrm>
            <a:off x="4724400" y="65417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12284B"/>
                </a:solidFill>
                <a:latin typeface="Georgia" panose="02040502050405090303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Fall 2024</a:t>
            </a:r>
            <a:endParaRPr lang="en-US"/>
          </a:p>
        </p:txBody>
      </p:sp>
      <p:sp>
        <p:nvSpPr>
          <p:cNvPr id="9" name="Slide Number Placeholder 4"/>
          <p:cNvSpPr txBox="1"/>
          <p:nvPr userDrawn="1"/>
        </p:nvSpPr>
        <p:spPr>
          <a:xfrm>
            <a:off x="839788" y="65096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12284B"/>
                </a:solidFill>
                <a:latin typeface="Georgia" panose="02040502050405090303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CS598: Deep Learning with Graphs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77800"/>
            <a:ext cx="12192000" cy="114300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50800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299803" y="2998033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 </a:t>
            </a:r>
            <a:endParaRPr lang="en-US" sz="2800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E69B915B-7688-4C40-AA84-6D252445FA9C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CS598: Topics in LLM Agents, Jiaxuan You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 algn="r"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b="0" i="0" kern="1200" cap="none" spc="0">
          <a:ln>
            <a:noFill/>
          </a:ln>
          <a:solidFill>
            <a:srgbClr val="FF5F05"/>
          </a:solidFill>
          <a:effectLst/>
          <a:latin typeface="Corbel" panose="020B0503020204020204" pitchFamily="34" charset="0"/>
          <a:ea typeface="Helvetica Neue Light" panose="02000503000000020004" charset="0"/>
          <a:cs typeface="Calibri" panose="020F050202020403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FF5F05"/>
        </a:buClr>
        <a:buFont typeface="Wingdings" panose="05000000000000000000" pitchFamily="2" charset="2"/>
        <a:buChar char="§"/>
        <a:defRPr lang="en-US" sz="2800" b="0" i="0" kern="1200" dirty="0" smtClean="0">
          <a:solidFill>
            <a:schemeClr val="tx1"/>
          </a:solidFill>
          <a:latin typeface="Calibri" panose="020F0502020204030204" pitchFamily="34" charset="0"/>
          <a:ea typeface="Helvetica Neue Light" panose="02000503000000020004" charset="0"/>
          <a:cs typeface="Calibri" panose="020F050202020403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5F05"/>
        </a:buClr>
        <a:buFont typeface="Wingdings" panose="05000000000000000000" pitchFamily="2" charset="2"/>
        <a:buChar char="§"/>
        <a:defRPr lang="en-US" sz="2600" b="0" i="0" kern="1200" dirty="0" smtClean="0">
          <a:solidFill>
            <a:schemeClr val="tx1"/>
          </a:solidFill>
          <a:latin typeface="Calibri" panose="020F0502020204030204" pitchFamily="34" charset="0"/>
          <a:ea typeface="Helvetica Neue Light" panose="0200050300000002000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5F05"/>
        </a:buClr>
        <a:buFont typeface="Wingdings" panose="05000000000000000000" pitchFamily="2" charset="2"/>
        <a:buChar char="§"/>
        <a:defRPr lang="en-US" sz="2400" b="0" i="0" kern="1200" dirty="0" smtClean="0">
          <a:solidFill>
            <a:schemeClr val="tx1"/>
          </a:solidFill>
          <a:latin typeface="Calibri" panose="020F0502020204030204" pitchFamily="34" charset="0"/>
          <a:ea typeface="Helvetica Neue Light" panose="0200050300000002000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FF5F05"/>
        </a:buClr>
        <a:buFont typeface="Wingdings" panose="05000000000000000000" pitchFamily="2" charset="2"/>
        <a:buChar char="§"/>
        <a:defRPr lang="en-US" sz="2000" b="0" i="0" kern="1200" dirty="0" smtClean="0">
          <a:solidFill>
            <a:schemeClr val="tx1"/>
          </a:solidFill>
          <a:latin typeface="Calibri" panose="020F0502020204030204" pitchFamily="34" charset="0"/>
          <a:ea typeface="Helvetica Neue Light" panose="0200050300000002000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lang="en-US" sz="1800" b="0" i="0" kern="1200" dirty="0" smtClean="0">
          <a:solidFill>
            <a:schemeClr val="tx1"/>
          </a:solidFill>
          <a:latin typeface="Calibri" panose="020F0502020204030204" pitchFamily="34" charset="0"/>
          <a:ea typeface="Helvetica Neue Light" panose="0200050300000002000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hyperlink" Target="https://github.com/ulab-uiuc/CS598-Topics-in-LLM-Agent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hyperlink" Target="https://piazza.com/illinois/spring2025/cs598jy2" TargetMode="External"/><Relationship Id="rId1" Type="http://schemas.openxmlformats.org/officeDocument/2006/relationships/hyperlink" Target="https://github.com/ulab-uiuc/CS598-Topics-in-LLM-Agents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hyperlink" Target="https://github.com/ulab-uiuc/CS598-Topics-in-LLM-Agents" TargetMode="Externa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jpeg"/><Relationship Id="rId1" Type="http://schemas.openxmlformats.org/officeDocument/2006/relationships/hyperlink" Target="https://docs.google.com/forms/d/e/1FAIpQLSdZV1u6A7WCVBihXsJI5E2AXxwi9IRFgiBJIjNVZaJ1OeBX5g/viewform?usp=header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hyperlink" Target="https://docs.google.com/forms/d/e/1FAIpQLSdDTtBOoZyMoQtq8EN0Zef_viHxujb4M3ImwkTtbZC48hOU3w/viewform?usp=header" TargetMode="External"/><Relationship Id="rId1" Type="http://schemas.openxmlformats.org/officeDocument/2006/relationships/hyperlink" Target="https://piazza.com/illinois/spring2025/cs598jy2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hyperlink" Target="https://github.com/ulab-uiuc/CS598-Topics-in-LLM-Agent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hyperlink" Target="https://github.com/ulab-uiuc/CS598-Topics-in-LLM-Agents/blob/main/Summaries/template.pdf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hyperlink" Target="https://www.overleaf.com/read/rtnfmvhpdchx#540226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hyperlink" Target="https://www.overleaf.com/read/rtnfmvhpdchx#540226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hyperlink" Target="https://www.overleaf.com/read/rtnfmvhpdchx#540226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hyperlink" Target="https://docs.google.com/forms/d/e/1FAIpQLSdDTtBOoZyMoQtq8EN0Zef_viHxujb4M3ImwkTtbZC48hOU3w/viewform?usp=header" TargetMode="Externa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0425" y="404592"/>
            <a:ext cx="8046513" cy="3103159"/>
          </a:xfrm>
        </p:spPr>
        <p:txBody>
          <a:bodyPr>
            <a:noAutofit/>
          </a:bodyPr>
          <a:lstStyle/>
          <a:p>
            <a:r>
              <a:rPr lang="en-US" sz="6600">
                <a:solidFill>
                  <a:srgbClr val="FF5F05"/>
                </a:solidFill>
                <a:ea typeface="Helvetica Neue" panose="02000503000000020004" charset="0"/>
              </a:rPr>
              <a:t>Introduction</a:t>
            </a:r>
            <a:endParaRPr lang="en-US" sz="6600">
              <a:solidFill>
                <a:srgbClr val="FF5F05"/>
              </a:solidFill>
              <a:ea typeface="Helvetica Neue" panose="020005030000000200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6400" y="2806598"/>
            <a:ext cx="8994561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800" b="1">
                <a:latin typeface="Calibri"/>
                <a:ea typeface="Helvetica Neue Light" panose="02000503000000020004" charset="0"/>
                <a:cs typeface="Calibri"/>
              </a:rPr>
              <a:t>Jiaxuan You</a:t>
            </a:r>
            <a:endParaRPr lang="en-US" sz="4800" b="1">
              <a:latin typeface="Calibri"/>
              <a:ea typeface="Helvetica Neue Light" panose="02000503000000020004" charset="0"/>
              <a:cs typeface="Calibri"/>
            </a:endParaRPr>
          </a:p>
          <a:p>
            <a:pPr algn="ctr"/>
            <a:r>
              <a:rPr lang="en-US" sz="3600" b="1">
                <a:latin typeface="Calibri"/>
                <a:ea typeface="Helvetica Neue Light" panose="02000503000000020004" charset="0"/>
                <a:cs typeface="Calibri"/>
              </a:rPr>
              <a:t>Assistant Professor at UIUC CDS</a:t>
            </a:r>
            <a:endParaRPr lang="en-US" sz="3600" b="1">
              <a:latin typeface="Calibri"/>
              <a:ea typeface="Helvetica Neue Light" panose="02000503000000020004" charset="0"/>
              <a:cs typeface="Calibri"/>
            </a:endParaRPr>
          </a:p>
          <a:p>
            <a:pPr algn="ctr"/>
            <a:endParaRPr lang="en-US" sz="3600" b="1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  <a:p>
            <a:pPr algn="ctr"/>
            <a:r>
              <a:rPr lang="en-US" sz="3600" b="1">
                <a:latin typeface="Calibri"/>
                <a:ea typeface="Helvetica Neue Light" panose="02000503000000020004" charset="0"/>
                <a:cs typeface="Calibri"/>
              </a:rPr>
              <a:t>CS598:  Topics in LLM Agents, 2025 Spring</a:t>
            </a:r>
            <a:endParaRPr lang="en-US" sz="3600" b="1">
              <a:latin typeface="Calibri"/>
              <a:ea typeface="Helvetica Neue Light" panose="02000503000000020004" charset="0"/>
              <a:cs typeface="Calibri"/>
            </a:endParaRPr>
          </a:p>
          <a:p>
            <a:pPr algn="ctr"/>
            <a:r>
              <a:rPr lang="en-US" sz="3600">
                <a:ea typeface="+mn-lt"/>
                <a:cs typeface="+mn-lt"/>
                <a:hlinkClick r:id="rId1"/>
              </a:rPr>
              <a:t>https://github.com/ulab-uiuc/CS598-Topics-in-LLM-Agents</a:t>
            </a:r>
            <a:endParaRPr lang="en-US"/>
          </a:p>
          <a:p>
            <a:pPr algn="ctr"/>
            <a:endParaRPr lang="en-US" sz="3600" b="1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972766" y="-160182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lIns="68569" tIns="68569" rIns="68569" bIns="68569" rtlCol="0" anchor="t" anchorCtr="0">
            <a:noAutofit/>
          </a:bodyPr>
          <a:lstStyle/>
          <a:p>
            <a:endParaRPr lang="en-US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  <a:sym typeface="Open San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1" y="3507751"/>
            <a:ext cx="1097280" cy="109728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2C75-8DFF-D24E-8AC1-0CA9A0A4DD15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 to LLM Agents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6BAB-1054-7D43-9DA4-131947DA68B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pic>
        <p:nvPicPr>
          <p:cNvPr id="8" name="Content Placeholder 7" descr="A diagram of a brain with many icons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91149"/>
            <a:ext cx="5080000" cy="5080000"/>
          </a:xfrm>
        </p:spPr>
      </p:pic>
      <p:sp>
        <p:nvSpPr>
          <p:cNvPr id="9" name="TextBox 8"/>
          <p:cNvSpPr txBox="1"/>
          <p:nvPr/>
        </p:nvSpPr>
        <p:spPr>
          <a:xfrm>
            <a:off x="1197428" y="6271149"/>
            <a:ext cx="433251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Draw an inspiring overview figure for a course that I'm teaching: Topics in LLM Agents</a:t>
            </a:r>
            <a:endParaRPr lang="en-US" sz="1600" i="1"/>
          </a:p>
          <a:p>
            <a:pPr algn="l"/>
            <a:endParaRPr lang="en-US" sz="1600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5"/>
          <p:cNvSpPr txBox="1"/>
          <p:nvPr/>
        </p:nvSpPr>
        <p:spPr>
          <a:xfrm>
            <a:off x="5921828" y="1191149"/>
            <a:ext cx="6002317" cy="50800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anose="05000000000000000000" pitchFamily="2" charset="2"/>
              <a:buChar char="§"/>
              <a:defRPr lang="en-US" sz="28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anose="05000000000000000000" pitchFamily="2" charset="2"/>
              <a:buChar char="§"/>
              <a:defRPr lang="en-US" sz="26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anose="05000000000000000000" pitchFamily="2" charset="2"/>
              <a:buChar char="§"/>
              <a:defRPr lang="en-US" sz="24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anose="05000000000000000000" pitchFamily="2" charset="2"/>
              <a:buChar char="§"/>
              <a:defRPr lang="en-US" sz="20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lang="en-US" sz="18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 exciting new field</a:t>
            </a:r>
            <a:endParaRPr lang="en-US"/>
          </a:p>
          <a:p>
            <a:pPr lvl="1"/>
            <a:r>
              <a:rPr lang="en-US"/>
              <a:t>Change fast, less formal</a:t>
            </a:r>
            <a:endParaRPr lang="en-US"/>
          </a:p>
          <a:p>
            <a:r>
              <a:rPr lang="en-US"/>
              <a:t>Seminar</a:t>
            </a:r>
            <a:endParaRPr lang="en-US"/>
          </a:p>
          <a:p>
            <a:pPr lvl="1"/>
            <a:r>
              <a:rPr lang="en-US"/>
              <a:t>Discussion and presentation heavy</a:t>
            </a:r>
            <a:endParaRPr lang="en-US"/>
          </a:p>
          <a:p>
            <a:r>
              <a:rPr lang="en-US"/>
              <a:t>Grading</a:t>
            </a:r>
            <a:endParaRPr lang="en-US"/>
          </a:p>
          <a:p>
            <a:pPr lvl="1"/>
            <a:r>
              <a:rPr lang="en-US"/>
              <a:t>In class + Project (survey)</a:t>
            </a:r>
            <a:endParaRPr lang="en-US"/>
          </a:p>
          <a:p>
            <a:r>
              <a:rPr lang="en-US"/>
              <a:t>Goal</a:t>
            </a:r>
            <a:endParaRPr lang="en-US"/>
          </a:p>
          <a:p>
            <a:pPr lvl="1"/>
            <a:r>
              <a:rPr lang="en-US"/>
              <a:t>Equip you with excitement, knowledge, and insight</a:t>
            </a:r>
            <a:endParaRPr lang="en-US"/>
          </a:p>
          <a:p>
            <a:pPr algn="ctr"/>
            <a:r>
              <a:rPr lang="en-US" sz="2800" b="1"/>
              <a:t>🌟Question: </a:t>
            </a:r>
            <a:r>
              <a:rPr lang="en-US" sz="2800"/>
              <a:t>Why taking this course?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“ChatGPT Moment”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39FA6-ADC0-A240-8971-E2C472CAEF61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704113" y="1600200"/>
            <a:ext cx="6299199" cy="5080000"/>
          </a:xfrm>
        </p:spPr>
        <p:txBody>
          <a:bodyPr>
            <a:normAutofit/>
          </a:bodyPr>
          <a:lstStyle/>
          <a:p>
            <a:r>
              <a:rPr lang="en-US" sz="3200"/>
              <a:t>LLMs have revolutionized the world</a:t>
            </a:r>
            <a:endParaRPr lang="en-US" sz="3200"/>
          </a:p>
          <a:p>
            <a:pPr lvl="1"/>
            <a:r>
              <a:rPr lang="en-US" sz="2800"/>
              <a:t>QA, Writing, Education, Companion, …</a:t>
            </a:r>
            <a:endParaRPr lang="en-US" sz="2800"/>
          </a:p>
          <a:p>
            <a:pPr lvl="1"/>
            <a:endParaRPr lang="en-US" sz="2800"/>
          </a:p>
          <a:p>
            <a:pPr marL="457200" lvl="1" indent="0">
              <a:buNone/>
            </a:pPr>
            <a:endParaRPr lang="en-US" sz="2800"/>
          </a:p>
          <a:p>
            <a:r>
              <a:rPr lang="en-US" sz="3200" b="1"/>
              <a:t>🌟Discussion: </a:t>
            </a:r>
            <a:r>
              <a:rPr lang="en-US" sz="3200"/>
              <a:t>What is the most impressive application of LLMs that you have seen?</a:t>
            </a:r>
            <a:endParaRPr lang="en-US" sz="3200" b="1"/>
          </a:p>
        </p:txBody>
      </p:sp>
      <p:pic>
        <p:nvPicPr>
          <p:cNvPr id="7" name="Content Placeholder 5" descr="A screen shot of a graph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477" y="1470585"/>
            <a:ext cx="4689012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LLMs to LLM Agents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B3F7-22DC-0845-A892-8A6CE80AFDE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637457" y="1827439"/>
            <a:ext cx="1459245" cy="923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/>
              <a:t>LLMs</a:t>
            </a:r>
            <a:endParaRPr lang="en-US" sz="3600" b="1"/>
          </a:p>
        </p:txBody>
      </p:sp>
      <p:sp>
        <p:nvSpPr>
          <p:cNvPr id="7" name="Rounded Rectangle 6"/>
          <p:cNvSpPr/>
          <p:nvPr/>
        </p:nvSpPr>
        <p:spPr>
          <a:xfrm>
            <a:off x="4793633" y="1764756"/>
            <a:ext cx="1774372" cy="10232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LLM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584559" y="1886682"/>
            <a:ext cx="1459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i="1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Tokens</a:t>
            </a:r>
            <a:endParaRPr lang="en-US" sz="3200" i="1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209762" y="2265498"/>
            <a:ext cx="1251857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856476" y="2234655"/>
            <a:ext cx="1251857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98832" y="1886681"/>
            <a:ext cx="1459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i="1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Tokens</a:t>
            </a:r>
            <a:endParaRPr lang="en-US" sz="3200" i="1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4346" y="2488281"/>
            <a:ext cx="2779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(Text &amp; other modalities)</a:t>
            </a:r>
            <a:endParaRPr lang="en-US" sz="2000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47625" y="2488281"/>
            <a:ext cx="2779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(Text &amp; other modalities)</a:t>
            </a:r>
            <a:endParaRPr lang="en-US" sz="2000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pic>
        <p:nvPicPr>
          <p:cNvPr id="18" name="Picture 17" descr="A blue and green planet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024" y="4320588"/>
            <a:ext cx="1513114" cy="151311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584559" y="4592754"/>
            <a:ext cx="1774372" cy="10232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LLM</a:t>
            </a:r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854231" y="4779085"/>
            <a:ext cx="232410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08253" y="4054438"/>
            <a:ext cx="2207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Perception</a:t>
            </a:r>
            <a:endParaRPr lang="en-US" sz="3200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94479" y="4798848"/>
            <a:ext cx="1317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i="1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Tokens</a:t>
            </a:r>
            <a:endParaRPr lang="en-US" sz="2800" i="1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3891424" y="5461940"/>
            <a:ext cx="23241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75719" y="5534623"/>
            <a:ext cx="1574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Actions</a:t>
            </a:r>
            <a:endParaRPr lang="en-US" sz="3200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44918" y="1430928"/>
            <a:ext cx="1181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Input</a:t>
            </a:r>
            <a:endParaRPr lang="en-US" sz="3200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49564" y="1402359"/>
            <a:ext cx="15247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Output</a:t>
            </a:r>
            <a:endParaRPr lang="en-US" sz="3200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31" name="Content Placeholder 5"/>
          <p:cNvSpPr txBox="1"/>
          <p:nvPr/>
        </p:nvSpPr>
        <p:spPr>
          <a:xfrm>
            <a:off x="9445938" y="4691992"/>
            <a:ext cx="2658976" cy="1001794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anose="05000000000000000000" pitchFamily="2" charset="2"/>
              <a:buChar char="§"/>
              <a:defRPr lang="en-US" sz="28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anose="05000000000000000000" pitchFamily="2" charset="2"/>
              <a:buChar char="§"/>
              <a:defRPr lang="en-US" sz="26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anose="05000000000000000000" pitchFamily="2" charset="2"/>
              <a:buChar char="§"/>
              <a:defRPr lang="en-US" sz="24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anose="05000000000000000000" pitchFamily="2" charset="2"/>
              <a:buChar char="§"/>
              <a:defRPr lang="en-US" sz="20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lang="en-US" sz="18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600" b="1"/>
              <a:t>LLM Agents</a:t>
            </a:r>
            <a:endParaRPr lang="en-US" sz="36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AI Agents?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76514" y="1600200"/>
            <a:ext cx="10805886" cy="5080000"/>
          </a:xfrm>
        </p:spPr>
        <p:txBody>
          <a:bodyPr/>
          <a:lstStyle/>
          <a:p>
            <a:r>
              <a:rPr lang="en-US" sz="3200"/>
              <a:t>Building agents is (arguably) the ultimate goal of AI research</a:t>
            </a:r>
            <a:endParaRPr lang="en-US" sz="3200"/>
          </a:p>
          <a:p>
            <a:pPr marL="0" indent="0">
              <a:buNone/>
            </a:pPr>
            <a:endParaRPr lang="en-US" sz="320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357" y="2409149"/>
            <a:ext cx="5880100" cy="3860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87078" y="2696625"/>
            <a:ext cx="550272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/>
              <a:t>"An agent is anything that can be viewed as perceiving its environment through sensors and acting upon that environment through actuators."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-- Russell &amp; Norvig, Al: A Modern Approach (2020)</a:t>
            </a:r>
            <a:endParaRPr lang="en-US" sz="2800"/>
          </a:p>
        </p:txBody>
      </p:sp>
      <p:sp>
        <p:nvSpPr>
          <p:cNvPr id="13" name="TextBox 12"/>
          <p:cNvSpPr txBox="1"/>
          <p:nvPr/>
        </p:nvSpPr>
        <p:spPr>
          <a:xfrm>
            <a:off x="4105730" y="6409649"/>
            <a:ext cx="6308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https://language-agent-</a:t>
            </a:r>
            <a:r>
              <a:rPr lang="en-US" err="1"/>
              <a:t>tutorial.github.io</a:t>
            </a:r>
            <a:r>
              <a:rPr lang="en-US"/>
              <a:t>/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AI Agents?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AI agent can make real-world impact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85" y="2895600"/>
            <a:ext cx="675416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594127" y="5537200"/>
            <a:ext cx="32244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 b="1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Automated research</a:t>
            </a:r>
            <a:endParaRPr lang="en-US" sz="2800" b="1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393" y="1864613"/>
            <a:ext cx="3775722" cy="336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357928" y="5537200"/>
            <a:ext cx="3593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 b="1">
                <a:latin typeface="Calibri" panose="020F0502020204030204" pitchFamily="34" charset="0"/>
                <a:ea typeface="Helvetica Neue Light" panose="02000503000000020004" charset="0"/>
                <a:cs typeface="Calibri" panose="020F0502020204030204" pitchFamily="34" charset="0"/>
              </a:rPr>
              <a:t>Software development</a:t>
            </a:r>
            <a:endParaRPr lang="en-US" sz="2800" b="1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Building Agents with LLMs?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Languages, or tokens,</a:t>
            </a:r>
            <a:r>
              <a:rPr lang="en-US" sz="3200"/>
              <a:t> are ideal for building AI agents</a:t>
            </a:r>
            <a:endParaRPr lang="en-US" sz="3200"/>
          </a:p>
          <a:p>
            <a:pPr lvl="1"/>
            <a:r>
              <a:rPr lang="en-US" sz="2800" b="1"/>
              <a:t>Perception: </a:t>
            </a:r>
            <a:r>
              <a:rPr lang="en-US" sz="2800"/>
              <a:t>the world can be described by language</a:t>
            </a:r>
            <a:endParaRPr lang="en-US" sz="2800"/>
          </a:p>
          <a:p>
            <a:pPr lvl="1"/>
            <a:r>
              <a:rPr lang="en-US" sz="2800" b="1"/>
              <a:t>Intelligence: </a:t>
            </a:r>
            <a:r>
              <a:rPr lang="en-US" sz="2800"/>
              <a:t>planning, reasoning, reflection, can all be described by language</a:t>
            </a:r>
            <a:endParaRPr lang="en-US" sz="2800"/>
          </a:p>
          <a:p>
            <a:pPr lvl="1"/>
            <a:r>
              <a:rPr lang="en-US" sz="2800" b="1"/>
              <a:t>Action: </a:t>
            </a:r>
            <a:r>
              <a:rPr lang="en-US" sz="2800"/>
              <a:t>agent can use language to interact with the world: coding, use of APIs/tools</a:t>
            </a:r>
            <a:endParaRPr lang="en-US" sz="2800"/>
          </a:p>
          <a:p>
            <a:pPr lvl="1"/>
            <a:r>
              <a:rPr lang="en-US" sz="2800" b="1"/>
              <a:t>Data availability: </a:t>
            </a:r>
            <a:r>
              <a:rPr lang="en-US" sz="2800"/>
              <a:t>Human perception and intelligence have been described with language, leading to 100T+ tokens</a:t>
            </a:r>
            <a:endParaRPr lang="en-US" sz="2800" b="1"/>
          </a:p>
          <a:p>
            <a:r>
              <a:rPr lang="en-US" sz="3000" b="1"/>
              <a:t>🌟Discussion: </a:t>
            </a:r>
            <a:r>
              <a:rPr lang="en-US" sz="3000"/>
              <a:t>Do you believe language is essential for AI agents? Pros/Cons? Can AI agents develop their own languages?</a:t>
            </a:r>
            <a:endParaRPr lang="en-US" sz="3000" b="1"/>
          </a:p>
          <a:p>
            <a:pPr lvl="1"/>
            <a:endParaRPr lang="en-US" sz="28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Course Logistics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/>
          </a:p>
        </p:txBody>
      </p:sp>
      <p:pic>
        <p:nvPicPr>
          <p:cNvPr id="4" name="图片 3" descr="图片包含 徽标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084" y="1252648"/>
            <a:ext cx="7837714" cy="19594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Source Sans Pro"/>
              </a:rPr>
              <a:t>Teaching Staff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273C1-F6CD-9443-9C97-6AF21B6A6F46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4674" y="1992922"/>
            <a:ext cx="3273128" cy="3319763"/>
          </a:xfrm>
          <a:prstGeom prst="rect">
            <a:avLst/>
          </a:prstGeom>
        </p:spPr>
      </p:pic>
      <p:pic>
        <p:nvPicPr>
          <p:cNvPr id="9" name="图片 8" descr="雪山前的男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092" y="2031555"/>
            <a:ext cx="3281757" cy="323993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875870" y="5506413"/>
            <a:ext cx="4220130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altLang="zh-CN" sz="2800">
                <a:latin typeface="Calibri"/>
                <a:ea typeface="Calibri"/>
                <a:cs typeface="Calibri"/>
              </a:rPr>
              <a:t>Instructor: Jiaxuan You</a:t>
            </a:r>
            <a:endParaRPr lang="en-US" altLang="zh-CN" sz="2800">
              <a:latin typeface="Calibri"/>
              <a:ea typeface="Calibri"/>
              <a:cs typeface="Calibri"/>
            </a:endParaRPr>
          </a:p>
          <a:p>
            <a:pPr algn="ctr"/>
            <a:r>
              <a:rPr lang="en-US" altLang="zh-CN" sz="2400">
                <a:latin typeface="Calibri"/>
                <a:ea typeface="Calibri"/>
                <a:cs typeface="Calibri"/>
              </a:rPr>
              <a:t>Assistant Prof joined in 2024 Fall</a:t>
            </a:r>
            <a:endParaRPr lang="en-US" altLang="zh-CN" sz="2400">
              <a:latin typeface="Calibri"/>
              <a:ea typeface="Calibri"/>
              <a:cs typeface="Calibri"/>
            </a:endParaRPr>
          </a:p>
          <a:p>
            <a:pPr algn="ctr"/>
            <a:r>
              <a:rPr lang="en-US" altLang="zh-CN" sz="2400">
                <a:latin typeface="Calibri"/>
                <a:ea typeface="Calibri"/>
                <a:cs typeface="Calibri"/>
              </a:rPr>
              <a:t>LLM agents, graphs, science, …</a:t>
            </a:r>
            <a:endParaRPr lang="en-US" altLang="zh-CN" sz="2400">
              <a:ea typeface="Calibri"/>
              <a:cs typeface="Calibri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36541" y="5523621"/>
            <a:ext cx="4508991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altLang="zh-CN" sz="2800">
                <a:latin typeface="Calibri"/>
                <a:ea typeface="Calibri"/>
                <a:cs typeface="Calibri"/>
              </a:rPr>
              <a:t>Teaching Assistant: </a:t>
            </a:r>
            <a:r>
              <a:rPr lang="en-US" altLang="zh-CN" sz="2800" err="1">
                <a:latin typeface="Calibri"/>
                <a:ea typeface="Calibri"/>
                <a:cs typeface="Calibri"/>
              </a:rPr>
              <a:t>Jinwei</a:t>
            </a:r>
            <a:r>
              <a:rPr lang="en-US" altLang="zh-CN" sz="2800">
                <a:latin typeface="Calibri"/>
                <a:ea typeface="Calibri"/>
                <a:cs typeface="Calibri"/>
              </a:rPr>
              <a:t> Yao</a:t>
            </a:r>
            <a:endParaRPr lang="zh-CN" altLang="en-US"/>
          </a:p>
          <a:p>
            <a:pPr algn="ctr"/>
            <a:r>
              <a:rPr lang="en-US" altLang="zh-CN" sz="2400">
                <a:ea typeface="Calibri"/>
                <a:cs typeface="Calibri"/>
              </a:rPr>
              <a:t>1st Year MSCS</a:t>
            </a:r>
            <a:endParaRPr lang="en-US" altLang="zh-CN" sz="2400">
              <a:ea typeface="Calibri"/>
              <a:cs typeface="Calibri"/>
            </a:endParaRPr>
          </a:p>
          <a:p>
            <a:pPr algn="ctr"/>
            <a:r>
              <a:rPr lang="en-US" altLang="zh-CN" sz="2400">
                <a:ea typeface="Calibri"/>
                <a:cs typeface="Calibri"/>
              </a:rPr>
              <a:t>Interested in LLM Systems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Course Logistics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FC2D-228D-114B-8262-E9EA5884BB6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4271" y="1248508"/>
            <a:ext cx="10972800" cy="5080000"/>
          </a:xfrm>
        </p:spPr>
        <p:txBody>
          <a:bodyPr vert="horz" lIns="121917" tIns="60958" rIns="121917" bIns="60958" rtlCol="0" anchor="t">
            <a:normAutofit fontScale="92500" lnSpcReduction="20000"/>
          </a:bodyPr>
          <a:lstStyle/>
          <a:p>
            <a:pPr marL="342265" indent="-342265"/>
            <a:r>
              <a:rPr kumimoji="1" lang="en-US" altLang="zh-CN">
                <a:latin typeface="Calibri"/>
                <a:ea typeface="Source Sans Pro"/>
                <a:cs typeface="Calibri"/>
              </a:rPr>
              <a:t>Meeting Times:</a:t>
            </a:r>
            <a:endParaRPr lang="zh-CN" altLang="en-US">
              <a:latin typeface="Calibri"/>
              <a:cs typeface="Calibri"/>
            </a:endParaRPr>
          </a:p>
          <a:p>
            <a:pPr marL="742315" lvl="1" indent="-285115"/>
            <a:r>
              <a:rPr kumimoji="1" lang="en-US" altLang="zh-CN" sz="2800">
                <a:solidFill>
                  <a:srgbClr val="000000"/>
                </a:solidFill>
                <a:latin typeface="Calibri"/>
                <a:ea typeface="Source Sans Pro"/>
                <a:cs typeface="Calibri"/>
              </a:rPr>
              <a:t>Tuesday/Thursday, 03:30 PM - 04:45 PM</a:t>
            </a:r>
            <a:endParaRPr lang="en-US" altLang="zh-CN" sz="2800">
              <a:solidFill>
                <a:srgbClr val="000000"/>
              </a:solidFill>
              <a:latin typeface="Calibri"/>
              <a:ea typeface="Source Sans Pro"/>
              <a:cs typeface="Calibri"/>
            </a:endParaRPr>
          </a:p>
          <a:p>
            <a:pPr marL="742315" lvl="1" indent="-285115"/>
            <a:r>
              <a:rPr kumimoji="1" lang="en-US" altLang="zh-CN" sz="2800">
                <a:latin typeface="Calibri"/>
                <a:ea typeface="Source Sans Pro"/>
                <a:cs typeface="Calibri"/>
              </a:rPr>
              <a:t>Urbana-Champaign Campus | Siebel Center Room 1304</a:t>
            </a:r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742315" lvl="1" indent="-285115"/>
            <a:r>
              <a:rPr kumimoji="1" lang="en-US" altLang="zh-CN" sz="2800">
                <a:latin typeface="Calibri"/>
                <a:ea typeface="Source Sans Pro"/>
                <a:cs typeface="Calibri"/>
              </a:rPr>
              <a:t>Slides of the lectures will be posted on </a:t>
            </a:r>
            <a:r>
              <a:rPr kumimoji="1" lang="en-US" altLang="zh-CN" sz="2800" err="1">
                <a:solidFill>
                  <a:srgbClr val="FF5F05"/>
                </a:solidFill>
                <a:latin typeface="Calibri"/>
                <a:ea typeface="Source Sans Pro"/>
                <a:cs typeface="Calibri"/>
              </a:rPr>
              <a:t>Github</a:t>
            </a:r>
            <a:endParaRPr lang="en-US" altLang="zh-CN" sz="2800">
              <a:solidFill>
                <a:srgbClr val="FF5F05"/>
              </a:solidFill>
              <a:ea typeface="Source Sans Pro"/>
            </a:endParaRPr>
          </a:p>
          <a:p>
            <a:pPr marL="342265" indent="-342265"/>
            <a:r>
              <a:rPr kumimoji="1" lang="en-US" altLang="zh-CN">
                <a:latin typeface="Calibri"/>
                <a:ea typeface="Source Sans Pro"/>
                <a:cs typeface="Calibri"/>
              </a:rPr>
              <a:t>Structure of lectures:</a:t>
            </a:r>
            <a:endParaRPr lang="en-US" altLang="zh-CN">
              <a:latin typeface="Calibri"/>
              <a:ea typeface="Source Sans Pro"/>
              <a:cs typeface="Calibri"/>
            </a:endParaRPr>
          </a:p>
          <a:p>
            <a:pPr marL="742315" lvl="1" indent="-285115"/>
            <a:r>
              <a:rPr kumimoji="1" lang="en-US" altLang="zh-CN" sz="2800">
                <a:latin typeface="Calibri"/>
                <a:ea typeface="Source Sans Pro"/>
                <a:cs typeface="Calibri"/>
              </a:rPr>
              <a:t>Beginning: Overview of LLM Agents (by Jiaxuan);</a:t>
            </a:r>
            <a:endParaRPr lang="en-US" altLang="zh-CN" sz="2800">
              <a:ea typeface="Source Sans Pro"/>
            </a:endParaRPr>
          </a:p>
          <a:p>
            <a:pPr marL="742315" lvl="1" indent="-285115"/>
            <a:r>
              <a:rPr lang="en-US" altLang="zh-CN" sz="2800">
                <a:latin typeface="Calibri"/>
                <a:ea typeface="Source Sans Pro"/>
                <a:cs typeface="Calibri"/>
              </a:rPr>
              <a:t>Afterward: Seminars led by students for discussion</a:t>
            </a:r>
            <a:endParaRPr lang="en-US" altLang="zh-CN" sz="2800">
              <a:ea typeface="Source Sans Pro"/>
            </a:endParaRPr>
          </a:p>
          <a:p>
            <a:pPr marL="1142365" lvl="2" indent="-227965"/>
            <a:r>
              <a:rPr lang="en-US" altLang="zh-CN" sz="2800">
                <a:latin typeface="Calibri"/>
                <a:ea typeface="Source Sans Pro"/>
                <a:cs typeface="Calibri"/>
              </a:rPr>
              <a:t>Pilot-Presenter Group: Present the content of a paper</a:t>
            </a:r>
            <a:endParaRPr lang="en-US" altLang="zh-CN" sz="2800">
              <a:ea typeface="Source Sans Pro"/>
            </a:endParaRPr>
          </a:p>
          <a:p>
            <a:pPr marL="1142365" lvl="2" indent="-227965"/>
            <a:r>
              <a:rPr lang="en-US" altLang="zh-CN" sz="2800">
                <a:latin typeface="Calibri"/>
                <a:ea typeface="Source Sans Pro"/>
                <a:cs typeface="Calibri"/>
              </a:rPr>
              <a:t>Copilot-Reviewers Group: Panel discussion with Pilots, write paper summary</a:t>
            </a:r>
            <a:endParaRPr lang="en-US" altLang="zh-CN" sz="2800">
              <a:ea typeface="Source Sans Pro"/>
            </a:endParaRPr>
          </a:p>
          <a:p>
            <a:pPr marL="1142365" lvl="2" indent="-227965"/>
            <a:r>
              <a:rPr lang="en-US" altLang="zh-CN" sz="2800">
                <a:latin typeface="Calibri"/>
                <a:ea typeface="Source Sans Pro"/>
                <a:cs typeface="Calibri"/>
              </a:rPr>
              <a:t>Audience (Rest of the class): participate in discussions</a:t>
            </a:r>
            <a:endParaRPr lang="en-US" altLang="zh-CN" sz="2800">
              <a:ea typeface="Source Sans Pro"/>
            </a:endParaRPr>
          </a:p>
          <a:p>
            <a:pPr marL="342265" indent="-342265"/>
            <a:r>
              <a:rPr kumimoji="1" lang="en-US" altLang="zh-CN">
                <a:latin typeface="Calibri"/>
                <a:ea typeface="Source Sans Pro"/>
                <a:cs typeface="Calibri"/>
              </a:rPr>
              <a:t>Office hours: 1 hour (Instructor) + 1 hours (TA). Details to be announced. </a:t>
            </a:r>
            <a:endParaRPr lang="en-US" altLang="zh-CN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rbel"/>
                <a:cs typeface="Calibri"/>
              </a:rPr>
              <a:t>Course Console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4BB8-B86C-AA40-8CB5-947DC7946648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863600" y="1228969"/>
            <a:ext cx="10972800" cy="5237145"/>
          </a:xfrm>
        </p:spPr>
        <p:txBody>
          <a:bodyPr vert="horz" lIns="121917" tIns="60958" rIns="121917" bIns="60958" rtlCol="0" anchor="t">
            <a:normAutofit lnSpcReduction="10000"/>
          </a:bodyPr>
          <a:lstStyle/>
          <a:p>
            <a:pPr marL="342265" indent="-342265"/>
            <a:r>
              <a:rPr lang="en-US" err="1">
                <a:latin typeface="Calibri"/>
                <a:ea typeface="Calibri"/>
                <a:cs typeface="Calibri"/>
              </a:rPr>
              <a:t>Github</a:t>
            </a:r>
            <a:r>
              <a:rPr lang="en-US">
                <a:latin typeface="Calibri"/>
                <a:ea typeface="Calibri"/>
                <a:cs typeface="Calibri"/>
              </a:rPr>
              <a:t> </a:t>
            </a:r>
            <a:endParaRPr lang="en-US">
              <a:ea typeface="Calibri"/>
            </a:endParaRPr>
          </a:p>
          <a:p>
            <a:pPr marL="742315" lvl="1" indent="-342265"/>
            <a:r>
              <a:rPr lang="en-US" sz="2800">
                <a:latin typeface="Calibri"/>
                <a:ea typeface="Calibri"/>
                <a:cs typeface="Calibri"/>
                <a:hlinkClick r:id="rId1"/>
              </a:rPr>
              <a:t>https://github.com/ulab-uiuc/CS598-Topics-in-LLM-Agents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endParaRPr lang="en-US" sz="2800"/>
          </a:p>
          <a:p>
            <a:pPr marL="742315" lvl="1" indent="-285115"/>
            <a:r>
              <a:rPr lang="en-US" sz="2800">
                <a:latin typeface="Calibri"/>
                <a:ea typeface="Calibri"/>
                <a:cs typeface="Calibri"/>
              </a:rPr>
              <a:t>Main website with course information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342265" indent="-342265"/>
            <a:r>
              <a:rPr lang="en-US">
                <a:latin typeface="Calibri"/>
                <a:ea typeface="Calibri"/>
                <a:cs typeface="Calibri"/>
              </a:rPr>
              <a:t>Canvas</a:t>
            </a: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342265"/>
            <a:r>
              <a:rPr lang="en-US" sz="2800">
                <a:latin typeface="Calibri"/>
                <a:ea typeface="Calibri"/>
                <a:cs typeface="Calibri"/>
              </a:rPr>
              <a:t>Announcement, homework/report submission</a:t>
            </a:r>
            <a:endParaRPr lang="en-US" sz="2800">
              <a:ea typeface="Calibri"/>
            </a:endParaRPr>
          </a:p>
          <a:p>
            <a:pPr marL="342265" indent="-342265"/>
            <a:r>
              <a:rPr lang="en-US">
                <a:latin typeface="Calibri"/>
                <a:ea typeface="Calibri"/>
                <a:cs typeface="Calibri"/>
              </a:rPr>
              <a:t>Piazza</a:t>
            </a:r>
            <a:endParaRPr lang="en-US">
              <a:ea typeface="Calibri"/>
            </a:endParaRPr>
          </a:p>
          <a:p>
            <a:pPr marL="742315" lvl="1" indent="-342265"/>
            <a:r>
              <a:rPr lang="en-US" sz="2800">
                <a:latin typeface="Calibri"/>
                <a:ea typeface="Calibri"/>
                <a:cs typeface="Calibri"/>
                <a:hlinkClick r:id="rId2"/>
              </a:rPr>
              <a:t>https://piazza.com/illinois/spring2025/cs598jy2</a:t>
            </a:r>
            <a:endParaRPr lang="en-US" sz="2800">
              <a:ea typeface="Calibri"/>
            </a:endParaRPr>
          </a:p>
          <a:p>
            <a:pPr marL="742315" lvl="1" indent="-342265"/>
            <a:r>
              <a:rPr lang="en-US" sz="2800">
                <a:latin typeface="Calibri"/>
                <a:ea typeface="Calibri"/>
                <a:cs typeface="Calibri"/>
              </a:rPr>
              <a:t>For Q&amp;A, online team building.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342265" indent="-342265"/>
            <a:r>
              <a:rPr lang="en-US" err="1">
                <a:latin typeface="Calibri"/>
                <a:ea typeface="Calibri"/>
                <a:cs typeface="Calibri"/>
              </a:rPr>
              <a:t>OpenReview</a:t>
            </a:r>
            <a:r>
              <a:rPr lang="en-US">
                <a:latin typeface="Calibri"/>
                <a:ea typeface="Calibri"/>
                <a:cs typeface="Calibri"/>
              </a:rPr>
              <a:t> (Or </a:t>
            </a:r>
            <a:r>
              <a:rPr lang="en-US" err="1">
                <a:latin typeface="Calibri"/>
                <a:ea typeface="Calibri"/>
                <a:cs typeface="Calibri"/>
              </a:rPr>
              <a:t>Github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342265">
              <a:buFont typeface="Wingdings" panose="05000000000000000000" pitchFamily="2" charset="2"/>
            </a:pPr>
            <a:r>
              <a:rPr lang="en-US" sz="2800">
                <a:latin typeface="Calibri"/>
                <a:ea typeface="Calibri"/>
                <a:cs typeface="Calibri"/>
              </a:rPr>
              <a:t>Review and response for your survey project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742315" lvl="1" indent="-342265">
              <a:buFont typeface="Wingdings" panose="05000000000000000000" pitchFamily="2" charset="2"/>
            </a:pPr>
            <a:r>
              <a:rPr lang="en-US" sz="2800">
                <a:latin typeface="Calibri"/>
                <a:ea typeface="Calibri"/>
                <a:cs typeface="Calibri"/>
              </a:rPr>
              <a:t>Details to be announced.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742315" lvl="1" indent="-342265">
              <a:buFont typeface="Wingdings" panose="05000000000000000000" pitchFamily="2" charset="2"/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34226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342265"/>
            <a:endParaRPr lang="en-US">
              <a:ea typeface="Calibri"/>
            </a:endParaRPr>
          </a:p>
          <a:p>
            <a:pPr marL="0" indent="0">
              <a:buNone/>
            </a:pPr>
            <a:endParaRPr lang="en-US">
              <a:ea typeface="Calibri"/>
            </a:endParaRPr>
          </a:p>
          <a:p>
            <a:pPr marL="742315" lvl="1" indent="-342265"/>
            <a:endParaRPr lang="en-US">
              <a:ea typeface="Calibri"/>
            </a:endParaRPr>
          </a:p>
          <a:p>
            <a:pPr marL="742315" lvl="1" indent="-342265">
              <a:buFont typeface="Wingdings" panose="05000000000000000000" pitchFamily="2" charset="2"/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 panose="020B0604020202090204"/>
              </a:rPr>
              <a:t>Course Objective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12C35-CA41-004A-B3D3-2244041EF2CD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 vert="horz" lIns="121917" tIns="60958" rIns="121917" bIns="60958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Calibri"/>
                <a:ea typeface="Source Sans Pro"/>
                <a:cs typeface="Calibri"/>
              </a:rPr>
              <a:t>Takeaways </a:t>
            </a:r>
            <a:r>
              <a:rPr lang="en-US">
                <a:latin typeface="Calibri"/>
                <a:ea typeface="Source Sans Pro"/>
                <a:cs typeface="Calibri"/>
              </a:rPr>
              <a:t>from this course:</a:t>
            </a:r>
            <a:endParaRPr lang="en-US">
              <a:latin typeface="Calibri"/>
              <a:ea typeface="Source Sans Pro"/>
              <a:cs typeface="Calibri"/>
            </a:endParaRPr>
          </a:p>
          <a:p>
            <a:pPr marL="342265" indent="-342265"/>
            <a:r>
              <a:rPr lang="en-US" b="1">
                <a:solidFill>
                  <a:srgbClr val="2B59AC"/>
                </a:solidFill>
                <a:latin typeface="Calibri"/>
                <a:ea typeface="Source Sans Pro"/>
                <a:cs typeface="Calibri"/>
              </a:rPr>
              <a:t>Overview</a:t>
            </a:r>
            <a:r>
              <a:rPr lang="en-US">
                <a:solidFill>
                  <a:srgbClr val="000000"/>
                </a:solidFill>
                <a:latin typeface="Calibri"/>
                <a:ea typeface="Source Sans Pro"/>
                <a:cs typeface="Calibri"/>
              </a:rPr>
              <a:t> of Latest LLM Agent Papers</a:t>
            </a:r>
            <a:endParaRPr lang="en-US">
              <a:latin typeface="Calibri"/>
            </a:endParaRPr>
          </a:p>
          <a:p>
            <a:pPr marL="742315" lvl="1" indent="-285115">
              <a:buFont typeface="Courier New" panose="02070409020205090404" pitchFamily="34" charset="0"/>
              <a:buChar char="o"/>
            </a:pPr>
            <a:r>
              <a:rPr lang="en-US" sz="2800">
                <a:latin typeface="Calibri"/>
                <a:ea typeface="Source Sans Pro"/>
                <a:cs typeface="Calibri"/>
              </a:rPr>
              <a:t>Build a roadmap of LLM agents</a:t>
            </a:r>
            <a:endParaRPr lang="en-US" sz="2800">
              <a:ea typeface="Source Sans Pro"/>
            </a:endParaRPr>
          </a:p>
          <a:p>
            <a:pPr marL="742315" lvl="1" indent="-285115">
              <a:buFont typeface="Courier New" panose="02070409020205090404" pitchFamily="34" charset="0"/>
              <a:buChar char="o"/>
            </a:pPr>
            <a:r>
              <a:rPr lang="en-US" sz="2800">
                <a:latin typeface="Calibri"/>
                <a:ea typeface="Source Sans Pro"/>
                <a:cs typeface="Calibri"/>
              </a:rPr>
              <a:t>Critique and evaluate the design details</a:t>
            </a:r>
            <a:endParaRPr lang="en-US" sz="2800">
              <a:ea typeface="Source Sans Pro"/>
            </a:endParaRPr>
          </a:p>
          <a:p>
            <a:pPr marL="342265" indent="-342265"/>
            <a:r>
              <a:rPr lang="en-US" b="1">
                <a:solidFill>
                  <a:srgbClr val="C00000"/>
                </a:solidFill>
                <a:latin typeface="Calibri"/>
                <a:ea typeface="Source Sans Pro"/>
                <a:cs typeface="Calibri"/>
              </a:rPr>
              <a:t>Training</a:t>
            </a:r>
            <a:r>
              <a:rPr lang="en-US" b="1">
                <a:latin typeface="Calibri"/>
                <a:ea typeface="Source Sans Pro"/>
                <a:cs typeface="Calibri"/>
              </a:rPr>
              <a:t> </a:t>
            </a:r>
            <a:r>
              <a:rPr lang="en-US">
                <a:latin typeface="Calibri"/>
                <a:ea typeface="Source Sans Pro"/>
                <a:cs typeface="Calibri"/>
              </a:rPr>
              <a:t>for AI research</a:t>
            </a:r>
            <a:endParaRPr lang="en-US">
              <a:latin typeface="Calibri"/>
              <a:ea typeface="Source Sans Pro"/>
              <a:cs typeface="Calibri"/>
            </a:endParaRPr>
          </a:p>
          <a:p>
            <a:pPr marL="742315" lvl="1" indent="-285115">
              <a:buFont typeface="Courier New" panose="02070409020205090404" pitchFamily="34" charset="0"/>
              <a:buChar char="o"/>
            </a:pPr>
            <a:r>
              <a:rPr lang="en-US" sz="2800">
                <a:latin typeface="Calibri"/>
                <a:ea typeface="Source Sans Pro"/>
                <a:cs typeface="Calibri"/>
              </a:rPr>
              <a:t>Experience the </a:t>
            </a:r>
            <a:r>
              <a:rPr lang="en-US" sz="2800" b="1">
                <a:latin typeface="Calibri"/>
                <a:ea typeface="Source Sans Pro"/>
                <a:cs typeface="Calibri"/>
              </a:rPr>
              <a:t>full lifecycle as an AI researcher</a:t>
            </a:r>
            <a:endParaRPr lang="en-US" sz="2800" b="1">
              <a:latin typeface="Calibri"/>
              <a:ea typeface="Source Sans Pro"/>
              <a:cs typeface="Calibri"/>
            </a:endParaRPr>
          </a:p>
          <a:p>
            <a:pPr marL="1142365" lvl="2" indent="-227965">
              <a:buFont typeface="Wingdings" panose="05000000000000000000" pitchFamily="34" charset="0"/>
              <a:buChar char="§"/>
            </a:pPr>
            <a:r>
              <a:rPr lang="en-US" sz="2800">
                <a:latin typeface="Calibri"/>
                <a:ea typeface="Source Sans Pro"/>
                <a:cs typeface="Calibri"/>
              </a:rPr>
              <a:t>Read, Ideate, Discuss, Write, Review, Present</a:t>
            </a:r>
            <a:endParaRPr lang="en-US" sz="2800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rbel"/>
                <a:cs typeface="Calibri"/>
              </a:rPr>
              <a:t>Schedule </a:t>
            </a:r>
            <a:endParaRPr kumimoji="1" lang="zh-CN" altLang="en-US">
              <a:latin typeface="Corbel"/>
              <a:cs typeface="Calibri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0658-7B20-E64F-A532-6DB8CEE5F0F4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2792224" y="3604400"/>
            <a:ext cx="8105793" cy="3553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619131" y="3820746"/>
            <a:ext cx="13211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400">
                <a:latin typeface="Source Sans Pro"/>
                <a:ea typeface="Source Sans Pro"/>
                <a:cs typeface="Calibri"/>
              </a:rPr>
              <a:t>AI Agent</a:t>
            </a:r>
            <a:r>
              <a:rPr lang="en-US" altLang="zh-CN" sz="3200">
                <a:latin typeface="Source Sans Pro"/>
                <a:ea typeface="Source Sans Pro"/>
                <a:cs typeface="Calibri"/>
              </a:rPr>
              <a:t> 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683630" y="3820745"/>
            <a:ext cx="7024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400">
                <a:latin typeface="Source Sans Pro"/>
                <a:ea typeface="Source Sans Pro"/>
                <a:cs typeface="Calibri"/>
              </a:rPr>
              <a:t>AGI</a:t>
            </a:r>
            <a:r>
              <a:rPr lang="en-US" altLang="zh-CN" sz="3200">
                <a:latin typeface="Source Sans Pro"/>
                <a:ea typeface="Source Sans Pro"/>
                <a:cs typeface="Calibri"/>
              </a:rPr>
              <a:t> </a:t>
            </a: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307340" y="2667887"/>
            <a:ext cx="2665" cy="92896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390900" y="2081823"/>
            <a:ext cx="183255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1600">
                <a:solidFill>
                  <a:srgbClr val="FF0000"/>
                </a:solidFill>
                <a:latin typeface="Source Sans Pro"/>
                <a:ea typeface="宋体"/>
              </a:rPr>
              <a:t>Agent Overview(3)</a:t>
            </a:r>
            <a:r>
              <a:rPr lang="en-US" altLang="zh-CN" sz="3200">
                <a:latin typeface="Source Sans Pro"/>
                <a:ea typeface="宋体"/>
              </a:rPr>
              <a:t> </a:t>
            </a:r>
            <a:endParaRPr lang="zh-CN" altLang="en-US">
              <a:ea typeface="宋体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113300" y="3605732"/>
            <a:ext cx="2665" cy="92896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348284" y="4509476"/>
            <a:ext cx="157767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1600">
                <a:solidFill>
                  <a:srgbClr val="2B59AC"/>
                </a:solidFill>
                <a:latin typeface="Source Sans Pro"/>
                <a:ea typeface="宋体"/>
              </a:rPr>
              <a:t>Agent Ability(4)</a:t>
            </a:r>
            <a:r>
              <a:rPr lang="en-US" altLang="zh-CN" sz="3200">
                <a:latin typeface="Source Sans Pro"/>
                <a:ea typeface="宋体"/>
              </a:rPr>
              <a:t> </a:t>
            </a:r>
            <a:endParaRPr lang="zh-CN" altLang="en-US">
              <a:ea typeface="宋体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6247375" y="2643939"/>
            <a:ext cx="2665" cy="92896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447322" y="2081822"/>
            <a:ext cx="195277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1600">
                <a:solidFill>
                  <a:srgbClr val="2B59AC"/>
                </a:solidFill>
                <a:latin typeface="Source Sans Pro"/>
                <a:ea typeface="宋体"/>
              </a:rPr>
              <a:t>Agent Evaluation(1)</a:t>
            </a:r>
            <a:r>
              <a:rPr lang="en-US" altLang="zh-CN" sz="3200">
                <a:latin typeface="Source Sans Pro"/>
                <a:ea typeface="宋体"/>
              </a:rPr>
              <a:t> </a:t>
            </a:r>
            <a:endParaRPr lang="zh-CN" altLang="en-US">
              <a:ea typeface="宋体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8298068" y="2643461"/>
            <a:ext cx="2665" cy="92896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479321" y="2081821"/>
            <a:ext cx="2101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1600">
                <a:solidFill>
                  <a:srgbClr val="2B59AC"/>
                </a:solidFill>
                <a:latin typeface="Source Sans Pro"/>
                <a:ea typeface="宋体"/>
              </a:rPr>
              <a:t>Agent Applications(4)</a:t>
            </a:r>
            <a:r>
              <a:rPr lang="en-US" altLang="zh-CN" sz="3200">
                <a:latin typeface="Source Sans Pro"/>
                <a:ea typeface="宋体"/>
              </a:rPr>
              <a:t> </a:t>
            </a:r>
            <a:endParaRPr lang="zh-CN" altLang="en-US">
              <a:ea typeface="宋体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807937" y="4509475"/>
            <a:ext cx="257634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1600">
                <a:solidFill>
                  <a:srgbClr val="2B59AC"/>
                </a:solidFill>
                <a:latin typeface="Source Sans Pro"/>
                <a:ea typeface="宋体"/>
              </a:rPr>
              <a:t>Agent Challenges To AGI(4)</a:t>
            </a:r>
            <a:r>
              <a:rPr lang="en-US" altLang="zh-CN" sz="3200">
                <a:solidFill>
                  <a:srgbClr val="2B59AC"/>
                </a:solidFill>
                <a:latin typeface="Source Sans Pro"/>
                <a:ea typeface="宋体"/>
              </a:rPr>
              <a:t> </a:t>
            </a:r>
            <a:endParaRPr lang="zh-CN" altLang="en-US">
              <a:solidFill>
                <a:srgbClr val="2B59AC"/>
              </a:solidFill>
              <a:ea typeface="宋体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9846491" y="3595960"/>
            <a:ext cx="2665" cy="92896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792784" y="1163514"/>
            <a:ext cx="28504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400">
                <a:latin typeface="Source Sans Pro"/>
                <a:ea typeface="Source Sans Pro"/>
                <a:cs typeface="Calibri"/>
              </a:rPr>
              <a:t>Topics(# of Lectures)</a:t>
            </a:r>
            <a:endParaRPr lang="en-US" altLang="zh-CN" sz="2400">
              <a:latin typeface="Source Sans Pro"/>
              <a:ea typeface="Source Sans Pro"/>
              <a:cs typeface="Calibri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15899" y="2667975"/>
            <a:ext cx="203292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  <a:latin typeface="Source Sans Pro"/>
                <a:ea typeface="Source Sans Pro"/>
                <a:cs typeface="Calibri"/>
              </a:rPr>
              <a:t>Red</a:t>
            </a:r>
            <a:r>
              <a:rPr lang="en-US" altLang="zh-CN" sz="2000">
                <a:latin typeface="Source Sans Pro"/>
                <a:ea typeface="Source Sans Pro"/>
                <a:cs typeface="Calibri"/>
              </a:rPr>
              <a:t>: by Jiaxuan</a:t>
            </a:r>
            <a:endParaRPr lang="en-US" altLang="zh-CN" sz="2000">
              <a:latin typeface="Source Sans Pro"/>
              <a:ea typeface="Source Sans Pro"/>
              <a:cs typeface="Calibri"/>
            </a:endParaRPr>
          </a:p>
          <a:p>
            <a:r>
              <a:rPr lang="en-US" altLang="zh-CN" sz="2000">
                <a:solidFill>
                  <a:srgbClr val="2B59AC"/>
                </a:solidFill>
                <a:latin typeface="Source Sans Pro"/>
                <a:ea typeface="Source Sans Pro"/>
                <a:cs typeface="Calibri"/>
              </a:rPr>
              <a:t>Blue</a:t>
            </a:r>
            <a:r>
              <a:rPr lang="en-US" altLang="zh-CN" sz="2000">
                <a:latin typeface="Source Sans Pro"/>
                <a:ea typeface="Source Sans Pro"/>
                <a:cs typeface="Calibri"/>
              </a:rPr>
              <a:t>: by students</a:t>
            </a:r>
            <a:endParaRPr lang="en-US" altLang="zh-CN" sz="2000">
              <a:latin typeface="Source Sans Pro"/>
              <a:ea typeface="Source Sans Pro"/>
              <a:cs typeface="Calibri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87642" y="5615997"/>
            <a:ext cx="111066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 </a:t>
            </a:r>
            <a:r>
              <a:rPr lang="en-US" altLang="zh-CN" sz="2800">
                <a:solidFill>
                  <a:srgbClr val="FF5F05"/>
                </a:solidFill>
                <a:latin typeface="Calibri"/>
                <a:ea typeface="宋体"/>
                <a:cs typeface="Calibri"/>
              </a:rPr>
              <a:t>Research Seminar</a:t>
            </a:r>
            <a:r>
              <a:rPr lang="en-US" altLang="zh-CN" sz="2800">
                <a:latin typeface="Calibri"/>
                <a:ea typeface="宋体"/>
                <a:cs typeface="Calibri"/>
              </a:rPr>
              <a:t> Course: </a:t>
            </a:r>
            <a:endParaRPr lang="en-US" altLang="zh-CN" sz="2800">
              <a:latin typeface="Calibri"/>
              <a:ea typeface="宋体"/>
              <a:cs typeface="Calibri"/>
            </a:endParaRPr>
          </a:p>
          <a:p>
            <a:r>
              <a:rPr lang="en-US" altLang="zh-CN" sz="2800">
                <a:latin typeface="Calibri"/>
                <a:ea typeface="宋体"/>
                <a:cs typeface="Calibri"/>
              </a:rPr>
              <a:t>Platform for active research discussions – each lecture is like a workshop</a:t>
            </a:r>
            <a:endParaRPr lang="en-US" altLang="zh-CN" sz="2800">
              <a:latin typeface="Calibri"/>
              <a:ea typeface="宋体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67935" y="4558320"/>
            <a:ext cx="209704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1600">
                <a:solidFill>
                  <a:srgbClr val="2B59AC"/>
                </a:solidFill>
                <a:latin typeface="Source Sans Pro"/>
                <a:ea typeface="宋体"/>
              </a:rPr>
              <a:t>Agent Frameworks(3)</a:t>
            </a:r>
            <a:r>
              <a:rPr lang="en-US" altLang="zh-CN" sz="3200">
                <a:latin typeface="Source Sans Pro"/>
                <a:ea typeface="宋体"/>
              </a:rPr>
              <a:t> </a:t>
            </a:r>
            <a:endParaRPr lang="zh-CN" altLang="en-US">
              <a:ea typeface="宋体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7184376" y="3605731"/>
            <a:ext cx="2665" cy="92896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图片包含 户外, 火车, 照片, 轨道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996" y="177922"/>
            <a:ext cx="2982547" cy="1622425"/>
          </a:xfrm>
          <a:prstGeom prst="rect">
            <a:avLst/>
          </a:prstGeom>
        </p:spPr>
      </p:pic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  <p:sp>
        <p:nvSpPr>
          <p:cNvPr id="26" name="TextBox 25"/>
          <p:cNvSpPr txBox="1"/>
          <p:nvPr/>
        </p:nvSpPr>
        <p:spPr>
          <a:xfrm>
            <a:off x="3279729" y="51247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315" lvl="1" indent="-342265"/>
            <a:r>
              <a:rPr lang="en-US">
                <a:latin typeface="Calibri"/>
                <a:ea typeface="Calibri"/>
                <a:cs typeface="Calibri"/>
                <a:hlinkClick r:id="rId2"/>
              </a:rPr>
              <a:t>https://github.com/ulab-uiuc/CS598-Topics-in-LLM-Agents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Grading (Details to be finalized)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515E5-540A-2747-BAB7-A35DFCA9271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11" name="Content Placeholder 5"/>
          <p:cNvSpPr>
            <a:spLocks noGrp="1"/>
          </p:cNvSpPr>
          <p:nvPr>
            <p:ph idx="1"/>
          </p:nvPr>
        </p:nvSpPr>
        <p:spPr>
          <a:xfrm>
            <a:off x="453853" y="1042065"/>
            <a:ext cx="10972800" cy="4396155"/>
          </a:xfrm>
        </p:spPr>
        <p:txBody>
          <a:bodyPr vert="horz" lIns="121917" tIns="60958" rIns="121917" bIns="60958" rtlCol="0" anchor="t">
            <a:normAutofit/>
          </a:bodyPr>
          <a:lstStyle/>
          <a:p>
            <a:pPr marL="342265" indent="-342265"/>
            <a:r>
              <a:rPr lang="en-US">
                <a:latin typeface="Calibri"/>
                <a:ea typeface="Calibri"/>
                <a:cs typeface="Calibri"/>
              </a:rPr>
              <a:t>ALL activities will be done in groups </a:t>
            </a:r>
            <a:r>
              <a:rPr lang="en-US">
                <a:solidFill>
                  <a:srgbClr val="FF542C"/>
                </a:solidFill>
                <a:latin typeface="Calibri"/>
                <a:ea typeface="Calibri"/>
                <a:cs typeface="Calibri"/>
              </a:rPr>
              <a:t>except </a:t>
            </a:r>
            <a:r>
              <a:rPr lang="en-US">
                <a:latin typeface="Calibri"/>
                <a:ea typeface="Calibri"/>
                <a:cs typeface="Calibri"/>
              </a:rPr>
              <a:t>for your Pre-class activity!</a:t>
            </a:r>
            <a:endParaRPr lang="zh-CN" altLang="en-US">
              <a:latin typeface="Calibri"/>
            </a:endParaRPr>
          </a:p>
          <a:p>
            <a:pPr marL="342265" indent="-342265"/>
            <a:endParaRPr lang="en-US">
              <a:latin typeface="Calibri"/>
              <a:ea typeface="Calibri"/>
              <a:cs typeface="Calibri"/>
            </a:endParaRPr>
          </a:p>
          <a:p>
            <a:pPr marL="342265" indent="-34226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34226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342265"/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342265"/>
            <a:endParaRPr lang="en-US">
              <a:ea typeface="Calibri"/>
            </a:endParaRPr>
          </a:p>
          <a:p>
            <a:pPr marL="742315" lvl="1" indent="-342265">
              <a:buFont typeface="Wingdings" panose="05000000000000000000" pitchFamily="2" charset="2"/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12" name="图片 11" descr="表格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849" y="2264652"/>
            <a:ext cx="8612031" cy="3715036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17500" y="1954"/>
            <a:ext cx="12192000" cy="1143000"/>
          </a:xfrm>
        </p:spPr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Pre-class activity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6306-92CA-344D-8514-5D4873C4000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 vert="horz" lIns="121917" tIns="60958" rIns="121917" bIns="60958" rtlCol="0" anchor="t">
            <a:normAutofit/>
          </a:bodyPr>
          <a:lstStyle/>
          <a:p>
            <a:pPr marL="342265" indent="-342265"/>
            <a:r>
              <a:rPr kumimoji="1" lang="en-US" altLang="zh-CN">
                <a:latin typeface="Calibri"/>
                <a:ea typeface="Source Sans Pro"/>
                <a:cs typeface="Calibri"/>
              </a:rPr>
              <a:t>Pre-class Question/Idea proposal</a:t>
            </a:r>
            <a:endParaRPr lang="zh-CN" altLang="en-US"/>
          </a:p>
          <a:p>
            <a:pPr marL="742315" lvl="1" indent="-285115"/>
            <a:r>
              <a:rPr kumimoji="1" lang="en-US" altLang="zh-CN" sz="2800">
                <a:latin typeface="Calibri"/>
                <a:ea typeface="Source Sans Pro"/>
                <a:cs typeface="Calibri"/>
              </a:rPr>
              <a:t>Takes  10% of the final grade</a:t>
            </a:r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742315" lvl="1" indent="-285115"/>
            <a:r>
              <a:rPr kumimoji="1" lang="en-US" sz="2800">
                <a:latin typeface="Calibri"/>
                <a:ea typeface="Calibri"/>
                <a:cs typeface="Calibri"/>
              </a:rPr>
              <a:t>After reading of "</a:t>
            </a:r>
            <a:r>
              <a:rPr kumimoji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required</a:t>
            </a:r>
            <a:r>
              <a:rPr kumimoji="1" lang="en-US" sz="2800">
                <a:latin typeface="Calibri"/>
                <a:ea typeface="Calibri"/>
                <a:cs typeface="Calibri"/>
              </a:rPr>
              <a:t>" papers in the schedule</a:t>
            </a:r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742315" lvl="1" indent="-285115"/>
            <a:r>
              <a:rPr kumimoji="1" lang="en-US" sz="2800">
                <a:latin typeface="Calibri"/>
                <a:ea typeface="Calibri"/>
                <a:cs typeface="Calibri"/>
              </a:rPr>
              <a:t>Up to</a:t>
            </a:r>
            <a:r>
              <a:rPr kumimoji="1" lang="en-US" sz="2800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 five</a:t>
            </a:r>
            <a:r>
              <a:rPr kumimoji="1" lang="en-US" sz="2800">
                <a:latin typeface="Calibri"/>
                <a:ea typeface="Calibri"/>
                <a:cs typeface="Calibri"/>
              </a:rPr>
              <a:t> absences</a:t>
            </a:r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742315" lvl="1" indent="-285115"/>
            <a:r>
              <a:rPr lang="en-US" altLang="zh-CN" sz="2800">
                <a:latin typeface="Calibri"/>
                <a:ea typeface="Source Sans Pro"/>
                <a:cs typeface="Calibri"/>
              </a:rPr>
              <a:t>Fill the google form to propose an insightful question/idea</a:t>
            </a:r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1142365" lvl="2" indent="-227965"/>
            <a:r>
              <a:rPr lang="en-US">
                <a:latin typeface="Calibri"/>
                <a:ea typeface="Calibri"/>
                <a:cs typeface="Calibri"/>
                <a:hlinkClick r:id="rId1"/>
              </a:rPr>
              <a:t>https://docs.google.com/forms/d/e/1FAIpQLSdZV1u6A7WCVBihXsJI5E2AXxwi9IRFgiBJIjNVZaJ1OeBX5g/viewform?usp=header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endParaRPr lang="en-US" altLang="zh-CN">
              <a:latin typeface="Calibri"/>
              <a:ea typeface="Source Sans Pro"/>
              <a:cs typeface="Calibri"/>
            </a:endParaRPr>
          </a:p>
          <a:p>
            <a:pPr marL="1142365" lvl="2" indent="-227965"/>
            <a:r>
              <a:rPr lang="en-US">
                <a:latin typeface="Calibri"/>
                <a:ea typeface="Calibri"/>
                <a:cs typeface="Calibri"/>
              </a:rPr>
              <a:t>Due: </a:t>
            </a:r>
            <a:r>
              <a:rPr lang="en-US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before each lecture</a:t>
            </a:r>
            <a:r>
              <a:rPr lang="en-US">
                <a:latin typeface="Calibri"/>
                <a:ea typeface="Calibri"/>
                <a:cs typeface="Calibri"/>
              </a:rPr>
              <a:t>(start from the second lecture)</a:t>
            </a: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79588" y="6002837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>
              <a:latin typeface="Calibri"/>
              <a:ea typeface="宋体"/>
              <a:cs typeface="Calibri"/>
            </a:endParaRPr>
          </a:p>
        </p:txBody>
      </p:sp>
      <p:pic>
        <p:nvPicPr>
          <p:cNvPr id="8" name="图片 7" descr="日程表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964" y="904142"/>
            <a:ext cx="4759570" cy="1781908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5136839" y="919639"/>
            <a:ext cx="2281560" cy="182951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5141723" y="2639021"/>
            <a:ext cx="2291330" cy="13943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FF0000"/>
                </a:solidFill>
                <a:latin typeface="Corbel"/>
                <a:cs typeface="Calibri"/>
              </a:rPr>
              <a:t>Form a team ASAP</a:t>
            </a:r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66C3-7F1C-B444-8D43-E78798184EFA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067777"/>
            <a:ext cx="10972800" cy="5080000"/>
          </a:xfrm>
        </p:spPr>
        <p:txBody>
          <a:bodyPr vert="horz" lIns="121917" tIns="60958" rIns="121917" bIns="60958" rtlCol="0" anchor="t">
            <a:normAutofit/>
          </a:bodyPr>
          <a:lstStyle/>
          <a:p>
            <a:pPr marL="0" indent="0">
              <a:buNone/>
            </a:pPr>
            <a:endParaRPr lang="en-US" altLang="zh-CN">
              <a:ea typeface="Calibri"/>
            </a:endParaRPr>
          </a:p>
          <a:p>
            <a:pPr marL="342265" indent="-342265"/>
            <a:r>
              <a:rPr lang="en-US" altLang="zh-CN">
                <a:latin typeface="Calibri"/>
                <a:ea typeface="Source Sans Pro"/>
                <a:cs typeface="Calibri"/>
              </a:rPr>
              <a:t>Form a team ASAP</a:t>
            </a:r>
            <a:endParaRPr lang="en-US" altLang="zh-CN">
              <a:latin typeface="Calibri"/>
              <a:ea typeface="Source Sans Pro"/>
              <a:cs typeface="Calibri"/>
            </a:endParaRPr>
          </a:p>
          <a:p>
            <a:pPr marL="742315" lvl="1" indent="-285115"/>
            <a:r>
              <a:rPr lang="en-US" sz="2800">
                <a:latin typeface="Calibri"/>
                <a:ea typeface="Source Sans Pro"/>
                <a:cs typeface="Calibri"/>
              </a:rPr>
              <a:t>Use </a:t>
            </a:r>
            <a:r>
              <a:rPr lang="en-US" sz="2800">
                <a:solidFill>
                  <a:srgbClr val="0563C1"/>
                </a:solidFill>
                <a:latin typeface="Calibri"/>
                <a:ea typeface="Source Sans Pro"/>
                <a:cs typeface="Calibri"/>
                <a:hlinkClick r:id="rId1"/>
              </a:rPr>
              <a:t>Piazza</a:t>
            </a:r>
            <a:r>
              <a:rPr lang="en-US" sz="2800">
                <a:latin typeface="Calibri"/>
                <a:ea typeface="Source Sans Pro"/>
                <a:cs typeface="Calibri"/>
              </a:rPr>
              <a:t> to find potential group members</a:t>
            </a:r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742315" indent="-285115"/>
            <a:r>
              <a:rPr lang="en-US">
                <a:latin typeface="Calibri"/>
                <a:ea typeface="Source Sans Pro"/>
                <a:cs typeface="Calibri"/>
              </a:rPr>
              <a:t>Group size should be </a:t>
            </a:r>
            <a:r>
              <a:rPr lang="en-US" sz="2800">
                <a:solidFill>
                  <a:srgbClr val="FF542C"/>
                </a:solidFill>
                <a:latin typeface="Calibri"/>
                <a:ea typeface="Source Sans Pro"/>
                <a:cs typeface="Calibri"/>
              </a:rPr>
              <a:t>3 </a:t>
            </a:r>
            <a:endParaRPr lang="en-US">
              <a:latin typeface="Calibri"/>
              <a:ea typeface="Calibri"/>
            </a:endParaRPr>
          </a:p>
          <a:p>
            <a:pPr marL="1142365" lvl="1" indent="-285115"/>
            <a:r>
              <a:rPr lang="en-US" sz="2800">
                <a:latin typeface="Calibri"/>
                <a:ea typeface="Calibri"/>
                <a:cs typeface="Calibri"/>
              </a:rPr>
              <a:t>May allow a few smaller groups if/when students drop out</a:t>
            </a:r>
            <a:endParaRPr lang="en-US" sz="2800"/>
          </a:p>
          <a:p>
            <a:pPr marL="742315" lvl="1" indent="-285115"/>
            <a:r>
              <a:rPr lang="en-US" sz="2800">
                <a:latin typeface="Calibri"/>
                <a:ea typeface="Source Sans Pro"/>
                <a:cs typeface="Calibri"/>
              </a:rPr>
              <a:t>Submit at Google Form</a:t>
            </a:r>
            <a:endParaRPr lang="en-US" sz="2800">
              <a:latin typeface="Calibri"/>
              <a:ea typeface="Source Sans Pro"/>
              <a:cs typeface="Calibri"/>
            </a:endParaRPr>
          </a:p>
          <a:p>
            <a:pPr marL="1142365" lvl="2" indent="-227965"/>
            <a:r>
              <a:rPr lang="en-US" sz="2800">
                <a:latin typeface="Calibri"/>
                <a:ea typeface="Calibri"/>
                <a:cs typeface="Calibri"/>
              </a:rPr>
              <a:t>By </a:t>
            </a:r>
            <a:r>
              <a:rPr lang="en-US" sz="2800">
                <a:solidFill>
                  <a:srgbClr val="FF542C"/>
                </a:solidFill>
                <a:latin typeface="Calibri"/>
                <a:ea typeface="Calibri"/>
                <a:cs typeface="Calibri"/>
              </a:rPr>
              <a:t>Jan 30</a:t>
            </a:r>
            <a:r>
              <a:rPr lang="en-US" sz="2800">
                <a:latin typeface="Calibri"/>
                <a:ea typeface="Calibri"/>
                <a:cs typeface="Calibri"/>
              </a:rPr>
              <a:t> the latest, but </a:t>
            </a:r>
            <a:r>
              <a:rPr lang="en-US" sz="2800" b="1">
                <a:solidFill>
                  <a:srgbClr val="FF542C"/>
                </a:solidFill>
                <a:latin typeface="Calibri"/>
                <a:ea typeface="Calibri"/>
                <a:cs typeface="Calibri"/>
              </a:rPr>
              <a:t>right now</a:t>
            </a:r>
            <a:r>
              <a:rPr lang="en-US" sz="2800">
                <a:latin typeface="Calibri"/>
                <a:ea typeface="Calibri"/>
                <a:cs typeface="Calibri"/>
              </a:rPr>
              <a:t> is better</a:t>
            </a:r>
            <a:endParaRPr lang="en-US" sz="2800">
              <a:latin typeface="Calibri"/>
              <a:ea typeface="Source Sans Pro"/>
              <a:cs typeface="Calibri"/>
            </a:endParaRPr>
          </a:p>
          <a:p>
            <a:pPr marL="1142365" lvl="2" indent="-227965"/>
            <a:r>
              <a:rPr lang="en-US" sz="2800">
                <a:latin typeface="Calibri"/>
                <a:ea typeface="Calibri"/>
                <a:cs typeface="Calibri"/>
                <a:hlinkClick r:id="rId2"/>
              </a:rPr>
              <a:t>https://docs.google.com/forms/d/e/1FAIpQLSdDTtBOoZyMoQtq8EN0Zef_viHxujb4M3ImwkTtbZC48hOU3w/viewform?usp=header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endParaRPr lang="en-US" altLang="zh-CN" sz="2800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5785" y="5984630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In-class activity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5E50-3055-2A47-9239-C6557C60FA8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067777"/>
            <a:ext cx="10972800" cy="5080000"/>
          </a:xfrm>
        </p:spPr>
        <p:txBody>
          <a:bodyPr vert="horz" lIns="121917" tIns="60958" rIns="121917" bIns="60958" rtlCol="0" anchor="t">
            <a:normAutofit/>
          </a:bodyPr>
          <a:lstStyle/>
          <a:p>
            <a:pPr marL="342265" indent="-342265"/>
            <a:r>
              <a:rPr kumimoji="1" lang="en-US" altLang="zh-CN">
                <a:latin typeface="Calibri"/>
                <a:ea typeface="Source Sans Pro"/>
                <a:cs typeface="Calibri"/>
              </a:rPr>
              <a:t>In-class presentation/discussion</a:t>
            </a:r>
            <a:endParaRPr lang="zh-CN" altLang="en-US"/>
          </a:p>
          <a:p>
            <a:pPr marL="742315" lvl="1" indent="-285115"/>
            <a:r>
              <a:rPr kumimoji="1" lang="en-US" sz="2800">
                <a:latin typeface="Calibri"/>
                <a:ea typeface="Calibri"/>
                <a:cs typeface="Calibri"/>
              </a:rPr>
              <a:t>Takes 25% of the final grade</a:t>
            </a:r>
            <a:endParaRPr lang="en-US" altLang="zh-CN" sz="2800">
              <a:ea typeface="Source Sans Pro"/>
            </a:endParaRPr>
          </a:p>
          <a:p>
            <a:pPr marL="1142365" lvl="2" indent="-227965"/>
            <a:r>
              <a:rPr kumimoji="1" lang="en-US" altLang="zh-CN" sz="2800">
                <a:latin typeface="Calibri"/>
                <a:ea typeface="Source Sans Pro"/>
                <a:cs typeface="Calibri"/>
              </a:rPr>
              <a:t>15% - 1 presentation as "</a:t>
            </a:r>
            <a:r>
              <a:rPr kumimoji="1" lang="en-US" sz="2800">
                <a:latin typeface="Calibri"/>
                <a:ea typeface="Calibri"/>
                <a:cs typeface="Calibri"/>
              </a:rPr>
              <a:t>pilot presenters"</a:t>
            </a:r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1142365" lvl="2" indent="-227965"/>
            <a:r>
              <a:rPr lang="en-US" altLang="zh-CN" sz="2800">
                <a:latin typeface="Calibri"/>
                <a:ea typeface="Source Sans Pro"/>
                <a:cs typeface="Calibri"/>
              </a:rPr>
              <a:t>10% - 1 paper summary as "</a:t>
            </a:r>
            <a:r>
              <a:rPr lang="en-US" sz="2800">
                <a:latin typeface="Calibri"/>
                <a:ea typeface="Calibri"/>
                <a:cs typeface="Calibri"/>
              </a:rPr>
              <a:t> co-pilot </a:t>
            </a:r>
            <a:r>
              <a:rPr lang="en-US" altLang="zh-CN" sz="2800">
                <a:latin typeface="Calibri"/>
                <a:ea typeface="Source Sans Pro"/>
                <a:cs typeface="Calibri"/>
              </a:rPr>
              <a:t>reviewers" </a:t>
            </a:r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742315" lvl="1" indent="-285115"/>
            <a:r>
              <a:rPr lang="en-US" altLang="zh-CN" sz="2800">
                <a:latin typeface="Calibri"/>
                <a:ea typeface="Source Sans Pro"/>
                <a:cs typeface="Calibri"/>
              </a:rPr>
              <a:t>Each group would be assigned each role once</a:t>
            </a:r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1142365" lvl="2" indent="-227965"/>
            <a:r>
              <a:rPr lang="en-US" sz="2800">
                <a:latin typeface="Calibri"/>
                <a:ea typeface="Calibri"/>
                <a:cs typeface="Calibri"/>
              </a:rPr>
              <a:t>Pilot </a:t>
            </a:r>
            <a:r>
              <a:rPr lang="en-US" altLang="zh-CN" sz="2800">
                <a:latin typeface="Calibri"/>
                <a:ea typeface="Source Sans Pro"/>
                <a:cs typeface="Calibri"/>
              </a:rPr>
              <a:t>Presenter</a:t>
            </a:r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1142365" lvl="2" indent="-227965"/>
            <a:r>
              <a:rPr lang="en-US" sz="2800">
                <a:latin typeface="Calibri"/>
                <a:ea typeface="Calibri"/>
                <a:cs typeface="Calibri"/>
              </a:rPr>
              <a:t>Co-pilot Reviewers</a:t>
            </a:r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742315" lvl="1" indent="-285115"/>
            <a:r>
              <a:rPr lang="en-US" sz="2800">
                <a:latin typeface="Calibri"/>
                <a:ea typeface="Calibri"/>
                <a:cs typeface="Calibri"/>
              </a:rPr>
              <a:t>Rest of class-audience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914400" lvl="2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3016" y="6059231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 sz="2800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In-class activity- Paper presentation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8D41-04B1-9C41-8033-EDD9654652A9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896815"/>
            <a:ext cx="10972800" cy="4869961"/>
          </a:xfrm>
        </p:spPr>
        <p:txBody>
          <a:bodyPr vert="horz" lIns="121917" tIns="60958" rIns="121917" bIns="60958" rtlCol="0" anchor="t">
            <a:normAutofit/>
          </a:bodyPr>
          <a:lstStyle/>
          <a:p>
            <a:pPr marL="0" indent="0">
              <a:buNone/>
            </a:pPr>
            <a:endParaRPr lang="en-US" altLang="zh-CN">
              <a:ea typeface="Source Sans Pro"/>
            </a:endParaRPr>
          </a:p>
          <a:p>
            <a:pPr marL="342265" indent="-342265"/>
            <a:r>
              <a:rPr lang="en-US">
                <a:latin typeface="Calibri"/>
                <a:ea typeface="Source Sans Pro"/>
                <a:cs typeface="Calibri"/>
              </a:rPr>
              <a:t>Presenter Group : Lead the discussion</a:t>
            </a:r>
            <a:r>
              <a:rPr lang="en-US">
                <a:latin typeface="Calibri"/>
                <a:ea typeface="Calibri"/>
                <a:cs typeface="Calibri"/>
              </a:rPr>
              <a:t> (</a:t>
            </a:r>
            <a:r>
              <a:rPr lang="en-US">
                <a:solidFill>
                  <a:srgbClr val="0563C1"/>
                </a:solidFill>
                <a:latin typeface="Calibri"/>
                <a:ea typeface="Source Sans Pro"/>
                <a:cs typeface="Calibri"/>
                <a:hlinkClick r:id="rId1"/>
              </a:rPr>
              <a:t>details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  <a:endParaRPr lang="en-US">
              <a:latin typeface="Calibri"/>
              <a:ea typeface="Source Sans Pro"/>
              <a:cs typeface="Calibri"/>
            </a:endParaRPr>
          </a:p>
          <a:p>
            <a:pPr marL="742315" lvl="1" indent="-285115"/>
            <a:r>
              <a:rPr lang="en-US" sz="2800">
                <a:latin typeface="Calibri"/>
                <a:ea typeface="Calibri"/>
                <a:cs typeface="Calibri"/>
              </a:rPr>
              <a:t>Aim for </a:t>
            </a:r>
            <a:r>
              <a:rPr lang="en-US" sz="2800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30-40 min</a:t>
            </a:r>
            <a:r>
              <a:rPr lang="en-US" sz="2800">
                <a:latin typeface="Calibri"/>
                <a:ea typeface="Calibri"/>
                <a:cs typeface="Calibri"/>
              </a:rPr>
              <a:t> presentation w/o interruption, but there will be </a:t>
            </a:r>
            <a:r>
              <a:rPr lang="en-US" sz="2800">
                <a:solidFill>
                  <a:srgbClr val="FF542C"/>
                </a:solidFill>
                <a:latin typeface="Calibri"/>
                <a:ea typeface="Calibri"/>
                <a:cs typeface="Calibri"/>
              </a:rPr>
              <a:t>intermittent discussions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742315" lvl="1" indent="-285115"/>
            <a:r>
              <a:rPr lang="en-US" sz="2800">
                <a:latin typeface="Calibri"/>
                <a:ea typeface="Calibri"/>
                <a:cs typeface="Calibri"/>
              </a:rPr>
              <a:t>Go through the required papers in details, along with its strengths and weaknesses</a:t>
            </a:r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342265" indent="-285115">
              <a:buFont typeface="Wingdings" panose="05000000000000000000" pitchFamily="2" charset="2"/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indent="-285115">
              <a:lnSpc>
                <a:spcPct val="90000"/>
              </a:lnSpc>
              <a:spcBef>
                <a:spcPts val="20"/>
              </a:spcBef>
            </a:pPr>
            <a:endParaRPr lang="en-US" sz="2600">
              <a:latin typeface="Calibri"/>
              <a:ea typeface="Calibri"/>
              <a:cs typeface="Calibri"/>
            </a:endParaRPr>
          </a:p>
          <a:p>
            <a:pPr marL="742315" indent="-285115">
              <a:lnSpc>
                <a:spcPct val="90000"/>
              </a:lnSpc>
              <a:spcBef>
                <a:spcPts val="20"/>
              </a:spcBef>
            </a:pPr>
            <a:endParaRPr lang="en-US" sz="2600">
              <a:latin typeface="Calibri"/>
              <a:ea typeface="Calibri"/>
              <a:cs typeface="Calibri"/>
            </a:endParaRPr>
          </a:p>
          <a:p>
            <a:pPr marL="742315" indent="-285115">
              <a:lnSpc>
                <a:spcPct val="90000"/>
              </a:lnSpc>
              <a:spcBef>
                <a:spcPts val="20"/>
              </a:spcBef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342265" indent="-342265"/>
            <a:endParaRPr lang="en-US" sz="2800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978" y="6171577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 sz="2800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In-class activity- Panel discussion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9236C-1B2D-0142-84DB-B49B66BD4A79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896815"/>
            <a:ext cx="10972800" cy="5539153"/>
          </a:xfrm>
        </p:spPr>
        <p:txBody>
          <a:bodyPr vert="horz" lIns="121917" tIns="60958" rIns="121917" bIns="60958" rtlCol="0" anchor="t">
            <a:normAutofit/>
          </a:bodyPr>
          <a:lstStyle/>
          <a:p>
            <a:pPr marL="0" indent="0">
              <a:buNone/>
            </a:pPr>
            <a:endParaRPr lang="en-US" altLang="zh-CN" sz="3200">
              <a:ea typeface="Source Sans Pro"/>
            </a:endParaRPr>
          </a:p>
          <a:p>
            <a:pPr marL="342265" indent="-285115">
              <a:buFont typeface="Wingdings" panose="05000000000000000000" pitchFamily="2" charset="2"/>
            </a:pPr>
            <a:r>
              <a:rPr lang="en-US">
                <a:latin typeface="Calibri"/>
                <a:ea typeface="Calibri"/>
                <a:cs typeface="Calibri"/>
              </a:rPr>
              <a:t>"Reviewers" Group</a:t>
            </a: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r>
              <a:rPr lang="en-US" sz="2800">
                <a:latin typeface="Calibri"/>
                <a:ea typeface="Calibri"/>
                <a:cs typeface="Calibri"/>
              </a:rPr>
              <a:t>Host a panel after the presentation together with Pilots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742315" lvl="1" indent="-285115"/>
            <a:r>
              <a:rPr lang="en-US" sz="2800">
                <a:latin typeface="Calibri"/>
                <a:ea typeface="Calibri"/>
                <a:cs typeface="Calibri"/>
              </a:rPr>
              <a:t>Reviewers challenge the presented paper, shared constructive feedback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141730" lvl="2" indent="-285115"/>
            <a:r>
              <a:rPr lang="en-US" sz="2800">
                <a:latin typeface="Calibri"/>
                <a:ea typeface="Calibri"/>
                <a:cs typeface="Calibri"/>
              </a:rPr>
              <a:t>Pilots and audience will debate with reviewers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742315" lvl="1" indent="-285115"/>
            <a:r>
              <a:rPr lang="en-US" sz="2800">
                <a:latin typeface="Calibri"/>
                <a:ea typeface="Calibri"/>
                <a:cs typeface="Calibri"/>
              </a:rPr>
              <a:t>Reviewers share summary of all the discussions within </a:t>
            </a:r>
            <a:r>
              <a:rPr lang="en-US" sz="2800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2 days </a:t>
            </a:r>
            <a:r>
              <a:rPr lang="en-US" sz="2800">
                <a:latin typeface="Calibri"/>
                <a:ea typeface="Calibri"/>
                <a:cs typeface="Calibri"/>
              </a:rPr>
              <a:t>after class presentation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5715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32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32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32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altLang="zh-CN" sz="2800">
              <a:latin typeface="Calibri"/>
              <a:ea typeface="Source Sans Pro"/>
              <a:cs typeface="Calibri"/>
            </a:endParaRPr>
          </a:p>
          <a:p>
            <a:pPr marL="742315" lvl="1" indent="-285115"/>
            <a:endParaRPr lang="en-US" altLang="zh-CN" sz="2800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978" y="6171577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 sz="2800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Paper Summaries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BD876-4E12-7A4A-B1AB-38A96880CE9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4271" y="547787"/>
            <a:ext cx="10972800" cy="5539153"/>
          </a:xfrm>
        </p:spPr>
        <p:txBody>
          <a:bodyPr vert="horz" lIns="121917" tIns="60958" rIns="121917" bIns="60958" rtlCol="0" anchor="t">
            <a:normAutofit/>
          </a:bodyPr>
          <a:lstStyle/>
          <a:p>
            <a:pPr marL="0" indent="0">
              <a:buNone/>
            </a:pPr>
            <a:endParaRPr lang="en-US" altLang="zh-CN">
              <a:ea typeface="Source Sans Pro"/>
            </a:endParaRPr>
          </a:p>
          <a:p>
            <a:pPr marL="514350" indent="-457200">
              <a:buFont typeface="Wingdings" panose="05000000000000000000" pitchFamily="2" charset="2"/>
            </a:pPr>
            <a:r>
              <a:rPr lang="en-US">
                <a:latin typeface="Calibri"/>
                <a:ea typeface="Calibri"/>
                <a:cs typeface="Calibri"/>
              </a:rPr>
              <a:t>1 summaries per-group, covering </a:t>
            </a:r>
            <a:r>
              <a:rPr lang="en-US">
                <a:solidFill>
                  <a:srgbClr val="FF542C"/>
                </a:solidFill>
                <a:latin typeface="Calibri"/>
                <a:ea typeface="Calibri"/>
                <a:cs typeface="Calibri"/>
              </a:rPr>
              <a:t>required</a:t>
            </a:r>
            <a:r>
              <a:rPr lang="en-US">
                <a:latin typeface="Calibri"/>
                <a:ea typeface="Calibri"/>
                <a:cs typeface="Calibri"/>
              </a:rPr>
              <a:t> and </a:t>
            </a:r>
            <a:r>
              <a:rPr lang="en-US">
                <a:solidFill>
                  <a:srgbClr val="FF5429"/>
                </a:solidFill>
                <a:latin typeface="Calibri"/>
                <a:ea typeface="Calibri"/>
                <a:cs typeface="Calibri"/>
              </a:rPr>
              <a:t>companion</a:t>
            </a:r>
            <a:r>
              <a:rPr lang="en-US">
                <a:latin typeface="Calibri"/>
                <a:ea typeface="Calibri"/>
                <a:cs typeface="Calibri"/>
              </a:rPr>
              <a:t> papers</a:t>
            </a:r>
            <a:endParaRPr lang="en-US">
              <a:latin typeface="Calibri"/>
              <a:ea typeface="Calibri"/>
              <a:cs typeface="Calibri"/>
            </a:endParaRPr>
          </a:p>
          <a:p>
            <a:pPr marL="514350" indent="-457200">
              <a:buFont typeface="Wingdings" panose="05000000000000000000" pitchFamily="2" charset="2"/>
            </a:pPr>
            <a:r>
              <a:rPr lang="en-US">
                <a:latin typeface="Calibri"/>
                <a:ea typeface="Calibri"/>
                <a:cs typeface="Calibri"/>
              </a:rPr>
              <a:t>Each summary must follow the template and address the following</a:t>
            </a:r>
            <a:endParaRPr lang="en-US">
              <a:latin typeface="Calibri"/>
              <a:ea typeface="Calibri"/>
              <a:cs typeface="Calibri"/>
            </a:endParaRPr>
          </a:p>
          <a:p>
            <a:pPr marL="742315" indent="-285115"/>
            <a:r>
              <a:rPr lang="en-US" sz="2400">
                <a:latin typeface="Calibri"/>
                <a:ea typeface="Calibri"/>
                <a:cs typeface="Calibri"/>
              </a:rPr>
              <a:t>What is the problem and why is it important? 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742315" lvl="1" indent="-285115"/>
            <a:r>
              <a:rPr lang="en-US" sz="2400">
                <a:latin typeface="Calibri"/>
                <a:ea typeface="Calibri"/>
                <a:cs typeface="Calibri"/>
              </a:rPr>
              <a:t>What is the hypothesis of the work? </a:t>
            </a:r>
            <a:endParaRPr lang="en-US" sz="2400">
              <a:latin typeface="Calibri"/>
              <a:cs typeface="Calibri"/>
            </a:endParaRPr>
          </a:p>
          <a:p>
            <a:pPr marL="742315" lvl="1" indent="-285115"/>
            <a:r>
              <a:rPr lang="en-US" sz="2400">
                <a:latin typeface="Calibri"/>
                <a:ea typeface="Calibri"/>
                <a:cs typeface="Calibri"/>
              </a:rPr>
              <a:t>What is the proposed solution, and what key insight guides their solution? </a:t>
            </a:r>
            <a:endParaRPr lang="en-US" sz="2400">
              <a:latin typeface="Calibri"/>
              <a:cs typeface="Calibri"/>
            </a:endParaRPr>
          </a:p>
          <a:p>
            <a:pPr marL="742315" lvl="1" indent="-285115"/>
            <a:r>
              <a:rPr lang="en-US" sz="2400">
                <a:latin typeface="Calibri"/>
                <a:ea typeface="Calibri"/>
                <a:cs typeface="Calibri"/>
              </a:rPr>
              <a:t>What is one (or more) drawback/limitation, and how will you improve it?</a:t>
            </a:r>
            <a:endParaRPr lang="en-US" sz="2400">
              <a:latin typeface="Calibri"/>
              <a:cs typeface="Calibri"/>
            </a:endParaRPr>
          </a:p>
          <a:p>
            <a:pPr marL="514350" indent="-457200">
              <a:buFont typeface="Wingdings" panose="05000000000000000000" pitchFamily="2" charset="2"/>
            </a:pPr>
            <a:r>
              <a:rPr lang="en-US">
                <a:latin typeface="Calibri"/>
                <a:ea typeface="Calibri"/>
                <a:cs typeface="Calibri"/>
              </a:rPr>
              <a:t>Summary should include the gist of </a:t>
            </a:r>
            <a:r>
              <a:rPr lang="en-US">
                <a:solidFill>
                  <a:srgbClr val="FF542C"/>
                </a:solidFill>
                <a:latin typeface="Calibri"/>
                <a:ea typeface="Calibri"/>
                <a:cs typeface="Calibri"/>
              </a:rPr>
              <a:t>class discussion</a:t>
            </a:r>
            <a:endParaRPr lang="en-US">
              <a:latin typeface="Calibri"/>
              <a:ea typeface="Calibri"/>
              <a:cs typeface="Calibri"/>
            </a:endParaRPr>
          </a:p>
          <a:p>
            <a:pPr marL="514350" indent="-457200"/>
            <a:r>
              <a:rPr lang="en-US">
                <a:solidFill>
                  <a:srgbClr val="FF542C"/>
                </a:solidFill>
                <a:latin typeface="Calibri"/>
                <a:ea typeface="Calibri"/>
                <a:cs typeface="Calibri"/>
                <a:hlinkClick r:id="rId1"/>
              </a:rPr>
              <a:t>Template here</a:t>
            </a:r>
            <a:endParaRPr lang="en-US">
              <a:solidFill>
                <a:srgbClr val="FF542C"/>
              </a:solidFill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 sz="2600">
              <a:ea typeface="Calibri"/>
            </a:endParaRPr>
          </a:p>
          <a:p>
            <a:pPr marL="742315" indent="-285115">
              <a:lnSpc>
                <a:spcPct val="90000"/>
              </a:lnSpc>
              <a:spcBef>
                <a:spcPts val="20"/>
              </a:spcBef>
            </a:pPr>
            <a:endParaRPr lang="en-US" sz="2600">
              <a:ea typeface="Calibri"/>
            </a:endParaRPr>
          </a:p>
          <a:p>
            <a:pPr marL="742315" lvl="1" indent="-285115"/>
            <a:endParaRPr lang="en-US" sz="2600">
              <a:ea typeface="Calibri"/>
            </a:endParaRPr>
          </a:p>
          <a:p>
            <a:pPr marL="742315" lvl="1" indent="-285115"/>
            <a:endParaRPr lang="en-US">
              <a:ea typeface="Calibri"/>
            </a:endParaRPr>
          </a:p>
          <a:p>
            <a:pPr marL="742315" lvl="1" indent="-285115"/>
            <a:endParaRPr lang="en-US">
              <a:ea typeface="Calibri"/>
            </a:endParaRPr>
          </a:p>
          <a:p>
            <a:pPr marL="342265" indent="-342265"/>
            <a:endParaRPr lang="en-US">
              <a:ea typeface="Calibri"/>
            </a:endParaRPr>
          </a:p>
          <a:p>
            <a:pPr marL="742315" lvl="1" indent="-285115"/>
            <a:endParaRPr lang="en-US">
              <a:ea typeface="Source Sans Pro"/>
            </a:endParaRPr>
          </a:p>
          <a:p>
            <a:pPr marL="742315" lvl="1" indent="-285115"/>
            <a:endParaRPr lang="en-US" sz="2800">
              <a:ea typeface="Source Sans Pro"/>
            </a:endParaRPr>
          </a:p>
          <a:p>
            <a:pPr marL="742315" lvl="1" indent="-285115"/>
            <a:endParaRPr lang="en-US" sz="2800">
              <a:ea typeface="Source Sans Pro"/>
            </a:endParaRPr>
          </a:p>
          <a:p>
            <a:pPr marL="742315" lvl="1" indent="-285115"/>
            <a:endParaRPr lang="en-US" sz="2800">
              <a:ea typeface="Source Sans Pro"/>
            </a:endParaRPr>
          </a:p>
          <a:p>
            <a:pPr marL="742315" lvl="1" indent="-285115"/>
            <a:endParaRPr lang="en-US" altLang="zh-CN">
              <a:ea typeface="Source Sans Pro"/>
            </a:endParaRPr>
          </a:p>
          <a:p>
            <a:pPr marL="742315" lvl="1" indent="-285115"/>
            <a:endParaRPr lang="en-US" altLang="zh-CN">
              <a:ea typeface="Source Sans Pro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978" y="6171577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 sz="2800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954"/>
            <a:ext cx="12192000" cy="1143000"/>
          </a:xfrm>
        </p:spPr>
        <p:txBody>
          <a:bodyPr/>
          <a:lstStyle/>
          <a:p>
            <a:r>
              <a:rPr lang="zh-CN" altLang="en-US">
                <a:latin typeface="Corbel"/>
                <a:cs typeface="Calibri"/>
              </a:rPr>
              <a:t>Summary of  Your Role</a:t>
            </a: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1AF6-84C6-1B49-AB0B-F42CF85B6311}" type="datetime1">
              <a:rPr lang="en-US" smtClean="0"/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7" name="矩形: 圆角 6"/>
          <p:cNvSpPr/>
          <p:nvPr/>
        </p:nvSpPr>
        <p:spPr>
          <a:xfrm>
            <a:off x="997794" y="1415206"/>
            <a:ext cx="4103076" cy="221805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6888639" y="1415205"/>
            <a:ext cx="4103076" cy="221805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4296003" y="4327766"/>
            <a:ext cx="4103076" cy="221805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845939" y="1513342"/>
            <a:ext cx="19364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zh-CN" altLang="en-US" sz="2000" b="1">
                <a:latin typeface="Calibri"/>
                <a:ea typeface="Helvetica Neue Light" panose="02000503000000020004" charset="0"/>
                <a:cs typeface="Calibri"/>
              </a:rPr>
              <a:t>Presenter Group</a:t>
            </a:r>
            <a:endParaRPr lang="zh-CN" altLang="en-US" sz="2000" b="1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971246" y="1513341"/>
            <a:ext cx="189962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000" b="1">
                <a:latin typeface="Calibri"/>
                <a:ea typeface="Helvetica Neue Light" panose="02000503000000020004" charset="0"/>
                <a:cs typeface="Calibri"/>
              </a:rPr>
              <a:t>Reviewer </a:t>
            </a:r>
            <a:r>
              <a:rPr lang="zh-CN" altLang="en-US" sz="2000" b="1">
                <a:latin typeface="Calibri"/>
                <a:ea typeface="Helvetica Neue Light" panose="02000503000000020004" charset="0"/>
                <a:cs typeface="Calibri"/>
              </a:rPr>
              <a:t>Group</a:t>
            </a:r>
            <a:endParaRPr lang="zh-CN" altLang="en-US" sz="2000" b="1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236953" y="4484515"/>
            <a:ext cx="232845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zh-CN" altLang="en-US" sz="2000" b="1">
                <a:latin typeface="Calibri"/>
                <a:ea typeface="Helvetica Neue Light" panose="02000503000000020004" charset="0"/>
                <a:cs typeface="Calibri"/>
              </a:rPr>
              <a:t>Everyone(Audience)</a:t>
            </a:r>
            <a:endParaRPr lang="zh-CN" altLang="en-US" sz="2000" b="1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97618" y="2109709"/>
            <a:ext cx="4112095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>
                <a:latin typeface="Corbel"/>
                <a:ea typeface="Helvetica Neue Light" panose="02000503000000020004" charset="0"/>
                <a:cs typeface="Times New Roman" panose="02020503050405090304"/>
              </a:rPr>
              <a:t>1.</a:t>
            </a:r>
            <a:r>
              <a:rPr lang="zh-CN">
                <a:latin typeface="Corbel"/>
                <a:ea typeface="Helvetica Neue Light" panose="02000503000000020004" charset="0"/>
                <a:cs typeface="Times New Roman" panose="02020503050405090304"/>
              </a:rPr>
              <a:t>Share slides </a:t>
            </a:r>
            <a:r>
              <a:rPr lang="zh-CN">
                <a:solidFill>
                  <a:srgbClr val="FF5F05"/>
                </a:solidFill>
                <a:latin typeface="Corbel"/>
                <a:ea typeface="Helvetica Neue Light" panose="02000503000000020004" charset="0"/>
                <a:cs typeface="Times New Roman" panose="02020503050405090304"/>
              </a:rPr>
              <a:t>24 hrs</a:t>
            </a:r>
            <a:r>
              <a:rPr lang="zh-CN">
                <a:latin typeface="Corbel"/>
                <a:ea typeface="Helvetica Neue Light" panose="02000503000000020004" charset="0"/>
                <a:cs typeface="Times New Roman" panose="02020503050405090304"/>
              </a:rPr>
              <a:t> </a:t>
            </a:r>
            <a:r>
              <a:rPr lang="zh-CN">
                <a:solidFill>
                  <a:srgbClr val="FF5F05"/>
                </a:solidFill>
                <a:latin typeface="Corbel"/>
                <a:ea typeface="Helvetica Neue Light" panose="02000503000000020004" charset="0"/>
                <a:cs typeface="Times New Roman" panose="02020503050405090304"/>
              </a:rPr>
              <a:t>before</a:t>
            </a:r>
            <a:r>
              <a:rPr lang="zh-CN">
                <a:latin typeface="Corbel"/>
                <a:ea typeface="Helvetica Neue Light" panose="02000503000000020004" charset="0"/>
                <a:cs typeface="Times New Roman" panose="02020503050405090304"/>
              </a:rPr>
              <a:t> class</a:t>
            </a:r>
            <a:endParaRPr lang="zh-CN" altLang="en-US">
              <a:latin typeface="Corbel"/>
              <a:ea typeface="Helvetica Neue Light" panose="02000503000000020004" charset="0"/>
              <a:cs typeface="Times New Roman" panose="02020503050405090304"/>
            </a:endParaRPr>
          </a:p>
          <a:p>
            <a:r>
              <a:rPr lang="zh-CN" altLang="en-US">
                <a:latin typeface="Corbel"/>
                <a:ea typeface="Helvetica Neue Light" panose="02000503000000020004" charset="0"/>
                <a:cs typeface="Calibri"/>
              </a:rPr>
              <a:t>2.</a:t>
            </a:r>
            <a:r>
              <a:rPr lang="zh-CN">
                <a:solidFill>
                  <a:srgbClr val="1F2328"/>
                </a:solidFill>
                <a:latin typeface="Corbel"/>
                <a:ea typeface="Helvetica Neue Light" panose="02000503000000020004" charset="0"/>
                <a:cs typeface="Calibri"/>
              </a:rPr>
              <a:t>Maximum </a:t>
            </a:r>
            <a:r>
              <a:rPr lang="en-US" altLang="zh-CN">
                <a:solidFill>
                  <a:srgbClr val="FF542C"/>
                </a:solidFill>
                <a:latin typeface="Corbel"/>
                <a:ea typeface="Helvetica Neue Light" panose="02000503000000020004" charset="0"/>
                <a:cs typeface="Calibri"/>
              </a:rPr>
              <a:t>40</a:t>
            </a:r>
            <a:r>
              <a:rPr lang="zh-CN">
                <a:solidFill>
                  <a:srgbClr val="FF542C"/>
                </a:solidFill>
                <a:latin typeface="Corbel"/>
                <a:ea typeface="Helvetica Neue Light" panose="02000503000000020004" charset="0"/>
                <a:cs typeface="Calibri"/>
              </a:rPr>
              <a:t>-minute</a:t>
            </a:r>
            <a:r>
              <a:rPr lang="zh-CN">
                <a:solidFill>
                  <a:srgbClr val="1F2328"/>
                </a:solidFill>
                <a:latin typeface="Corbel"/>
                <a:ea typeface="Helvetica Neue Light" panose="02000503000000020004" charset="0"/>
                <a:cs typeface="Calibri"/>
              </a:rPr>
              <a:t> presentation</a:t>
            </a:r>
            <a:endParaRPr lang="zh-CN" altLang="en-US">
              <a:latin typeface="Corbel"/>
              <a:ea typeface="Helvetica Neue Light" panose="02000503000000020004" charset="0"/>
              <a:cs typeface="Calibri" panose="020F0502020204030204" pitchFamily="34" charset="0"/>
            </a:endParaRPr>
          </a:p>
          <a:p>
            <a:r>
              <a:rPr lang="en-US" altLang="zh-CN">
                <a:solidFill>
                  <a:srgbClr val="1F2328"/>
                </a:solidFill>
                <a:latin typeface="Corbel"/>
                <a:ea typeface="Helvetica Neue Light" panose="02000503000000020004" charset="0"/>
                <a:cs typeface="Calibri"/>
              </a:rPr>
              <a:t>3.</a:t>
            </a:r>
            <a:r>
              <a:rPr lang="en-US">
                <a:solidFill>
                  <a:srgbClr val="1F2328"/>
                </a:solidFill>
                <a:latin typeface="Corbel"/>
                <a:ea typeface="Helvetica Neue Light" panose="02000503000000020004" charset="0"/>
                <a:cs typeface="Calibri"/>
              </a:rPr>
              <a:t>Respond to questions on Piazza</a:t>
            </a:r>
            <a:endParaRPr lang="zh-CN" altLang="en-US">
              <a:solidFill>
                <a:srgbClr val="1F2328"/>
              </a:solidFill>
              <a:latin typeface="Corbel"/>
              <a:ea typeface="Helvetica Neue Light" panose="02000503000000020004" charset="0"/>
              <a:cs typeface="Calibri"/>
            </a:endParaRPr>
          </a:p>
          <a:p>
            <a:r>
              <a:rPr lang="en-US" altLang="zh-CN">
                <a:solidFill>
                  <a:srgbClr val="1F2328"/>
                </a:solidFill>
                <a:latin typeface="Corbel"/>
                <a:ea typeface="Helvetica Neue Light" panose="02000503000000020004" charset="0"/>
                <a:cs typeface="Calibri"/>
              </a:rPr>
              <a:t>4.</a:t>
            </a:r>
            <a:r>
              <a:rPr lang="en-US">
                <a:solidFill>
                  <a:srgbClr val="1F2328"/>
                </a:solidFill>
                <a:latin typeface="Corbel"/>
                <a:ea typeface="Helvetica Neue Light" panose="02000503000000020004" charset="0"/>
                <a:cs typeface="Calibri"/>
              </a:rPr>
              <a:t>Share your final slides after class</a:t>
            </a:r>
            <a:endParaRPr lang="en-US" altLang="zh-CN">
              <a:solidFill>
                <a:srgbClr val="1F2328"/>
              </a:solidFill>
              <a:latin typeface="Corbel"/>
              <a:ea typeface="Helvetica Neue Light" panose="02000503000000020004" charset="0"/>
              <a:cs typeface="Calibri"/>
            </a:endParaRPr>
          </a:p>
          <a:p>
            <a:endParaRPr lang="en-US" altLang="zh-CN" sz="2100">
              <a:solidFill>
                <a:srgbClr val="1F2328"/>
              </a:solidFill>
              <a:latin typeface="Gill Sans" panose="020B0502020104020203"/>
              <a:ea typeface="Helvetica Neue Light" panose="02000503000000020004" charset="0"/>
              <a:cs typeface="Calibri" panose="020F0502020204030204" pitchFamily="34" charset="0"/>
            </a:endParaRPr>
          </a:p>
          <a:p>
            <a:endParaRPr lang="zh-CN" sz="2100">
              <a:solidFill>
                <a:srgbClr val="1F2328"/>
              </a:solidFill>
              <a:latin typeface="Gill Sans" panose="020B0502020104020203"/>
              <a:ea typeface="Helvetica Neue Light" panose="02000503000000020004" charset="0"/>
              <a:cs typeface="Calibri" panose="020F0502020204030204" pitchFamily="34" charset="0"/>
            </a:endParaRPr>
          </a:p>
          <a:p>
            <a:endParaRPr lang="zh-CN" altLang="en-US" sz="2000"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61907" y="2109708"/>
            <a:ext cx="4112095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latin typeface="Corbel"/>
                <a:ea typeface="Helvetica Neue Light" panose="02000503000000020004" charset="0"/>
                <a:cs typeface="Times New Roman" panose="02020503050405090304"/>
              </a:rPr>
              <a:t>Challenge the research paper</a:t>
            </a:r>
            <a:endParaRPr lang="en-US">
              <a:latin typeface="Corbel"/>
              <a:ea typeface="Helvetica Neue Light" panose="02000503000000020004" charset="0"/>
              <a:cs typeface="Times New Roman" panose="02020503050405090304"/>
            </a:endParaRPr>
          </a:p>
          <a:p>
            <a:pPr marL="342900" indent="-342900">
              <a:buAutoNum type="arabicPeriod"/>
            </a:pPr>
            <a:r>
              <a:rPr lang="en-US">
                <a:latin typeface="Corbel"/>
                <a:ea typeface="Helvetica Neue Light" panose="02000503000000020004" charset="0"/>
                <a:cs typeface="Times New Roman" panose="02020503050405090304"/>
              </a:rPr>
              <a:t>Host panel discussions</a:t>
            </a:r>
            <a:endParaRPr lang="en-US">
              <a:latin typeface="Corbel"/>
              <a:ea typeface="Helvetica Neue Light" panose="02000503000000020004" charset="0"/>
              <a:cs typeface="Times New Roman" panose="02020503050405090304"/>
            </a:endParaRPr>
          </a:p>
          <a:p>
            <a:r>
              <a:rPr lang="en-US" altLang="zh-CN">
                <a:latin typeface="Corbel"/>
                <a:ea typeface="Helvetica Neue Light" panose="02000503000000020004" charset="0"/>
                <a:cs typeface="Times New Roman" panose="02020503050405090304"/>
              </a:rPr>
              <a:t>3.  Share summary </a:t>
            </a:r>
            <a:r>
              <a:rPr lang="en-US" altLang="zh-CN">
                <a:solidFill>
                  <a:srgbClr val="FF5F05"/>
                </a:solidFill>
                <a:latin typeface="Corbel"/>
                <a:ea typeface="Helvetica Neue Light" panose="02000503000000020004" charset="0"/>
                <a:cs typeface="Times New Roman" panose="02020503050405090304"/>
              </a:rPr>
              <a:t>within 2 days after</a:t>
            </a:r>
            <a:r>
              <a:rPr lang="en-US" altLang="zh-CN">
                <a:latin typeface="Corbel"/>
                <a:ea typeface="Helvetica Neue Light" panose="02000503000000020004" charset="0"/>
                <a:cs typeface="Times New Roman" panose="02020503050405090304"/>
              </a:rPr>
              <a:t> </a:t>
            </a:r>
            <a:endParaRPr lang="zh-CN" altLang="en-US">
              <a:latin typeface="Corbel"/>
              <a:ea typeface="Helvetica Neue Light" panose="02000503000000020004" charset="0"/>
              <a:cs typeface="Times New Roman" panose="02020503050405090304"/>
            </a:endParaRPr>
          </a:p>
          <a:p>
            <a:r>
              <a:rPr lang="en-US" altLang="zh-CN">
                <a:latin typeface="Corbel"/>
                <a:ea typeface="Helvetica Neue Light" panose="02000503000000020004" charset="0"/>
                <a:cs typeface="Times New Roman" panose="02020503050405090304"/>
              </a:rPr>
              <a:t>class presentation</a:t>
            </a:r>
            <a:endParaRPr lang="en-US" altLang="zh-CN" sz="2000">
              <a:latin typeface="Corbel"/>
              <a:ea typeface="Helvetica Neue Light" panose="02000503000000020004" charset="0"/>
              <a:cs typeface="Times New Roman" panose="02020503050405090304"/>
            </a:endParaRPr>
          </a:p>
          <a:p>
            <a:endParaRPr lang="en-US" altLang="zh-CN" sz="2100">
              <a:solidFill>
                <a:srgbClr val="1F2328"/>
              </a:solidFill>
              <a:latin typeface="Gill Sans" panose="020B0502020104020203"/>
              <a:ea typeface="Helvetica Neue Light" panose="02000503000000020004" charset="0"/>
              <a:cs typeface="Calibri" panose="020F0502020204030204" pitchFamily="34" charset="0"/>
            </a:endParaRPr>
          </a:p>
          <a:p>
            <a:endParaRPr lang="zh-CN" altLang="en-US" sz="2100">
              <a:solidFill>
                <a:srgbClr val="1F2328"/>
              </a:solidFill>
              <a:latin typeface="Gill Sans" panose="020B0502020104020203"/>
              <a:ea typeface="Helvetica Neue Light" panose="02000503000000020004" charset="0"/>
              <a:cs typeface="Calibri" panose="020F0502020204030204" pitchFamily="34" charset="0"/>
            </a:endParaRPr>
          </a:p>
          <a:p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69269" y="4885498"/>
            <a:ext cx="433678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>
                <a:latin typeface="Corbel"/>
              </a:rPr>
              <a:t>1.Read </a:t>
            </a:r>
            <a:r>
              <a:rPr lang="en-US">
                <a:solidFill>
                  <a:srgbClr val="FF5F05"/>
                </a:solidFill>
                <a:latin typeface="Corbel"/>
              </a:rPr>
              <a:t>required</a:t>
            </a:r>
            <a:r>
              <a:rPr lang="en-US">
                <a:latin typeface="Corbel"/>
              </a:rPr>
              <a:t> papers</a:t>
            </a:r>
            <a:endParaRPr lang="zh-CN">
              <a:latin typeface="Corbel"/>
            </a:endParaRPr>
          </a:p>
          <a:p>
            <a:endParaRPr lang="en-US">
              <a:latin typeface="Corbel"/>
              <a:ea typeface="Helvetica Neue Light" panose="02000503000000020004" charset="0"/>
              <a:cs typeface="Times New Roman" panose="02020503050405090304"/>
            </a:endParaRPr>
          </a:p>
          <a:p>
            <a:r>
              <a:rPr lang="en-US" altLang="zh-CN">
                <a:latin typeface="Corbel"/>
                <a:ea typeface="Helvetica Neue Light" panose="02000503000000020004" charset="0"/>
                <a:cs typeface="Times New Roman" panose="02020503050405090304"/>
              </a:rPr>
              <a:t>2.</a:t>
            </a:r>
            <a:r>
              <a:rPr lang="en-US">
                <a:solidFill>
                  <a:srgbClr val="1F2328"/>
                </a:solidFill>
                <a:latin typeface="Corbel"/>
                <a:ea typeface="Helvetica Neue Light" panose="02000503000000020004" charset="0"/>
                <a:cs typeface="Times New Roman" panose="02020503050405090304"/>
              </a:rPr>
              <a:t>Submit one insightful question/idea per </a:t>
            </a:r>
            <a:endParaRPr lang="en-US">
              <a:solidFill>
                <a:srgbClr val="1F2328"/>
              </a:solidFill>
              <a:latin typeface="Corbel"/>
              <a:ea typeface="Helvetica Neue Light" panose="02000503000000020004" charset="0"/>
              <a:cs typeface="Times New Roman" panose="02020503050405090304"/>
            </a:endParaRPr>
          </a:p>
          <a:p>
            <a:r>
              <a:rPr lang="en-US">
                <a:solidFill>
                  <a:srgbClr val="000000"/>
                </a:solidFill>
                <a:latin typeface="Corbel"/>
                <a:ea typeface="Helvetica Neue Light" panose="02000503000000020004" charset="0"/>
                <a:cs typeface="Times New Roman" panose="02020503050405090304"/>
              </a:rPr>
              <a:t>required </a:t>
            </a:r>
            <a:r>
              <a:rPr lang="en-US">
                <a:solidFill>
                  <a:srgbClr val="1F2328"/>
                </a:solidFill>
                <a:latin typeface="Corbel"/>
                <a:ea typeface="Helvetica Neue Light" panose="02000503000000020004" charset="0"/>
                <a:cs typeface="Times New Roman" panose="02020503050405090304"/>
              </a:rPr>
              <a:t>reading </a:t>
            </a:r>
            <a:r>
              <a:rPr lang="en-US">
                <a:solidFill>
                  <a:srgbClr val="FF542C"/>
                </a:solidFill>
                <a:latin typeface="Corbel"/>
                <a:ea typeface="Helvetica Neue Light" panose="02000503000000020004" charset="0"/>
                <a:cs typeface="Times New Roman" panose="02020503050405090304"/>
              </a:rPr>
              <a:t>before each lecture</a:t>
            </a:r>
            <a:endParaRPr lang="en-US">
              <a:latin typeface="Corbel"/>
            </a:endParaRPr>
          </a:p>
          <a:p>
            <a:endParaRPr lang="en-US">
              <a:solidFill>
                <a:srgbClr val="1F2328"/>
              </a:solidFill>
              <a:latin typeface="Corbel"/>
              <a:ea typeface="Helvetica Neue Light" panose="02000503000000020004" charset="0"/>
              <a:cs typeface="Times New Roman" panose="02020503050405090304"/>
            </a:endParaRPr>
          </a:p>
          <a:p>
            <a:endParaRPr lang="en-US" altLang="zh-CN" sz="2000">
              <a:latin typeface="Corbel"/>
              <a:ea typeface="Helvetica Neue Light" panose="02000503000000020004" charset="0"/>
              <a:cs typeface="Times New Roman" panose="02020503050405090304"/>
            </a:endParaRPr>
          </a:p>
          <a:p>
            <a:endParaRPr lang="en-US" altLang="zh-CN" sz="2000">
              <a:latin typeface="Corbel"/>
              <a:ea typeface="Helvetica Neue Light" panose="02000503000000020004" charset="0"/>
              <a:cs typeface="Times New Roman" panose="02020503050405090304"/>
            </a:endParaRPr>
          </a:p>
          <a:p>
            <a:endParaRPr lang="en-US" altLang="zh-CN" sz="2100">
              <a:solidFill>
                <a:srgbClr val="1F2328"/>
              </a:solidFill>
              <a:latin typeface="Gill Sans" panose="020B0502020104020203"/>
              <a:ea typeface="Helvetica Neue Light" panose="02000503000000020004" charset="0"/>
              <a:cs typeface="Calibri" panose="020F0502020204030204" pitchFamily="34" charset="0"/>
            </a:endParaRPr>
          </a:p>
          <a:p>
            <a:endParaRPr lang="zh-CN" altLang="en-US" sz="2100">
              <a:solidFill>
                <a:srgbClr val="1F2328"/>
              </a:solidFill>
              <a:latin typeface="Gill Sans" panose="020B0502020104020203"/>
              <a:ea typeface="Helvetica Neue Light" panose="02000503000000020004" charset="0"/>
              <a:cs typeface="Calibri" panose="020F0502020204030204" pitchFamily="34" charset="0"/>
            </a:endParaRPr>
          </a:p>
          <a:p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Helvetica Neue Light" panose="0200050300000002000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Project- A Research Survey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13F1-0B9A-F64A-91E5-834FE8F813B0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896815"/>
            <a:ext cx="10972800" cy="5539153"/>
          </a:xfrm>
        </p:spPr>
        <p:txBody>
          <a:bodyPr vert="horz" lIns="121917" tIns="60958" rIns="121917" bIns="60958" rtlCol="0" anchor="t">
            <a:normAutofit/>
          </a:bodyPr>
          <a:lstStyle/>
          <a:p>
            <a:pPr marL="0" indent="0">
              <a:buNone/>
            </a:pPr>
            <a:endParaRPr lang="en-US" altLang="zh-CN">
              <a:ea typeface="Source Sans Pro"/>
            </a:endParaRPr>
          </a:p>
          <a:p>
            <a:pPr marL="514350" indent="-457200">
              <a:buFont typeface="Wingdings" panose="05000000000000000000" pitchFamily="2" charset="2"/>
            </a:pPr>
            <a:r>
              <a:rPr lang="en-US">
                <a:latin typeface="Calibri"/>
                <a:ea typeface="Calibri"/>
                <a:cs typeface="Calibri"/>
              </a:rPr>
              <a:t>The final project 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accounts </a:t>
            </a:r>
            <a:r>
              <a:rPr lang="en-US">
                <a:latin typeface="Calibri"/>
                <a:ea typeface="Calibri"/>
                <a:cs typeface="Calibri"/>
              </a:rPr>
              <a:t>for </a:t>
            </a:r>
            <a:r>
              <a:rPr lang="en-US" b="1">
                <a:solidFill>
                  <a:srgbClr val="FF542C"/>
                </a:solidFill>
                <a:latin typeface="Calibri"/>
                <a:ea typeface="Calibri"/>
                <a:cs typeface="Calibri"/>
              </a:rPr>
              <a:t>65%</a:t>
            </a:r>
            <a:r>
              <a:rPr lang="en-US">
                <a:latin typeface="Calibri"/>
                <a:ea typeface="Calibri"/>
                <a:cs typeface="Calibri"/>
              </a:rPr>
              <a:t> of total grades!</a:t>
            </a:r>
            <a:endParaRPr lang="en-US">
              <a:latin typeface="Calibri"/>
              <a:ea typeface="Calibri"/>
              <a:cs typeface="Calibri"/>
            </a:endParaRPr>
          </a:p>
          <a:p>
            <a:pPr marL="514350" indent="-457200">
              <a:buFont typeface="Wingdings" panose="05000000000000000000" pitchFamily="2" charset="2"/>
            </a:pPr>
            <a:endParaRPr lang="en-US">
              <a:latin typeface="Calibri"/>
              <a:ea typeface="Calibri"/>
              <a:cs typeface="Calibri"/>
            </a:endParaRPr>
          </a:p>
          <a:p>
            <a:pPr marL="514350" indent="-457200">
              <a:buFont typeface="Wingdings" panose="05000000000000000000" pitchFamily="2" charset="2"/>
            </a:pPr>
            <a:r>
              <a:rPr lang="en-US">
                <a:latin typeface="Calibri"/>
                <a:ea typeface="Calibri"/>
                <a:cs typeface="Calibri"/>
              </a:rPr>
              <a:t>A survey within the range of LLM agents</a:t>
            </a:r>
            <a:endParaRPr lang="en-US">
              <a:latin typeface="Calibri"/>
              <a:ea typeface="Calibri"/>
              <a:cs typeface="Calibri"/>
            </a:endParaRPr>
          </a:p>
          <a:p>
            <a:pPr marL="914400" lvl="1" indent="-285115"/>
            <a:r>
              <a:rPr lang="en-US" sz="2800">
                <a:latin typeface="Calibri"/>
                <a:ea typeface="Calibri"/>
                <a:cs typeface="Calibri"/>
              </a:rPr>
              <a:t>Not too ambitious--"Survey of AI Agents" is not good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914400" lvl="1" indent="-285115"/>
            <a:r>
              <a:rPr lang="en-US" sz="2800">
                <a:latin typeface="Calibri"/>
                <a:ea typeface="Calibri"/>
                <a:cs typeface="Calibri"/>
              </a:rPr>
              <a:t>Not too narrow--"Survey of Minecraft gaming agents" is not good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914400" lvl="1" indent="-285115"/>
            <a:endParaRPr lang="en-US" sz="2800">
              <a:latin typeface="Calibri"/>
              <a:ea typeface="Calibri"/>
              <a:cs typeface="Calibri"/>
            </a:endParaRPr>
          </a:p>
          <a:p>
            <a:pPr marL="514350" indent="-457200"/>
            <a:r>
              <a:rPr lang="en-US">
                <a:latin typeface="Calibri"/>
                <a:ea typeface="Calibri"/>
                <a:cs typeface="Calibri"/>
              </a:rPr>
              <a:t>Could be the same with your presentation topic like "gaming agents"</a:t>
            </a:r>
            <a:endParaRPr lang="en-US">
              <a:latin typeface="Calibri"/>
              <a:ea typeface="Calibri"/>
              <a:cs typeface="Calibri"/>
            </a:endParaRPr>
          </a:p>
          <a:p>
            <a:pPr marL="914400" lvl="1" indent="-285115"/>
            <a:r>
              <a:rPr lang="en-US" sz="2800">
                <a:latin typeface="Calibri"/>
                <a:ea typeface="Calibri"/>
                <a:cs typeface="Calibri"/>
              </a:rPr>
              <a:t>But </a:t>
            </a:r>
            <a:r>
              <a:rPr lang="en-US" sz="2800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not</a:t>
            </a:r>
            <a:r>
              <a:rPr lang="en-US" sz="2800">
                <a:latin typeface="Calibri"/>
                <a:ea typeface="Calibri"/>
                <a:cs typeface="Calibri"/>
              </a:rPr>
              <a:t> mandatory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742315" indent="-285115">
              <a:lnSpc>
                <a:spcPct val="90000"/>
              </a:lnSpc>
              <a:spcBef>
                <a:spcPts val="20"/>
              </a:spcBef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342265" indent="-34226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978" y="6171577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 sz="2800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Project- A Research Survey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417A-A470-AC41-B3A8-A85346F215BB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896815"/>
            <a:ext cx="10972800" cy="5539153"/>
          </a:xfrm>
        </p:spPr>
        <p:txBody>
          <a:bodyPr vert="horz" lIns="121917" tIns="60958" rIns="121917" bIns="60958" rtlCol="0" anchor="t">
            <a:normAutofit/>
          </a:bodyPr>
          <a:lstStyle/>
          <a:p>
            <a:pPr marL="0" indent="0">
              <a:buNone/>
            </a:pPr>
            <a:endParaRPr lang="en-US" altLang="zh-CN">
              <a:latin typeface="+mn-lt"/>
              <a:ea typeface="Source Sans Pro"/>
            </a:endParaRPr>
          </a:p>
          <a:p>
            <a:pPr marL="514350" indent="-457200">
              <a:buFont typeface="Wingdings" panose="05000000000000000000" pitchFamily="2" charset="2"/>
            </a:pPr>
            <a:r>
              <a:rPr lang="en-US">
                <a:latin typeface="+mn-lt"/>
                <a:ea typeface="Calibri"/>
                <a:cs typeface="Calibri"/>
              </a:rPr>
              <a:t>We will simulate the lifecycle of research</a:t>
            </a:r>
            <a:endParaRPr lang="en-US">
              <a:latin typeface="+mn-lt"/>
              <a:ea typeface="Calibri"/>
              <a:cs typeface="Calibri"/>
            </a:endParaRPr>
          </a:p>
          <a:p>
            <a:pPr marL="914400" lvl="1" indent="-285115"/>
            <a:r>
              <a:rPr lang="en-US" sz="2800">
                <a:latin typeface="+mn-lt"/>
                <a:ea typeface="Calibri"/>
                <a:cs typeface="Calibri"/>
              </a:rPr>
              <a:t>Draft Proposal</a:t>
            </a:r>
            <a:endParaRPr lang="en-US" sz="2800">
              <a:latin typeface="+mn-lt"/>
              <a:ea typeface="Calibri"/>
              <a:cs typeface="Calibri"/>
            </a:endParaRPr>
          </a:p>
          <a:p>
            <a:pPr marL="914400" lvl="1" indent="-285115"/>
            <a:r>
              <a:rPr lang="en-US" sz="2800">
                <a:latin typeface="+mn-lt"/>
                <a:ea typeface="Calibri"/>
                <a:cs typeface="Calibri"/>
              </a:rPr>
              <a:t>Adjustment (Midterm checkpoint)</a:t>
            </a:r>
            <a:endParaRPr lang="en-US" sz="2800">
              <a:latin typeface="+mn-lt"/>
              <a:ea typeface="Calibri"/>
              <a:cs typeface="Calibri"/>
            </a:endParaRPr>
          </a:p>
          <a:p>
            <a:pPr marL="914400" lvl="1" indent="-285115"/>
            <a:r>
              <a:rPr lang="en-US" sz="2800">
                <a:latin typeface="+mn-lt"/>
                <a:ea typeface="Calibri"/>
                <a:cs typeface="Calibri"/>
              </a:rPr>
              <a:t>Paper Submission</a:t>
            </a:r>
            <a:endParaRPr lang="en-US" sz="2800">
              <a:latin typeface="+mn-lt"/>
              <a:ea typeface="Calibri"/>
              <a:cs typeface="Calibri"/>
            </a:endParaRPr>
          </a:p>
          <a:p>
            <a:pPr marL="914400" lvl="1" indent="-285115"/>
            <a:r>
              <a:rPr lang="en-US" sz="2800" err="1">
                <a:latin typeface="+mn-lt"/>
                <a:ea typeface="Calibri"/>
                <a:cs typeface="Calibri"/>
              </a:rPr>
              <a:t>Review&amp;Response</a:t>
            </a:r>
            <a:endParaRPr lang="en-US" sz="2800">
              <a:latin typeface="+mn-lt"/>
              <a:ea typeface="Calibri"/>
              <a:cs typeface="Calibri"/>
            </a:endParaRPr>
          </a:p>
          <a:p>
            <a:pPr marL="914400" lvl="1" indent="-285115"/>
            <a:r>
              <a:rPr lang="en-US" sz="2800">
                <a:latin typeface="+mn-lt"/>
                <a:ea typeface="Calibri"/>
                <a:cs typeface="Calibri"/>
              </a:rPr>
              <a:t>Final Revision (Camera ready)</a:t>
            </a:r>
            <a:endParaRPr lang="en-US" sz="2800">
              <a:latin typeface="+mn-lt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+mn-lt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+mn-lt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+mn-lt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+mn-lt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+mn-lt"/>
              <a:ea typeface="Source Sans Pro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978" y="6171577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 sz="2800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Project- A Research Survey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4B22-31BE-B343-8216-C3E670811F28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659690"/>
            <a:ext cx="11558953" cy="5528496"/>
          </a:xfrm>
        </p:spPr>
        <p:txBody>
          <a:bodyPr vert="horz" lIns="121917" tIns="60958" rIns="121917" bIns="60958" rtlCol="0" anchor="t">
            <a:normAutofit fontScale="85000" lnSpcReduction="10000"/>
          </a:bodyPr>
          <a:lstStyle/>
          <a:p>
            <a:pPr marL="0" indent="0">
              <a:buNone/>
            </a:pPr>
            <a:endParaRPr lang="en-US" altLang="zh-CN">
              <a:ea typeface="Source Sans Pro"/>
            </a:endParaRPr>
          </a:p>
          <a:p>
            <a:pPr marL="686435" indent="-457200">
              <a:buFont typeface="Wingdings" panose="05000000000000000000" pitchFamily="2" charset="2"/>
            </a:pPr>
            <a:r>
              <a:rPr lang="en-US">
                <a:latin typeface="Calibri"/>
                <a:ea typeface="Calibri"/>
                <a:cs typeface="Calibri"/>
              </a:rPr>
              <a:t>Draft Proposal (DDL Feb 10)</a:t>
            </a:r>
            <a:endParaRPr lang="en-US">
              <a:latin typeface="Calibri"/>
              <a:ea typeface="Calibri"/>
              <a:cs typeface="Calibri"/>
            </a:endParaRPr>
          </a:p>
          <a:p>
            <a:pPr marL="1086485" lvl="1" indent="-457200"/>
            <a:r>
              <a:rPr lang="en-US" sz="2800">
                <a:latin typeface="Calibri"/>
                <a:ea typeface="Calibri"/>
                <a:cs typeface="Calibri"/>
              </a:rPr>
              <a:t>Two pages in </a:t>
            </a:r>
            <a:r>
              <a:rPr lang="en-US" sz="2800">
                <a:latin typeface="Calibri"/>
                <a:ea typeface="Calibri"/>
                <a:cs typeface="Calibri"/>
                <a:hlinkClick r:id="rId1"/>
              </a:rPr>
              <a:t>template adapted from TMLR</a:t>
            </a:r>
            <a:r>
              <a:rPr lang="en-US" sz="2800">
                <a:latin typeface="Calibri"/>
                <a:ea typeface="Calibri"/>
                <a:cs typeface="Calibri"/>
              </a:rPr>
              <a:t>, plus as many pages as needed for references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086485" lvl="1" indent="-457200"/>
            <a:r>
              <a:rPr lang="en-US" sz="2800" b="1">
                <a:solidFill>
                  <a:srgbClr val="FF542C"/>
                </a:solidFill>
                <a:latin typeface="Calibri"/>
                <a:ea typeface="Calibri"/>
                <a:cs typeface="Calibri"/>
              </a:rPr>
              <a:t>Should</a:t>
            </a:r>
            <a:r>
              <a:rPr lang="en-US" sz="2800">
                <a:latin typeface="Calibri"/>
                <a:ea typeface="Calibri"/>
                <a:cs typeface="Calibri"/>
              </a:rPr>
              <a:t> include (To be finalized)</a:t>
            </a:r>
            <a:endParaRPr lang="en-US" sz="2800">
              <a:latin typeface="Calibri"/>
              <a:ea typeface="Calibri"/>
            </a:endParaRPr>
          </a:p>
          <a:p>
            <a:pPr marL="1486535" lvl="2" indent="-227965"/>
            <a:r>
              <a:rPr lang="en-US" sz="2800" i="1">
                <a:latin typeface="Calibri"/>
                <a:ea typeface="Calibri"/>
                <a:cs typeface="Calibri"/>
              </a:rPr>
              <a:t>Problem: </a:t>
            </a:r>
            <a:r>
              <a:rPr lang="en-US" sz="2800">
                <a:latin typeface="Calibri"/>
                <a:ea typeface="Calibri"/>
                <a:cs typeface="Calibri"/>
              </a:rPr>
              <a:t>What is the problem?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486535" lvl="2" indent="-227965"/>
            <a:r>
              <a:rPr lang="en-US" sz="2800" i="1">
                <a:latin typeface="Calibri"/>
                <a:ea typeface="Calibri"/>
                <a:cs typeface="Calibri"/>
              </a:rPr>
              <a:t>Motivation: </a:t>
            </a:r>
            <a:r>
              <a:rPr lang="en-US" sz="2800">
                <a:latin typeface="Calibri"/>
                <a:ea typeface="Calibri"/>
                <a:cs typeface="Calibri"/>
              </a:rPr>
              <a:t>Why is it important?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486535" lvl="2" indent="-227965"/>
            <a:r>
              <a:rPr lang="en-US" sz="2800" i="1">
                <a:latin typeface="Calibri"/>
                <a:ea typeface="Calibri"/>
                <a:cs typeface="Calibri"/>
              </a:rPr>
              <a:t>Scope</a:t>
            </a:r>
            <a:r>
              <a:rPr lang="en-US" sz="2800">
                <a:latin typeface="Calibri"/>
                <a:ea typeface="Calibri"/>
                <a:cs typeface="Calibri"/>
              </a:rPr>
              <a:t>: Why it cannot be narrower or  larger? What will be included/excluded?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486535" lvl="2" indent="-227965"/>
            <a:r>
              <a:rPr lang="en-US" sz="2800" i="1">
                <a:latin typeface="Calibri"/>
                <a:ea typeface="Calibri"/>
                <a:cs typeface="Calibri"/>
              </a:rPr>
              <a:t>Related work:</a:t>
            </a:r>
            <a:r>
              <a:rPr lang="en-US" sz="2800">
                <a:latin typeface="Calibri"/>
                <a:ea typeface="Calibri"/>
                <a:cs typeface="Calibri"/>
              </a:rPr>
              <a:t> What has been done so far? How to summarize the progress?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486535" lvl="2" indent="-227965"/>
            <a:r>
              <a:rPr lang="en-US" sz="2800" i="1">
                <a:latin typeface="Calibri"/>
                <a:ea typeface="Calibri"/>
                <a:cs typeface="Calibri"/>
              </a:rPr>
              <a:t>Future directions:</a:t>
            </a:r>
            <a:r>
              <a:rPr lang="en-US" sz="2800">
                <a:latin typeface="Calibri"/>
                <a:ea typeface="Calibri"/>
                <a:cs typeface="Calibri"/>
              </a:rPr>
              <a:t> What can be done in the future to address the problem?</a:t>
            </a:r>
            <a:endParaRPr lang="en-US" sz="2800"/>
          </a:p>
          <a:p>
            <a:pPr marL="1486535" lvl="2" indent="-227965"/>
            <a:r>
              <a:rPr lang="en-US" sz="2800" i="1">
                <a:latin typeface="Calibri"/>
                <a:ea typeface="Calibri"/>
                <a:cs typeface="Calibri"/>
              </a:rPr>
              <a:t>Plan:</a:t>
            </a:r>
            <a:r>
              <a:rPr lang="en-US" sz="2800">
                <a:latin typeface="Calibri"/>
                <a:ea typeface="Calibri"/>
                <a:cs typeface="Calibri"/>
              </a:rPr>
              <a:t> Your timeline &amp; work distribution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086485" lvl="1" indent="-457200">
              <a:buFont typeface="Wingdings" panose="05000000000000000000" pitchFamily="2" charset="2"/>
            </a:pPr>
            <a:r>
              <a:rPr lang="en-US" sz="2800">
                <a:latin typeface="Calibri"/>
                <a:ea typeface="Calibri"/>
                <a:cs typeface="Calibri"/>
              </a:rPr>
              <a:t>Submit as a group, including your group information </a:t>
            </a:r>
            <a:r>
              <a:rPr lang="en-US" sz="2800" i="1">
                <a:latin typeface="Calibri"/>
                <a:ea typeface="Calibri"/>
                <a:cs typeface="Calibri"/>
              </a:rPr>
              <a:t>(form a group ASAP)</a:t>
            </a:r>
            <a:endParaRPr lang="en-US" sz="2800"/>
          </a:p>
          <a:p>
            <a:pPr marL="1086485" lvl="1" indent="-457200"/>
            <a:endParaRPr lang="en-US" i="1">
              <a:latin typeface="Calibri"/>
              <a:ea typeface="Calibri"/>
              <a:cs typeface="Calibri"/>
            </a:endParaRPr>
          </a:p>
          <a:p>
            <a:pPr marL="514350" indent="-285115"/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629285" lvl="1" indent="0">
              <a:buNone/>
            </a:pPr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914400" lvl="1" indent="-285115"/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742315" indent="-285115">
              <a:lnSpc>
                <a:spcPct val="90000"/>
              </a:lnSpc>
              <a:spcBef>
                <a:spcPts val="20"/>
              </a:spcBef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342265" indent="-34226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978" y="6171577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 sz="2800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Project- A Research Survey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E224-9FFC-9B45-89D5-850501E32EF0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750277"/>
            <a:ext cx="10972800" cy="5539153"/>
          </a:xfrm>
        </p:spPr>
        <p:txBody>
          <a:bodyPr vert="horz" lIns="121917" tIns="60958" rIns="121917" bIns="60958" rtlCol="0" anchor="t">
            <a:normAutofit/>
          </a:bodyPr>
          <a:lstStyle/>
          <a:p>
            <a:pPr marL="0" indent="0">
              <a:buNone/>
            </a:pPr>
            <a:endParaRPr lang="en-US" altLang="zh-CN">
              <a:ea typeface="Source Sans Pro"/>
            </a:endParaRPr>
          </a:p>
          <a:p>
            <a:pPr marL="686435" indent="-457200">
              <a:buFont typeface="Wingdings" panose="05000000000000000000" pitchFamily="2" charset="2"/>
            </a:pPr>
            <a:r>
              <a:rPr lang="en-US">
                <a:latin typeface="Calibri"/>
                <a:ea typeface="Calibri"/>
                <a:cs typeface="Calibri"/>
              </a:rPr>
              <a:t>Midterm Checkpoint (March 11/13)</a:t>
            </a:r>
            <a:endParaRPr lang="en-US">
              <a:latin typeface="Calibri"/>
              <a:ea typeface="Calibri"/>
              <a:cs typeface="Calibri"/>
            </a:endParaRPr>
          </a:p>
          <a:p>
            <a:pPr marL="742315" indent="-285115"/>
            <a:r>
              <a:rPr lang="en-US">
                <a:latin typeface="Calibri"/>
                <a:ea typeface="Calibri"/>
                <a:cs typeface="Calibri"/>
              </a:rPr>
              <a:t>In-class short </a:t>
            </a:r>
            <a:r>
              <a:rPr lang="en-US" err="1">
                <a:latin typeface="Calibri"/>
                <a:ea typeface="Calibri"/>
                <a:cs typeface="Calibri"/>
              </a:rPr>
              <a:t>presentation&amp;discussion</a:t>
            </a:r>
            <a:r>
              <a:rPr lang="en-US">
                <a:latin typeface="Calibri"/>
                <a:ea typeface="Calibri"/>
                <a:cs typeface="Calibri"/>
              </a:rPr>
              <a:t> over two days </a:t>
            </a:r>
            <a:endParaRPr lang="en-US">
              <a:latin typeface="Calibri"/>
              <a:ea typeface="Calibri"/>
              <a:cs typeface="Calibri"/>
            </a:endParaRPr>
          </a:p>
          <a:p>
            <a:pPr marL="1142365" lvl="2" indent="-285115"/>
            <a:r>
              <a:rPr lang="en-US" sz="2800">
                <a:latin typeface="Calibri"/>
                <a:ea typeface="Calibri"/>
                <a:cs typeface="Calibri"/>
              </a:rPr>
              <a:t>This is to make sure you are receiving feedback and making progress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742315" lvl="1" indent="-285115"/>
            <a:r>
              <a:rPr lang="en-US" sz="2800">
                <a:latin typeface="Calibri"/>
                <a:ea typeface="Calibri"/>
                <a:cs typeface="Calibri"/>
              </a:rPr>
              <a:t>Tentative format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141730" lvl="2" indent="-285115"/>
            <a:r>
              <a:rPr lang="en-US" sz="2800">
                <a:latin typeface="Calibri"/>
                <a:ea typeface="Calibri"/>
                <a:cs typeface="Calibri"/>
              </a:rPr>
              <a:t>Each group present their progress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141730" lvl="2" indent="-285115"/>
            <a:r>
              <a:rPr lang="en-US" sz="2800">
                <a:latin typeface="Calibri"/>
                <a:ea typeface="Calibri"/>
                <a:cs typeface="Calibri"/>
              </a:rPr>
              <a:t>Raise common questions for discussions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141730" lvl="2" indent="-285115"/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629285" lvl="1" indent="0">
              <a:buNone/>
            </a:pPr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914400" lvl="1" indent="-285115"/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742315" indent="-285115">
              <a:lnSpc>
                <a:spcPct val="90000"/>
              </a:lnSpc>
              <a:spcBef>
                <a:spcPts val="20"/>
              </a:spcBef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342265" indent="-34226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978" y="6171577"/>
            <a:ext cx="10792740" cy="528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 sz="2800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1"/>
            <a:ext cx="12192000" cy="1143000"/>
          </a:xfrm>
        </p:spPr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Project- A Research Survey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C5E3-6431-BB40-8CAF-49392BCA4E8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487709"/>
            <a:ext cx="10972800" cy="5539153"/>
          </a:xfrm>
        </p:spPr>
        <p:txBody>
          <a:bodyPr vert="horz" lIns="121917" tIns="60958" rIns="121917" bIns="60958" rtlCol="0" anchor="t">
            <a:normAutofit fontScale="90000"/>
          </a:bodyPr>
          <a:lstStyle/>
          <a:p>
            <a:pPr marL="0" indent="0">
              <a:buNone/>
            </a:pPr>
            <a:endParaRPr lang="en-US" altLang="zh-CN">
              <a:ea typeface="Source Sans Pro"/>
            </a:endParaRPr>
          </a:p>
          <a:p>
            <a:pPr marL="686435" indent="-457200">
              <a:buFont typeface="Wingdings" panose="05000000000000000000" pitchFamily="2" charset="2"/>
            </a:pPr>
            <a:r>
              <a:rPr lang="en-US">
                <a:latin typeface="Calibri"/>
                <a:ea typeface="Calibri"/>
                <a:cs typeface="Calibri"/>
              </a:rPr>
              <a:t>Draft submission (by April 16 23:59)</a:t>
            </a:r>
            <a:endParaRPr lang="en-US">
              <a:latin typeface="Calibri"/>
              <a:ea typeface="Calibri"/>
            </a:endParaRPr>
          </a:p>
          <a:p>
            <a:pPr marL="1086485" lvl="1" indent="-457200"/>
            <a:r>
              <a:rPr lang="en-US" sz="2800">
                <a:latin typeface="Calibri"/>
                <a:ea typeface="Calibri"/>
                <a:cs typeface="Calibri"/>
              </a:rPr>
              <a:t>At least 9 pages &amp; 30 references (tentative, exclude reference) in </a:t>
            </a:r>
            <a:r>
              <a:rPr lang="en-US" sz="2800">
                <a:latin typeface="Calibri"/>
                <a:ea typeface="Calibri"/>
                <a:cs typeface="Calibri"/>
                <a:hlinkClick r:id="rId1"/>
              </a:rPr>
              <a:t>template adapted from TMLR</a:t>
            </a:r>
            <a:endParaRPr lang="en-US" sz="2800">
              <a:latin typeface="Calibri"/>
              <a:ea typeface="Calibri"/>
              <a:cs typeface="Calibri"/>
              <a:hlinkClick r:id="rId1"/>
            </a:endParaRPr>
          </a:p>
          <a:p>
            <a:pPr marL="1543685" lvl="2" indent="-457200"/>
            <a:r>
              <a:rPr lang="en-US" sz="2580" b="1">
                <a:latin typeface="Calibri"/>
                <a:ea typeface="Calibri"/>
              </a:rPr>
              <a:t>Minimum page limit </a:t>
            </a:r>
            <a:r>
              <a:rPr lang="en-US" sz="2580">
                <a:latin typeface="Calibri"/>
                <a:ea typeface="Calibri"/>
              </a:rPr>
              <a:t>3 student group: 9 pages, 2 student group: 8 pages, 4 student group: 10 pages. More pages is recommended</a:t>
            </a:r>
            <a:endParaRPr lang="en-US" sz="2580">
              <a:latin typeface="Calibri"/>
              <a:ea typeface="Calibri"/>
            </a:endParaRPr>
          </a:p>
          <a:p>
            <a:pPr marL="1086485" lvl="1" indent="-285115"/>
            <a:r>
              <a:rPr lang="en-US" sz="2800">
                <a:latin typeface="Calibri"/>
                <a:ea typeface="Calibri"/>
                <a:cs typeface="Calibri"/>
              </a:rPr>
              <a:t>Submit to </a:t>
            </a:r>
            <a:r>
              <a:rPr lang="en-US" sz="2800" err="1">
                <a:latin typeface="Calibri"/>
                <a:ea typeface="Calibri"/>
                <a:cs typeface="Calibri"/>
              </a:rPr>
              <a:t>OpenReview</a:t>
            </a:r>
            <a:r>
              <a:rPr lang="en-US" sz="2800">
                <a:latin typeface="Calibri"/>
                <a:ea typeface="Calibri"/>
                <a:cs typeface="Calibri"/>
              </a:rPr>
              <a:t> for </a:t>
            </a:r>
            <a:r>
              <a:rPr lang="en-US" sz="280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Review&amp;Response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485900" lvl="2" indent="-285115"/>
            <a:r>
              <a:rPr lang="en-US" sz="2800">
                <a:latin typeface="Calibri"/>
                <a:ea typeface="Calibri"/>
                <a:cs typeface="Calibri"/>
              </a:rPr>
              <a:t>And Canvas for archive</a:t>
            </a:r>
            <a:endParaRPr lang="en-US" sz="2800">
              <a:latin typeface="Calibri"/>
              <a:ea typeface="Calibri"/>
            </a:endParaRPr>
          </a:p>
          <a:p>
            <a:pPr marL="1086485" lvl="1" indent="-285115"/>
            <a:r>
              <a:rPr lang="en-US" sz="2800">
                <a:latin typeface="Calibri"/>
                <a:ea typeface="Calibri"/>
                <a:cs typeface="Calibri"/>
              </a:rPr>
              <a:t>No need to be perfect but should be </a:t>
            </a:r>
            <a:r>
              <a:rPr lang="en-US" sz="2800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complete</a:t>
            </a:r>
            <a:r>
              <a:rPr lang="en-US" sz="2800">
                <a:latin typeface="Calibri"/>
                <a:ea typeface="Calibri"/>
                <a:cs typeface="Calibri"/>
              </a:rPr>
              <a:t>-&gt;submit it anyway.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086485" lvl="1" indent="-285115"/>
            <a:r>
              <a:rPr lang="en-US" sz="2800">
                <a:latin typeface="Calibri"/>
                <a:ea typeface="Calibri"/>
                <a:cs typeface="Calibri"/>
              </a:rPr>
              <a:t>Delay punishment: 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2800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 points</a:t>
            </a:r>
            <a:r>
              <a:rPr lang="en-US" sz="2800">
                <a:latin typeface="Calibri"/>
                <a:ea typeface="Calibri"/>
                <a:cs typeface="Calibri"/>
              </a:rPr>
              <a:t> deduction of your project per day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486535" lvl="2" indent="-285115"/>
            <a:r>
              <a:rPr lang="en-US" sz="2800">
                <a:latin typeface="Calibri"/>
                <a:ea typeface="Calibri"/>
                <a:cs typeface="Calibri"/>
              </a:rPr>
              <a:t>Because it causes trouble in </a:t>
            </a:r>
            <a:r>
              <a:rPr lang="en-US" sz="2800" err="1">
                <a:latin typeface="Calibri"/>
                <a:ea typeface="Calibri"/>
                <a:cs typeface="Calibri"/>
              </a:rPr>
              <a:t>review&amp;response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486535" lvl="2" indent="-285115"/>
            <a:r>
              <a:rPr lang="en-US" sz="2800">
                <a:latin typeface="Calibri"/>
                <a:ea typeface="Calibri"/>
                <a:cs typeface="Calibri"/>
              </a:rPr>
              <a:t>Max </a:t>
            </a:r>
            <a:r>
              <a:rPr lang="en-US" sz="2800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10</a:t>
            </a:r>
            <a:r>
              <a:rPr lang="en-US" sz="2800">
                <a:latin typeface="Calibri"/>
                <a:ea typeface="Calibri"/>
                <a:cs typeface="Calibri"/>
              </a:rPr>
              <a:t> point deduction</a:t>
            </a:r>
            <a:endParaRPr lang="en-US" sz="2800">
              <a:latin typeface="Calibri"/>
              <a:ea typeface="Calibri"/>
            </a:endParaRPr>
          </a:p>
          <a:p>
            <a:pPr marL="686435" indent="-457200"/>
            <a:endParaRPr lang="en-US">
              <a:latin typeface="Gill Sans" panose="020B0502020104020203"/>
              <a:ea typeface="Calibri"/>
            </a:endParaRPr>
          </a:p>
          <a:p>
            <a:pPr marL="1086485" lvl="1" indent="-457200"/>
            <a:endParaRPr lang="en-US">
              <a:latin typeface="Calibri"/>
              <a:ea typeface="Calibri"/>
            </a:endParaRPr>
          </a:p>
          <a:p>
            <a:pPr marL="1086485" lvl="1" indent="-457200"/>
            <a:endParaRPr lang="en-US">
              <a:latin typeface="Calibri"/>
              <a:ea typeface="Calibri"/>
            </a:endParaRPr>
          </a:p>
          <a:p>
            <a:pPr marL="1086485" lvl="1" indent="-285115"/>
            <a:endParaRPr lang="en-US">
              <a:latin typeface="Gill Sans" panose="020B0502020104020203"/>
              <a:ea typeface="Calibri"/>
            </a:endParaRPr>
          </a:p>
          <a:p>
            <a:pPr marL="1142365" lvl="2" indent="-227965"/>
            <a:endParaRPr lang="en-US">
              <a:latin typeface="Calibri"/>
              <a:ea typeface="Calibri"/>
            </a:endParaRPr>
          </a:p>
          <a:p>
            <a:pPr marL="1086485" lvl="1" indent="-457200"/>
            <a:endParaRPr lang="en-US">
              <a:latin typeface="Gill Sans" panose="020B0502020104020203"/>
              <a:ea typeface="Calibri"/>
            </a:endParaRPr>
          </a:p>
          <a:p>
            <a:pPr marL="1086485" lvl="1" indent="-457200"/>
            <a:endParaRPr lang="en-US" i="1">
              <a:latin typeface="Calibri"/>
              <a:ea typeface="Calibri"/>
              <a:cs typeface="Calibri"/>
            </a:endParaRPr>
          </a:p>
          <a:p>
            <a:pPr marL="514350" indent="-285115"/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629285" lvl="1" indent="0">
              <a:buNone/>
            </a:pPr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914400" lvl="1" indent="-285115"/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742315" indent="-285115">
              <a:lnSpc>
                <a:spcPct val="90000"/>
              </a:lnSpc>
              <a:spcBef>
                <a:spcPts val="20"/>
              </a:spcBef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342265" indent="-34226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978" y="6171577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1"/>
            <a:ext cx="12192000" cy="1143000"/>
          </a:xfrm>
        </p:spPr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Project- A Research Survey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5D6A-852E-4641-A9EC-8C66A891F71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07571" y="669771"/>
            <a:ext cx="10972800" cy="5539153"/>
          </a:xfrm>
        </p:spPr>
        <p:txBody>
          <a:bodyPr vert="horz" lIns="121917" tIns="60958" rIns="121917" bIns="60958" rtlCol="0" anchor="t">
            <a:normAutofit lnSpcReduction="10000"/>
          </a:bodyPr>
          <a:lstStyle/>
          <a:p>
            <a:pPr marL="0" indent="0">
              <a:buNone/>
            </a:pPr>
            <a:endParaRPr lang="en-US" altLang="zh-CN">
              <a:ea typeface="Source Sans Pro"/>
            </a:endParaRPr>
          </a:p>
          <a:p>
            <a:pPr marL="686435" indent="-457200"/>
            <a:r>
              <a:rPr lang="en-US" sz="2400">
                <a:latin typeface="Calibri"/>
                <a:ea typeface="Calibri"/>
                <a:cs typeface="Calibri"/>
              </a:rPr>
              <a:t>Review(April 17-April 23 23:59)</a:t>
            </a:r>
            <a:endParaRPr lang="en-US" sz="2400">
              <a:solidFill>
                <a:srgbClr val="000000"/>
              </a:solidFill>
              <a:latin typeface="Calibri"/>
              <a:ea typeface="Calibri"/>
            </a:endParaRPr>
          </a:p>
          <a:p>
            <a:pPr marL="1086485" lvl="1" indent="-285115">
              <a:buFont typeface="Wingdings" panose="05000000000000000000" pitchFamily="2" charset="2"/>
            </a:pPr>
            <a:r>
              <a:rPr lang="en-US" sz="2400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1 point</a:t>
            </a:r>
            <a:r>
              <a:rPr lang="en-US" sz="2400">
                <a:latin typeface="Calibri"/>
                <a:ea typeface="Calibri"/>
                <a:cs typeface="Calibri"/>
              </a:rPr>
              <a:t> of the review score will be deducted for each day of delay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1485900" lvl="2" indent="-285115">
              <a:buFont typeface="Wingdings" panose="05000000000000000000" pitchFamily="2" charset="2"/>
            </a:pPr>
            <a:r>
              <a:rPr lang="en-US">
                <a:latin typeface="Calibri"/>
                <a:ea typeface="Calibri"/>
                <a:cs typeface="Calibri"/>
              </a:rPr>
              <a:t>Max 5 points</a:t>
            </a:r>
            <a:endParaRPr lang="en-US">
              <a:latin typeface="Calibri"/>
              <a:ea typeface="Calibri"/>
              <a:cs typeface="Calibri"/>
            </a:endParaRPr>
          </a:p>
          <a:p>
            <a:pPr marL="1086485" lvl="1" indent="-285115"/>
            <a:r>
              <a:rPr lang="en-US" sz="2400">
                <a:latin typeface="Calibri"/>
                <a:ea typeface="Calibri"/>
                <a:cs typeface="Calibri"/>
              </a:rPr>
              <a:t>Penalty exemption if the previous draft is not submitted on time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1086485" lvl="1" indent="-285115"/>
            <a:r>
              <a:rPr lang="en-US" sz="2400">
                <a:latin typeface="Calibri"/>
                <a:ea typeface="Calibri"/>
                <a:cs typeface="Calibri"/>
              </a:rPr>
              <a:t>Each group needs to write reviews for </a:t>
            </a:r>
            <a:r>
              <a:rPr lang="en-US" sz="2400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3</a:t>
            </a:r>
            <a:r>
              <a:rPr lang="en-US" sz="2400">
                <a:latin typeface="Calibri"/>
                <a:ea typeface="Calibri"/>
                <a:cs typeface="Calibri"/>
              </a:rPr>
              <a:t> other groups(assigned)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1486535" lvl="2" indent="-285115"/>
            <a:r>
              <a:rPr lang="en-US">
                <a:latin typeface="Calibri"/>
                <a:ea typeface="Calibri"/>
                <a:cs typeface="Calibri"/>
              </a:rPr>
              <a:t>1 person-&gt; 1 review</a:t>
            </a:r>
            <a:endParaRPr lang="en-US">
              <a:latin typeface="Calibri"/>
              <a:ea typeface="Calibri"/>
              <a:cs typeface="Calibri"/>
            </a:endParaRPr>
          </a:p>
          <a:p>
            <a:pPr marL="1086485" lvl="1" indent="-285115"/>
            <a:endParaRPr lang="en-US" sz="2400">
              <a:latin typeface="Calibri"/>
              <a:ea typeface="Calibri"/>
              <a:cs typeface="Calibri"/>
            </a:endParaRPr>
          </a:p>
          <a:p>
            <a:pPr marL="686435" indent="-457200"/>
            <a:r>
              <a:rPr lang="en-US" sz="2400">
                <a:latin typeface="Calibri"/>
                <a:ea typeface="Calibri"/>
                <a:cs typeface="Calibri"/>
              </a:rPr>
              <a:t>Response(April 24-April 30 23:59)</a:t>
            </a:r>
            <a:endParaRPr lang="en-US" sz="2400">
              <a:latin typeface="Calibri"/>
              <a:ea typeface="Calibri"/>
            </a:endParaRPr>
          </a:p>
          <a:p>
            <a:pPr marL="1086485" lvl="1" indent="-457200"/>
            <a:r>
              <a:rPr lang="en-US" sz="2400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1 point </a:t>
            </a:r>
            <a:r>
              <a:rPr lang="en-US" sz="2400">
                <a:latin typeface="Calibri"/>
                <a:ea typeface="Calibri"/>
                <a:cs typeface="Calibri"/>
              </a:rPr>
              <a:t>of the response score will be deducted for each day of delay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1485900" lvl="2" indent="-457200"/>
            <a:r>
              <a:rPr lang="en-US">
                <a:latin typeface="Calibri"/>
                <a:ea typeface="Calibri"/>
                <a:cs typeface="Calibri"/>
              </a:rPr>
              <a:t>Max 5 points</a:t>
            </a:r>
            <a:endParaRPr lang="en-US">
              <a:latin typeface="Calibri"/>
              <a:ea typeface="Calibri"/>
              <a:cs typeface="Calibri"/>
            </a:endParaRPr>
          </a:p>
          <a:p>
            <a:pPr marL="1086485" lvl="1" indent="-457200"/>
            <a:r>
              <a:rPr lang="en-US" sz="2400">
                <a:latin typeface="Calibri"/>
                <a:ea typeface="Calibri"/>
                <a:cs typeface="Calibri"/>
              </a:rPr>
              <a:t>Penalty exemption if the previous review is not submitted on time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1086485" lvl="1" indent="-457200"/>
            <a:r>
              <a:rPr lang="en-US" sz="2400">
                <a:latin typeface="Calibri"/>
                <a:ea typeface="Calibri"/>
                <a:cs typeface="Calibri"/>
              </a:rPr>
              <a:t>Response to your reviews</a:t>
            </a:r>
            <a:endParaRPr lang="en-US">
              <a:latin typeface="Calibri"/>
              <a:ea typeface="Calibri"/>
            </a:endParaRPr>
          </a:p>
          <a:p>
            <a:pPr marL="1086485" lvl="1" indent="-285115"/>
            <a:endParaRPr lang="en-US">
              <a:latin typeface="Gill Sans" panose="020B0502020104020203"/>
              <a:ea typeface="Calibri"/>
            </a:endParaRPr>
          </a:p>
          <a:p>
            <a:pPr marL="1142365" lvl="2" indent="-227965"/>
            <a:endParaRPr lang="en-US">
              <a:latin typeface="Calibri"/>
              <a:ea typeface="Calibri"/>
            </a:endParaRPr>
          </a:p>
          <a:p>
            <a:pPr marL="1086485" lvl="1" indent="-457200"/>
            <a:endParaRPr lang="en-US">
              <a:latin typeface="Gill Sans" panose="020B0502020104020203"/>
              <a:ea typeface="Calibri"/>
            </a:endParaRPr>
          </a:p>
          <a:p>
            <a:pPr marL="1086485" lvl="1" indent="-457200"/>
            <a:endParaRPr lang="en-US" i="1">
              <a:latin typeface="Calibri"/>
              <a:ea typeface="Calibri"/>
              <a:cs typeface="Calibri"/>
            </a:endParaRPr>
          </a:p>
          <a:p>
            <a:pPr marL="514350" indent="-285115"/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629285" lvl="1" indent="0">
              <a:buNone/>
            </a:pPr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914400" lvl="1" indent="-285115"/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742315" indent="-285115">
              <a:lnSpc>
                <a:spcPct val="90000"/>
              </a:lnSpc>
              <a:spcBef>
                <a:spcPts val="20"/>
              </a:spcBef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342265" indent="-34226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978" y="6171577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 sz="2800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1"/>
            <a:ext cx="12192000" cy="1143000"/>
          </a:xfrm>
        </p:spPr>
        <p:txBody>
          <a:bodyPr/>
          <a:lstStyle/>
          <a:p>
            <a:r>
              <a:rPr kumimoji="1" lang="en-US" altLang="zh-CN">
                <a:latin typeface="Corbel"/>
                <a:cs typeface="Calibri"/>
              </a:rPr>
              <a:t>Project- A Research Survey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11DD-A927-714C-943A-859EC389A8B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571529"/>
            <a:ext cx="10972800" cy="5539153"/>
          </a:xfrm>
        </p:spPr>
        <p:txBody>
          <a:bodyPr vert="horz" lIns="121917" tIns="60958" rIns="121917" bIns="60958" rtlCol="0" anchor="t">
            <a:normAutofit/>
          </a:bodyPr>
          <a:lstStyle/>
          <a:p>
            <a:pPr marL="0" indent="0">
              <a:buNone/>
            </a:pPr>
            <a:endParaRPr lang="en-US" altLang="zh-CN">
              <a:ea typeface="Source Sans Pro"/>
            </a:endParaRPr>
          </a:p>
          <a:p>
            <a:pPr marL="686435" indent="-457200"/>
            <a:r>
              <a:rPr lang="en-US">
                <a:latin typeface="Calibri"/>
                <a:ea typeface="Calibri"/>
                <a:cs typeface="Calibri"/>
              </a:rPr>
              <a:t>Final Presentation (May 1/6)</a:t>
            </a:r>
            <a:endParaRPr lang="en-US">
              <a:latin typeface="Calibri"/>
              <a:ea typeface="Calibri"/>
              <a:cs typeface="Calibri"/>
            </a:endParaRPr>
          </a:p>
          <a:p>
            <a:pPr marL="1086485" lvl="1" indent="-457200"/>
            <a:r>
              <a:rPr lang="en-US" sz="2800">
                <a:latin typeface="Calibri"/>
                <a:ea typeface="Calibri"/>
                <a:cs typeface="Calibri"/>
              </a:rPr>
              <a:t>Time limit (To be announced)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086485" lvl="1" indent="-457200">
              <a:buFont typeface="Wingdings" panose="05000000000000000000" pitchFamily="2" charset="2"/>
            </a:pPr>
            <a:endParaRPr lang="en-US" sz="2800">
              <a:latin typeface="Calibri"/>
              <a:ea typeface="Calibri"/>
              <a:cs typeface="Calibri"/>
            </a:endParaRPr>
          </a:p>
          <a:p>
            <a:pPr marL="686435" indent="-457200">
              <a:buFont typeface="Wingdings" panose="05000000000000000000" pitchFamily="2" charset="2"/>
            </a:pPr>
            <a:r>
              <a:rPr lang="en-US">
                <a:latin typeface="Calibri"/>
                <a:ea typeface="Calibri"/>
                <a:cs typeface="Calibri"/>
              </a:rPr>
              <a:t>Final report submission(May 8 23:59)</a:t>
            </a:r>
            <a:endParaRPr lang="en-US">
              <a:latin typeface="Calibri"/>
              <a:ea typeface="Calibri"/>
            </a:endParaRPr>
          </a:p>
          <a:p>
            <a:pPr marL="1086485" lvl="1" indent="-457200"/>
            <a:r>
              <a:rPr lang="en-US" sz="2800" err="1">
                <a:latin typeface="Calibri"/>
                <a:ea typeface="Calibri"/>
                <a:cs typeface="Calibri"/>
              </a:rPr>
              <a:t>a.k.a</a:t>
            </a:r>
            <a:r>
              <a:rPr lang="en-US" sz="2800">
                <a:latin typeface="Calibri"/>
                <a:ea typeface="Calibri"/>
                <a:cs typeface="Calibri"/>
              </a:rPr>
              <a:t>, "Camera ready" in </a:t>
            </a:r>
            <a:r>
              <a:rPr lang="en-US" sz="2800">
                <a:latin typeface="Calibri"/>
                <a:ea typeface="Calibri"/>
                <a:cs typeface="Calibri"/>
                <a:hlinkClick r:id="rId1"/>
              </a:rPr>
              <a:t>template adapted from TMLR</a:t>
            </a:r>
            <a:endParaRPr lang="en-US" sz="2800">
              <a:latin typeface="Calibri"/>
              <a:ea typeface="Calibri"/>
            </a:endParaRPr>
          </a:p>
          <a:p>
            <a:pPr marL="1086485" lvl="1" indent="-457200"/>
            <a:r>
              <a:rPr lang="en-US" sz="2800">
                <a:latin typeface="Calibri"/>
                <a:ea typeface="Calibri"/>
                <a:cs typeface="Calibri"/>
              </a:rPr>
              <a:t>At least 10 pages, 30 references, no page limit (exclude reference) 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1086485" lvl="1" indent="-457200"/>
            <a:r>
              <a:rPr lang="en-US" sz="2800">
                <a:latin typeface="Calibri"/>
                <a:ea typeface="Calibri"/>
                <a:cs typeface="Calibri"/>
              </a:rPr>
              <a:t>Submit to Canvas (for grading)</a:t>
            </a:r>
            <a:endParaRPr lang="en-US" sz="2800">
              <a:latin typeface="Calibri"/>
              <a:ea typeface="Calibri"/>
            </a:endParaRPr>
          </a:p>
          <a:p>
            <a:pPr marL="1086485" lvl="1" indent="-457200"/>
            <a:r>
              <a:rPr lang="en-US" sz="2800">
                <a:solidFill>
                  <a:srgbClr val="FF5F05"/>
                </a:solidFill>
                <a:latin typeface="Calibri"/>
                <a:ea typeface="Calibri"/>
                <a:cs typeface="Calibri"/>
              </a:rPr>
              <a:t>2 point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will be deducted for each day of delay</a:t>
            </a:r>
            <a:endParaRPr lang="en-US" sz="2800">
              <a:latin typeface="Gill Sans" panose="020B0502020104020203"/>
              <a:ea typeface="Calibri"/>
            </a:endParaRPr>
          </a:p>
          <a:p>
            <a:pPr marL="1086485" lvl="1" indent="-457200"/>
            <a:endParaRPr lang="en-US">
              <a:latin typeface="Gill Sans" panose="020B0502020104020203"/>
              <a:ea typeface="Calibri"/>
            </a:endParaRPr>
          </a:p>
          <a:p>
            <a:pPr marL="1086485" lvl="1" indent="-457200"/>
            <a:endParaRPr lang="en-US">
              <a:latin typeface="Gill Sans" panose="020B0502020104020203"/>
              <a:ea typeface="Calibri"/>
            </a:endParaRPr>
          </a:p>
          <a:p>
            <a:pPr marL="1086485" lvl="1" indent="-285115"/>
            <a:endParaRPr lang="en-US">
              <a:latin typeface="Calibri"/>
              <a:ea typeface="Calibri"/>
            </a:endParaRPr>
          </a:p>
          <a:p>
            <a:pPr marL="229235" indent="0">
              <a:buNone/>
            </a:pPr>
            <a:endParaRPr lang="en-US">
              <a:latin typeface="Gill Sans" panose="020B0502020104020203"/>
              <a:ea typeface="Calibri"/>
            </a:endParaRPr>
          </a:p>
          <a:p>
            <a:pPr marL="1086485" lvl="1" indent="-457200"/>
            <a:endParaRPr lang="en-US">
              <a:latin typeface="Calibri"/>
              <a:ea typeface="Calibri"/>
            </a:endParaRPr>
          </a:p>
          <a:p>
            <a:pPr marL="1086485" lvl="1" indent="-457200"/>
            <a:endParaRPr lang="en-US">
              <a:latin typeface="Calibri"/>
              <a:ea typeface="Calibri"/>
            </a:endParaRPr>
          </a:p>
          <a:p>
            <a:pPr marL="1086485" lvl="1" indent="-285115"/>
            <a:endParaRPr lang="en-US">
              <a:latin typeface="Gill Sans" panose="020B0502020104020203"/>
              <a:ea typeface="Calibri"/>
            </a:endParaRPr>
          </a:p>
          <a:p>
            <a:pPr marL="1142365" lvl="2" indent="-227965"/>
            <a:endParaRPr lang="en-US">
              <a:latin typeface="Calibri"/>
              <a:ea typeface="Calibri"/>
            </a:endParaRPr>
          </a:p>
          <a:p>
            <a:pPr marL="1086485" lvl="1" indent="-457200"/>
            <a:endParaRPr lang="en-US">
              <a:latin typeface="Gill Sans" panose="020B0502020104020203"/>
              <a:ea typeface="Calibri"/>
            </a:endParaRPr>
          </a:p>
          <a:p>
            <a:pPr marL="1086485" lvl="1" indent="-457200"/>
            <a:endParaRPr lang="en-US" i="1">
              <a:latin typeface="Calibri"/>
              <a:ea typeface="Calibri"/>
              <a:cs typeface="Calibri"/>
            </a:endParaRPr>
          </a:p>
          <a:p>
            <a:pPr marL="514350" indent="-285115"/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629285" lvl="1" indent="0">
              <a:buNone/>
            </a:pPr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914400" lvl="1" indent="-285115"/>
            <a:endParaRPr lang="en-US">
              <a:latin typeface="Gill Sans" panose="020B0502020104020203"/>
              <a:ea typeface="Calibri"/>
              <a:cs typeface="Calibri"/>
            </a:endParaRPr>
          </a:p>
          <a:p>
            <a:pPr marL="742315" indent="-285115">
              <a:lnSpc>
                <a:spcPct val="90000"/>
              </a:lnSpc>
              <a:spcBef>
                <a:spcPts val="20"/>
              </a:spcBef>
            </a:pPr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Calibri"/>
              <a:ea typeface="Calibri"/>
              <a:cs typeface="Calibri"/>
            </a:endParaRPr>
          </a:p>
          <a:p>
            <a:pPr marL="342265" indent="-342265"/>
            <a:endParaRPr lang="en-US">
              <a:latin typeface="Calibri"/>
              <a:ea typeface="Calibri"/>
              <a:cs typeface="Calibri"/>
            </a:endParaRPr>
          </a:p>
          <a:p>
            <a:pPr marL="742315" lvl="1" indent="-285115"/>
            <a:endParaRPr lang="en-US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sz="2800">
              <a:latin typeface="Gill Sans" panose="020B0502020104020203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  <a:p>
            <a:pPr marL="742315" lvl="1" indent="-285115"/>
            <a:endParaRPr lang="en-US" altLang="zh-CN">
              <a:latin typeface="Calibri"/>
              <a:ea typeface="Source Sans Pro"/>
              <a:cs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978" y="6171577"/>
            <a:ext cx="102492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latin typeface="Calibri"/>
                <a:ea typeface="宋体"/>
                <a:cs typeface="Calibri"/>
              </a:rPr>
              <a:t>ALL activities will be done in groups </a:t>
            </a:r>
            <a:r>
              <a:rPr lang="en-US" altLang="zh-CN" sz="2800">
                <a:solidFill>
                  <a:srgbClr val="FF542C"/>
                </a:solidFill>
                <a:latin typeface="Calibri"/>
                <a:ea typeface="宋体"/>
                <a:cs typeface="Calibri"/>
              </a:rPr>
              <a:t>except </a:t>
            </a:r>
            <a:r>
              <a:rPr lang="en-US" altLang="zh-CN" sz="2800">
                <a:latin typeface="Calibri"/>
                <a:ea typeface="宋体"/>
                <a:cs typeface="Calibri"/>
              </a:rPr>
              <a:t>for your Pre-class activity!</a:t>
            </a:r>
            <a:endParaRPr lang="zh-CN" altLang="en-US" sz="2800">
              <a:latin typeface="Calibri"/>
              <a:ea typeface="宋体"/>
              <a:cs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表格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1941" y="872179"/>
            <a:ext cx="7010765" cy="581893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47008"/>
            <a:ext cx="12192000" cy="1143000"/>
          </a:xfrm>
        </p:spPr>
        <p:txBody>
          <a:bodyPr/>
          <a:lstStyle/>
          <a:p>
            <a:r>
              <a:rPr lang="zh-CN" altLang="en-US">
                <a:latin typeface="Corbel"/>
                <a:cs typeface="Calibri"/>
              </a:rPr>
              <a:t>Summary of  Due(Tentative)</a:t>
            </a: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6A45-9F5B-B340-9555-6B66F4E7847F}" type="datetime1">
              <a:rPr lang="en-US" smtClean="0"/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US" smtClean="0"/>
            </a:fld>
            <a:endParaRPr lang="en-US"/>
          </a:p>
        </p:txBody>
      </p:sp>
      <p:sp>
        <p:nvSpPr>
          <p:cNvPr id="6" name="文本框 5"/>
          <p:cNvSpPr txBox="1"/>
          <p:nvPr/>
        </p:nvSpPr>
        <p:spPr>
          <a:xfrm>
            <a:off x="521494" y="1872853"/>
            <a:ext cx="317253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Calibri"/>
                <a:ea typeface="宋体"/>
                <a:cs typeface="Calibri"/>
              </a:rPr>
              <a:t> Any questions?</a:t>
            </a:r>
            <a:endParaRPr lang="zh-CN" altLang="en-US" sz="2800">
              <a:solidFill>
                <a:srgbClr val="FF0000"/>
              </a:solidFill>
              <a:latin typeface="Calibri"/>
              <a:ea typeface="宋体" pitchFamily="2" charset="-122"/>
              <a:cs typeface="Calibri"/>
            </a:endParaRPr>
          </a:p>
          <a:p>
            <a:endParaRPr lang="en-US" altLang="zh-CN" sz="2800">
              <a:latin typeface="Calibri"/>
              <a:ea typeface="宋体"/>
              <a:cs typeface="Calibri"/>
            </a:endParaRPr>
          </a:p>
          <a:p>
            <a:r>
              <a:rPr lang="en-US" altLang="zh-CN" sz="2800">
                <a:latin typeface="Calibri"/>
                <a:ea typeface="宋体"/>
                <a:cs typeface="Calibri"/>
              </a:rPr>
              <a:t>Again:</a:t>
            </a:r>
            <a:endParaRPr lang="en-US" altLang="zh-CN" sz="2800">
              <a:latin typeface="Calibri"/>
              <a:ea typeface="宋体"/>
              <a:cs typeface="Calibri"/>
            </a:endParaRPr>
          </a:p>
          <a:p>
            <a:r>
              <a:rPr lang="en-US" sz="2800">
                <a:latin typeface="Calibri"/>
                <a:ea typeface="宋体"/>
                <a:cs typeface="Calibri"/>
              </a:rPr>
              <a:t>Form Groups of 3; 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2800">
                <a:solidFill>
                  <a:srgbClr val="0563C1"/>
                </a:solidFill>
                <a:latin typeface="Calibri"/>
                <a:ea typeface="宋体"/>
                <a:cs typeface="Calibri"/>
                <a:hlinkClick r:id="rId2"/>
              </a:rPr>
              <a:t>submit</a:t>
            </a:r>
            <a:r>
              <a:rPr lang="en-US" sz="2800">
                <a:latin typeface="Calibri"/>
                <a:ea typeface="宋体"/>
                <a:cs typeface="Calibri"/>
              </a:rPr>
              <a:t> by </a:t>
            </a:r>
            <a:r>
              <a:rPr lang="en-US" sz="2800" i="1">
                <a:solidFill>
                  <a:srgbClr val="FF542C"/>
                </a:solidFill>
                <a:ea typeface="+mn-lt"/>
                <a:cs typeface="+mn-lt"/>
              </a:rPr>
              <a:t>Jan 30</a:t>
            </a:r>
            <a:endParaRPr lang="en-US" sz="2800">
              <a:ea typeface="Calibri"/>
              <a:cs typeface="Calibri"/>
            </a:endParaRPr>
          </a:p>
          <a:p>
            <a:endParaRPr lang="en-US" altLang="zh-CN" sz="2800">
              <a:latin typeface="Gill Sans" panose="020B0502020104020203"/>
              <a:ea typeface="宋体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70947" y="1134405"/>
            <a:ext cx="7413744" cy="1168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3185503" y="1713066"/>
            <a:ext cx="968256" cy="17187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charset="0"/>
              </a:rPr>
              <a:t>CS598: Topics in LLM Agents, Jiaxuan You</a:t>
            </a:r>
            <a:endParaRPr lang="en-US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dirty="0">
            <a:latin typeface="Calibri" panose="020F0502020204030204" pitchFamily="34" charset="0"/>
            <a:ea typeface="Helvetica Neue Light" panose="02000503000000020004" charset="0"/>
            <a:cs typeface="Calibri" panose="020F050202020403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10715</Words>
  <Application>WPS 演示</Application>
  <PresentationFormat>Widescreen</PresentationFormat>
  <Paragraphs>705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56" baseType="lpstr">
      <vt:lpstr>Arial</vt:lpstr>
      <vt:lpstr>宋体</vt:lpstr>
      <vt:lpstr>Wingdings</vt:lpstr>
      <vt:lpstr>Calibri</vt:lpstr>
      <vt:lpstr>Helvetica Neue</vt:lpstr>
      <vt:lpstr>Helvetica Neue Light</vt:lpstr>
      <vt:lpstr>Corbel</vt:lpstr>
      <vt:lpstr>苹方-简</vt:lpstr>
      <vt:lpstr>Georgia</vt:lpstr>
      <vt:lpstr>Calibri</vt:lpstr>
      <vt:lpstr>Open Sans</vt:lpstr>
      <vt:lpstr>Source Sans Pro</vt:lpstr>
      <vt:lpstr>Thonburi</vt:lpstr>
      <vt:lpstr>微软雅黑</vt:lpstr>
      <vt:lpstr>汉仪旗黑</vt:lpstr>
      <vt:lpstr>宋体</vt:lpstr>
      <vt:lpstr>Arial Unicode MS</vt:lpstr>
      <vt:lpstr>宋体-简</vt:lpstr>
      <vt:lpstr>Corbel</vt:lpstr>
      <vt:lpstr>Arial</vt:lpstr>
      <vt:lpstr>Courier New</vt:lpstr>
      <vt:lpstr>Wingdings</vt:lpstr>
      <vt:lpstr>宋体</vt:lpstr>
      <vt:lpstr>Gill Sans</vt:lpstr>
      <vt:lpstr>Times New Roman</vt:lpstr>
      <vt:lpstr>Apple Color Emoji</vt:lpstr>
      <vt:lpstr>1_Office Theme</vt:lpstr>
      <vt:lpstr>Introduction</vt:lpstr>
      <vt:lpstr>Welcome to LLM Agents</vt:lpstr>
      <vt:lpstr>The “ChatGPT Moment”</vt:lpstr>
      <vt:lpstr>From LLMs to LLM Agents</vt:lpstr>
      <vt:lpstr>Why AI Agents?</vt:lpstr>
      <vt:lpstr>Why AI Agents?</vt:lpstr>
      <vt:lpstr>Why Building Agents with LLMs?</vt:lpstr>
      <vt:lpstr>Course Logistics</vt:lpstr>
      <vt:lpstr>Teaching Staff</vt:lpstr>
      <vt:lpstr>Course Logistics</vt:lpstr>
      <vt:lpstr>Course Console</vt:lpstr>
      <vt:lpstr>Course Objective</vt:lpstr>
      <vt:lpstr>Schedule </vt:lpstr>
      <vt:lpstr>Grading (Details to be finalized)</vt:lpstr>
      <vt:lpstr>Pre-class activity</vt:lpstr>
      <vt:lpstr>Form a team ASAP</vt:lpstr>
      <vt:lpstr>In-class activity</vt:lpstr>
      <vt:lpstr>In-class activity- Paper presentation</vt:lpstr>
      <vt:lpstr>In-class activity- Panel discussion</vt:lpstr>
      <vt:lpstr>Paper Summaries</vt:lpstr>
      <vt:lpstr>Summary of  Your Role</vt:lpstr>
      <vt:lpstr>Project- A Research Survey</vt:lpstr>
      <vt:lpstr>Project- A Research Survey</vt:lpstr>
      <vt:lpstr>Project- A Research Survey</vt:lpstr>
      <vt:lpstr>Project- A Research Survey</vt:lpstr>
      <vt:lpstr>Project- A Research Survey</vt:lpstr>
      <vt:lpstr>Project- A Research Survey</vt:lpstr>
      <vt:lpstr>Project- A Research Survey</vt:lpstr>
      <vt:lpstr>Summary of  Due(Tentative)</vt:lpstr>
    </vt:vector>
  </TitlesOfParts>
  <Company>Carnegie Mellon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jure</dc:creator>
  <cp:lastModifiedBy>Yao Jinwei</cp:lastModifiedBy>
  <cp:revision>3</cp:revision>
  <cp:lastPrinted>2025-04-08T22:16:59Z</cp:lastPrinted>
  <dcterms:created xsi:type="dcterms:W3CDTF">2025-04-08T22:16:59Z</dcterms:created>
  <dcterms:modified xsi:type="dcterms:W3CDTF">2025-04-08T22:16:59Z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FF0293971109875848A0F567424CCFA1_42</vt:lpwstr>
  </property>
  <property fmtid="{D5CDD505-2E9C-101B-9397-08002B2CF9AE}" pid="3" name="KSOProductBuildVer">
    <vt:lpwstr>2052-6.10.2.8397</vt:lpwstr>
  </property>
</Properties>
</file>